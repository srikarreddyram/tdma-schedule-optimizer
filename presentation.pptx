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Introduce yourself and the task: a centralised TDMA schedule planner for 16 static radios (Part 1, mandatory) and its enforcement in an EMANE emulation (Part 2, bonus). The picture on the right is the actual result: each circle is a radio on the 4 by 4 grid, labelled with the time slot the optimizer gave it. Cyan circles share their slot with another radio, which is spatial 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follows the two parts of the task. Part 1, the Python optimizer, is the mandatory core; Part 2 shows the schedule actually being enforced inside EMANE. Lead with the headline results: 9 slots for 16 radios, which is provably the minimum; no collision drops in EMANE with the optimizer's schedule; and with 10 ms slots, 99.9% delivery against 34.5% for a schedule that only separates direct neighbours.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radios share one frequency and take turns in time slots. A collision happens at the receiver, so always ask who is listening. Case 1, direct interference: A and B are in range of each other, so they cannot transmit in the same slot. Case 2 is the hidden terminal: A and C cannot hear each other, so neither knows the other is transmitting, but both signals land on B and B receives neither. Anything more than two hops apart is safe to reuse, and that reuse is what keeps the frame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is the mandatory part: the scheduling brain. In the next few slides: how the two interference rules turn into graph colouring, the two heuristics and why both run, the 9-slot result and why 9 is the minimum, why the task's 5-slot sample doesn't apply to this grid, and how every schedule is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The key idea is step 2: the two interference rules together mean "different slots if within two hops", so squaring the radio graph (networkx.power(G, 2)) turns the problem into ordinary graph colouring, where each colour is a time slot. On the grid that takes 42 links to 90 conflicting pairs. Steps 4 and 5 are there so the result can be trusted: the lower bound says how good it is, and the self-check re-verifies it without reusing the conflict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Greedy colouring never collides; only the visiting order changes how many slots it needs. Both orders are written by hand in graph_engine.py and checked against networkx. DSATUR adapts as it goes and is usually better, more so on bigger networks: with 60 radios it gave the shorter frame in 142 of 500 layouts. largest-first still won 18 times across the three sizes, so the tool runs both. Numbers are from 500 random layouts per size in a 2 km square with a 500 m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in each radio is its slot, on the 4 by 4 grid with 300 m spacing and a 500 m range. The four corners share slot 0, and slots 1, 2, 3 and 6 are each shared by two radios on opposite edges, three hops apart. The four interior radios are within two hops of everyone, so each needs its own slot: 1 + 4 + 4 = 9. Both heuristics give 9, and the independent validator found no collisions.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claim, so make it explicit. At 500 m range with 300 m spacing, diagonal neighbours (424 m) are in range, so an interior radio such as Node_06 has 8 neighbours. Any two of those 9 radios are at most two hops apart through Node_06, so they form a clique in the conflict graph and need 9 different slots. That is the lower bound the tool reports: the busiest radio's neighbour count plus one. The heuristic reached it, so the schedule is provably optimal, not just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will be asked. With a 500 m range and 300 m spacing, diagonal neighbours at 424 m are in range, so Node_06 has 8 neighbours and those nine radios are pairwise within two hops. Nine is forced. The task's 5-slot sample, applied to this grid, separates direct neighbours but breaks the task's own hidden-terminal rule: Node_01 and Node_03 both hold slot 0 and both reach Node_02, and 21 two-hop pairs share a slot in total, so the validator rejects it. I treated it as an example of the report format. With a 350 m range there are no diagonal links and the tool gives exactly 5 slots, and in EMANE the 5-slot assignment loses most of its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layers of checking. Inside the tool, the validator recomputes interference from the coordinates and never looks at the conflict graph, so a bug in graph construction cannot hide a collision; if it finds one, the tool prints the pair and exits with status 1 instead of printing a schedule. Outside the tool, 98 pytest tests cover the edge cases the task implies, check that the validator rejects known-bad schedules (including the task's 5-slot sample on this grid), and check the hand-written colouring against networkx.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is the bonus part, where the task says the approach matters more than the result. The question it answers: does EMANE actually deliver or drop packets according to the Part 1 schedule? I'll show the setup, the bridge that converts the schedule, and the delivery numbers at 10 ms and 1 ms slots.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in one Docker container. It is privileged because the demo creates network namespaces and TUN devices. EMANE 1.5.3 is compiled from source in the image, so the same Dockerfile builds on ARM as well as x86. Each radio is one EMANE instance in its own network namespace, using EMANE's native TDMA radio model, with a virtual interface emane0. The Linux bridge carries EMANE's over-the-air and event multicast. The schedule and the pathloss both reach the radios as EMANE events; traffic.py in each namespace sends and counts packets.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mapping is one-to-one. Node order gives the NEM ids, each colour becomes a slot element listing its transmitters, and EMANE treats every other slot as receive. EMANE has no range setting, so the 500 m rule becomes pathloss: free-space loss inside 500 m, 300 dB outside, which is far below receiver sensitivity. The schedule is sent with EMANE's own emaneevent-tdmaschedule tool, which turns it into one protobuf event per NEM, and confirmed from each radio's ScheduleInfoTable. Radio settings: 1 ms slots, 2.4 GHz, 1 MHz bandwidth, 11 Mbit/s, 20 dBm, EMANE's default reception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16 radios broadcast at once, 300 packets each at 50 packets per second. Each cell is one radio and shows the share of its neighbours' packets it received, with 10 ms slots. With the optimizer's schedule EMANE recorded zero SINR drops, and delivery was 99.9% in the recorded run and 100% in the other two. The control schedule is the task's 5-slot sample, which only separates direct neighbours: 55 of 84 links lost packets, and every lost byte was an SINR drop. Node_11 hears nothing because each of its neighbours shares a slot with another neighbour. The corners are fine because their three neighbours all hold different slots.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asks for 1 ms slots. With the optimizer's schedule, delivery at 1 ms was 83.4% in the recorded run and 88.1% and 99.4% in two others, and every dropped byte had a timing reason (Slot Error or Long), none SINR. EMANE's slot statistics show transmissions leaving a quarter to half a millisecond into the slot, so some arrive after the slot ends and are discarded. That is 16 EMANE processes sharing a 4-CPU virtual machine, not the schedule. The control looks better at 1 ms than at 10 ms only because radios use about one in four of their slots at this traffic rate, so shared slots collide less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CLI live on the 16-node grid and point at the frame length, the "schedule is optimal" line and the Slot × Node matrix, which has exactly one 1 per column. Then rerun with --range 350 to show the tool gives exactly 5 slots once the diagonal links drop out. Run pytest and show all 98 pass. EMANE takes a while to build, so show the recorded output in emane/out/demo_log.txt unless they want it live; to keep the results, the full command mounts emane/out with -v "$PWD/emane/out:/work/emane/out".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these. The coordinates are an assumption: the task gives only Node_01, Node_02 and Node_16, and a regular grid is the simplest layout that fits. The disc model ignores the summed interference of far-away radios. Every radio gets one slot regardless of traffic. The schedule is static and centralised. The heuristic is not exact, though the lower bound shows when it is optimal. And 1 ms timing was only tested in a 4-CPU virtual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two results, then take questions. If there is time, run the CLI live: python src/cli.py --file data/grid16.json. The EMANE demo is docker run --rm --privileged tdma-emane if they want to see it; the recorded output is in emane/out/demo_log.txt. Everything, including this deck and the documentation PDF, is in the GitHub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CE9FA"/>
        </a:solidFill>
      </p:bgPr>
    </p:bg>
    <p:spTree>
      <p:nvGrpSpPr>
        <p:cNvPr id="1" name=""/>
        <p:cNvGrpSpPr/>
        <p:nvPr/>
      </p:nvGrpSpPr>
      <p:grpSpPr>
        <a:xfrm>
          <a:off x="0" y="0"/>
          <a:ext cx="0" cy="0"/>
          <a:chOff x="0" y="0"/>
          <a:chExt cx="0" cy="0"/>
        </a:xfrm>
      </p:grpSpPr>
      <p:sp>
        <p:nvSpPr>
          <p:cNvPr id="2" name="Title Placeholder 1"/>
          <p:cNvSpPr/>
          <p:nvPr>
            <p:ph type="title"/>
          </p:nvPr>
        </p:nvSpPr>
        <p:spPr>
          <a:xfrm>
            <a:off x="914400" y="1102320"/>
            <a:ext cx="10363200" cy="447030"/>
          </a:xfrm>
          <a:prstGeom prst="rect">
            <a:avLst/>
          </a:prstGeom>
          <a:noFill/>
          <a:ln/>
        </p:spPr>
        <p:txBody>
          <a:bodyPr wrap="square" lIns="0" tIns="0" rIns="0" bIns="0" rtlCol="0" anchor="t"/>
          <a:lstStyle>
            <a:lvl1pPr algn="l" indent="0" marL="0">
              <a:lnSpc>
                <a:spcPct val="115000"/>
              </a:lnSpc>
              <a:buNone/>
              <a:defRPr lang="en-US" sz="3200" dirty="0">
                <a:solidFill>
                  <a:srgbClr val="1B1840"/>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914400" y="1854150"/>
            <a:ext cx="10464800" cy="4191050"/>
          </a:xfrm>
          <a:prstGeom prst="rect">
            <a:avLst/>
          </a:prstGeom>
          <a:noFill/>
          <a:ln/>
        </p:spPr>
        <p:txBody>
          <a:bodyPr wrap="square" lIns="0" tIns="0" rIns="0" bIns="0" rtlCol="0" anchor="t"/>
          <a:lstStyle>
            <a:lvl1pPr algn="l" indent="0" marL="0">
              <a:lnSpc>
                <a:spcPct val="140000"/>
              </a:lnSpc>
              <a:buNone/>
              <a:defRPr lang="en-US" sz="1600" dirty="0">
                <a:solidFill>
                  <a:srgbClr val="141413"/>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CE9FA"/>
        </a:solidFill>
      </p:bgPr>
    </p:bg>
    <p:spTree>
      <p:nvGrpSpPr>
        <p:cNvPr id="1" name=""/>
        <p:cNvGrpSpPr/>
        <p:nvPr/>
      </p:nvGrpSpPr>
      <p:grpSpPr>
        <a:xfrm>
          <a:off x="0" y="0"/>
          <a:ext cx="0" cy="0"/>
          <a:chOff x="0" y="0"/>
          <a:chExt cx="0" cy="0"/>
        </a:xfrm>
      </p:grpSpPr>
      <p:sp>
        <p:nvSpPr>
          <p:cNvPr id="2" name="Title Placeholder 1"/>
          <p:cNvSpPr/>
          <p:nvPr>
            <p:ph type="title"/>
          </p:nvPr>
        </p:nvSpPr>
        <p:spPr>
          <a:xfrm>
            <a:off x="914400" y="1102320"/>
            <a:ext cx="10363200" cy="447030"/>
          </a:xfrm>
          <a:prstGeom prst="rect">
            <a:avLst/>
          </a:prstGeom>
          <a:noFill/>
          <a:ln/>
        </p:spPr>
        <p:txBody>
          <a:bodyPr wrap="square" lIns="0" tIns="0" rIns="0" bIns="0" rtlCol="0" anchor="t"/>
          <a:lstStyle>
            <a:lvl1pPr algn="l" indent="0" marL="0">
              <a:lnSpc>
                <a:spcPct val="115000"/>
              </a:lnSpc>
              <a:buNone/>
              <a:defRPr lang="en-US" sz="3200" dirty="0">
                <a:solidFill>
                  <a:srgbClr val="1B1840"/>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914400" y="1854150"/>
            <a:ext cx="10464800" cy="4191050"/>
          </a:xfrm>
          <a:prstGeom prst="rect">
            <a:avLst/>
          </a:prstGeom>
          <a:noFill/>
          <a:ln/>
        </p:spPr>
        <p:txBody>
          <a:bodyPr wrap="square" lIns="0" tIns="0" rIns="0" bIns="0" rtlCol="0" anchor="t"/>
          <a:lstStyle>
            <a:lvl1pPr algn="l" indent="0" marL="0">
              <a:lnSpc>
                <a:spcPct val="140000"/>
              </a:lnSpc>
              <a:buNone/>
              <a:defRPr lang="en-US" sz="1600" dirty="0">
                <a:solidFill>
                  <a:srgbClr val="141413"/>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2.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2.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6" Type="http://schemas.openxmlformats.org/officeDocument/2006/relationships/hyperlink" Target="https://github.com/srikarreddyram/tdma-schedule-optimizer" TargetMode="External"/><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7" Type="http://schemas.openxmlformats.org/officeDocument/2006/relationships/image" Target="../media/image-18-6.png"/><Relationship Id="rId8" Type="http://schemas.openxmlformats.org/officeDocument/2006/relationships/slideLayout" Target="../slideLayouts/slideLayout2.xml"/><Relationship Id="rId9"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43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7143A"/>
              </a:gs>
              <a:gs pos="58000">
                <a:srgbClr val="262062"/>
              </a:gs>
              <a:gs pos="100000">
                <a:srgbClr val="1D4A72"/>
              </a:gs>
            </a:gsLst>
            <a:lin ang="2700000" scaled="0"/>
          </a:gradFill>
          <a:ln/>
        </p:spPr>
      </p:sp>
      <p:pic>
        <p:nvPicPr>
          <p:cNvPr id="3"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4" name="Shape 1"/>
          <p:cNvSpPr/>
          <p:nvPr/>
        </p:nvSpPr>
        <p:spPr>
          <a:xfrm>
            <a:off x="812800" y="609600"/>
            <a:ext cx="1612900" cy="584200"/>
          </a:xfrm>
          <a:prstGeom prst="roundRect">
            <a:avLst>
              <a:gd name="adj" fmla="val 21739"/>
            </a:avLst>
          </a:prstGeom>
          <a:solidFill>
            <a:srgbClr val="FDFDFF"/>
          </a:solidFill>
          <a:ln/>
        </p:spPr>
      </p:sp>
      <p:pic>
        <p:nvPicPr>
          <p:cNvPr id="5" name="Image 1" descr="Vaan Megam Networks">    </p:cNvPr>
          <p:cNvPicPr>
            <a:picLocks noChangeAspect="1"/>
          </p:cNvPicPr>
          <p:nvPr/>
        </p:nvPicPr>
        <p:blipFill>
          <a:blip r:embed="rId2"/>
          <a:srcRect l="0" r="0" t="-56" b="-56"/>
          <a:stretch/>
        </p:blipFill>
        <p:spPr>
          <a:xfrm>
            <a:off x="990600" y="723900"/>
            <a:ext cx="1257300" cy="355600"/>
          </a:xfrm>
          <a:prstGeom prst="rect">
            <a:avLst/>
          </a:prstGeom>
        </p:spPr>
      </p:pic>
      <p:sp>
        <p:nvSpPr>
          <p:cNvPr id="6" name="Text 2"/>
          <p:cNvSpPr/>
          <p:nvPr/>
        </p:nvSpPr>
        <p:spPr>
          <a:xfrm>
            <a:off x="812800" y="1620589"/>
            <a:ext cx="65405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FD3F7"/>
                </a:solidFill>
                <a:latin typeface="Inter" pitchFamily="34" charset="0"/>
                <a:ea typeface="Inter" pitchFamily="34" charset="-122"/>
                <a:cs typeface="Inter" pitchFamily="34" charset="-120"/>
              </a:rPr>
              <a:t>TECHNICAL TASK · WIRELESS PROTOCOL DEVELOPMENT</a:t>
            </a:r>
            <a:endParaRPr lang="en-US" sz="1200" dirty="0"/>
          </a:p>
        </p:txBody>
      </p:sp>
      <p:sp>
        <p:nvSpPr>
          <p:cNvPr id="7" name="Text 3"/>
          <p:cNvSpPr/>
          <p:nvPr>
            <p:ph type="title"/>
          </p:nvPr>
        </p:nvSpPr>
        <p:spPr>
          <a:xfrm>
            <a:off x="812800" y="2011710"/>
            <a:ext cx="6540500" cy="1625600"/>
          </a:xfrm>
          <a:prstGeom prst="rect">
            <a:avLst/>
          </a:prstGeom>
          <a:noFill/>
          <a:ln/>
        </p:spPr>
        <p:txBody>
          <a:bodyPr wrap="square" lIns="0" tIns="0" rIns="0" bIns="0" rtlCol="0" anchor="t">
            <a:normAutofit/>
          </a:bodyPr>
          <a:lstStyle/>
          <a:p>
            <a:pPr algn="l" indent="0" marL="0">
              <a:lnSpc>
                <a:spcPts val="6300"/>
              </a:lnSpc>
              <a:buNone/>
            </a:pPr>
            <a:r>
              <a:rPr lang="en-US" sz="6000" b="1" i="0" spc="-150" kern="0" dirty="0">
                <a:solidFill>
                  <a:srgbClr val="F5F4FC"/>
                </a:solidFill>
                <a:latin typeface="Plus Jakarta Sans" pitchFamily="34" charset="0"/>
                <a:ea typeface="Plus Jakarta Sans" pitchFamily="34" charset="-122"/>
                <a:cs typeface="Plus Jakarta Sans" pitchFamily="34" charset="-120"/>
              </a:rPr>
              <a:t>TDMA Schedule Optimizer</a:t>
            </a:r>
            <a:endParaRPr lang="en-US" sz="6000" dirty="0"/>
          </a:p>
        </p:txBody>
      </p:sp>
      <p:sp>
        <p:nvSpPr>
          <p:cNvPr id="8" name="Text 4"/>
          <p:cNvSpPr/>
          <p:nvPr/>
        </p:nvSpPr>
        <p:spPr>
          <a:xfrm>
            <a:off x="812800" y="3789710"/>
            <a:ext cx="65405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9C6E8"/>
                </a:solidFill>
                <a:latin typeface="Inter" pitchFamily="34" charset="0"/>
                <a:ea typeface="Inter" pitchFamily="34" charset="-122"/>
                <a:cs typeface="Inter" pitchFamily="34" charset="-120"/>
              </a:rPr>
              <a:t>Collision-free time slots from distance-2 graph colouring, verified in an EMANE emulation</a:t>
            </a:r>
            <a:endParaRPr lang="en-US" sz="1800" dirty="0"/>
          </a:p>
        </p:txBody>
      </p:sp>
      <p:sp>
        <p:nvSpPr>
          <p:cNvPr id="9" name="Text 5"/>
          <p:cNvSpPr/>
          <p:nvPr/>
        </p:nvSpPr>
        <p:spPr>
          <a:xfrm>
            <a:off x="812800" y="4737050"/>
            <a:ext cx="65405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4FC"/>
                </a:solidFill>
                <a:latin typeface="Inter" pitchFamily="34" charset="0"/>
                <a:ea typeface="Inter" pitchFamily="34" charset="-122"/>
                <a:cs typeface="Inter" pitchFamily="34" charset="-120"/>
              </a:rPr>
              <a:t>Ramachandra TejSrikar Reddy</a:t>
            </a:r>
            <a:endParaRPr lang="en-US" sz="1400" dirty="0"/>
          </a:p>
        </p:txBody>
      </p:sp>
      <p:sp>
        <p:nvSpPr>
          <p:cNvPr id="10" name="Text 6"/>
          <p:cNvSpPr/>
          <p:nvPr/>
        </p:nvSpPr>
        <p:spPr>
          <a:xfrm>
            <a:off x="812800" y="5024041"/>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D6"/>
                </a:solidFill>
                <a:latin typeface="Inter" pitchFamily="34" charset="0"/>
                <a:ea typeface="Inter" pitchFamily="34" charset="-122"/>
                <a:cs typeface="Inter" pitchFamily="34" charset="-120"/>
              </a:rPr>
              <a:t>SRM Institute of Science and Technology · October 2026</a:t>
            </a:r>
            <a:endParaRPr lang="en-US" sz="1200" dirty="0"/>
          </a:p>
        </p:txBody>
      </p:sp>
      <p:sp>
        <p:nvSpPr>
          <p:cNvPr id="11" name="Shape 7"/>
          <p:cNvSpPr/>
          <p:nvPr/>
        </p:nvSpPr>
        <p:spPr>
          <a:xfrm>
            <a:off x="7623175" y="1273175"/>
            <a:ext cx="3752850" cy="4311650"/>
          </a:xfrm>
          <a:prstGeom prst="roundRect">
            <a:avLst>
              <a:gd name="adj" fmla="val 5330"/>
            </a:avLst>
          </a:prstGeom>
          <a:solidFill>
            <a:srgbClr val="FFFFFF">
              <a:alpha val="5000"/>
            </a:srgbClr>
          </a:solidFill>
          <a:ln w="6350">
            <a:solidFill>
              <a:srgbClr val="FFFFFF">
                <a:alpha val="14000"/>
              </a:srgbClr>
            </a:solidFill>
            <a:prstDash val="solid"/>
          </a:ln>
        </p:spPr>
      </p:sp>
      <p:pic>
        <p:nvPicPr>
          <p:cNvPr id="12" name="Image 2" descr="preencoded.png">    </p:cNvPr>
          <p:cNvPicPr>
            <a:picLocks noChangeAspect="1"/>
          </p:cNvPicPr>
          <p:nvPr/>
        </p:nvPicPr>
        <p:blipFill>
          <a:blip r:embed="rId3"/>
          <a:srcRect l="0" r="0" t="0" b="0"/>
          <a:stretch/>
        </p:blipFill>
        <p:spPr>
          <a:xfrm>
            <a:off x="7620000" y="1270000"/>
            <a:ext cx="3759200" cy="4318000"/>
          </a:xfrm>
          <a:prstGeom prst="rect">
            <a:avLst/>
          </a:prstGeom>
        </p:spPr>
      </p:pic>
      <p:sp>
        <p:nvSpPr>
          <p:cNvPr id="13" name="Text 8"/>
          <p:cNvSpPr/>
          <p:nvPr/>
        </p:nvSpPr>
        <p:spPr>
          <a:xfrm>
            <a:off x="7962900" y="16510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0</a:t>
            </a:r>
            <a:endParaRPr lang="en-US" sz="1400" dirty="0"/>
          </a:p>
        </p:txBody>
      </p:sp>
      <p:sp>
        <p:nvSpPr>
          <p:cNvPr id="14" name="Text 9"/>
          <p:cNvSpPr/>
          <p:nvPr/>
        </p:nvSpPr>
        <p:spPr>
          <a:xfrm>
            <a:off x="8826500" y="16510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1</a:t>
            </a:r>
            <a:endParaRPr lang="en-US" sz="1400" dirty="0"/>
          </a:p>
        </p:txBody>
      </p:sp>
      <p:sp>
        <p:nvSpPr>
          <p:cNvPr id="15" name="Text 10"/>
          <p:cNvSpPr/>
          <p:nvPr/>
        </p:nvSpPr>
        <p:spPr>
          <a:xfrm>
            <a:off x="9690100" y="16510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2</a:t>
            </a:r>
            <a:endParaRPr lang="en-US" sz="1400" dirty="0"/>
          </a:p>
        </p:txBody>
      </p:sp>
      <p:sp>
        <p:nvSpPr>
          <p:cNvPr id="16" name="Text 11"/>
          <p:cNvSpPr/>
          <p:nvPr/>
        </p:nvSpPr>
        <p:spPr>
          <a:xfrm>
            <a:off x="10553700" y="16510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0</a:t>
            </a:r>
            <a:endParaRPr lang="en-US" sz="1400" dirty="0"/>
          </a:p>
        </p:txBody>
      </p:sp>
      <p:sp>
        <p:nvSpPr>
          <p:cNvPr id="17" name="Text 12"/>
          <p:cNvSpPr/>
          <p:nvPr/>
        </p:nvSpPr>
        <p:spPr>
          <a:xfrm>
            <a:off x="7962900" y="25146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3</a:t>
            </a:r>
            <a:endParaRPr lang="en-US" sz="1400" dirty="0"/>
          </a:p>
        </p:txBody>
      </p:sp>
      <p:sp>
        <p:nvSpPr>
          <p:cNvPr id="18" name="Text 13"/>
          <p:cNvSpPr/>
          <p:nvPr/>
        </p:nvSpPr>
        <p:spPr>
          <a:xfrm>
            <a:off x="8836025" y="2524125"/>
            <a:ext cx="463550" cy="463550"/>
          </a:xfrm>
          <a:custGeom>
            <a:avLst/>
            <a:gdLst/>
            <a:ahLst/>
            <a:cxnLst/>
            <a:rect l="l" t="t" r="r" b="b"/>
            <a:pathLst>
              <a:path w="463550" h="463550">
                <a:moveTo>
                  <a:pt x="231775" y="0"/>
                </a:moveTo>
                <a:lnTo>
                  <a:pt x="231775" y="0"/>
                </a:lnTo>
                <a:arcTo hR="231775" wR="231775" stAng="16200000" swAng="5400000"/>
                <a:lnTo>
                  <a:pt x="463550" y="231775"/>
                </a:lnTo>
                <a:arcTo hR="231775" wR="231775" stAng="0" swAng="5400000"/>
                <a:lnTo>
                  <a:pt x="231775" y="463550"/>
                </a:lnTo>
                <a:arcTo hR="231775" wR="231775" stAng="5400000" swAng="5400000"/>
                <a:lnTo>
                  <a:pt x="0" y="231775"/>
                </a:lnTo>
                <a:arcTo hR="231775" wR="231775" stAng="10800000" swAng="5400000"/>
                <a:close/>
              </a:path>
            </a:pathLst>
          </a:custGeom>
          <a:solidFill>
            <a:srgbClr val="262062"/>
          </a:solidFill>
          <a:ln w="19050">
            <a:solidFill>
              <a:srgbClr val="E4E1FF"/>
            </a:solidFill>
            <a:prstDash val="solid"/>
          </a:ln>
        </p:spPr>
        <p:txBody>
          <a:bodyPr wrap="square" lIns="0" tIns="9525" rIns="0" bIns="0" rtlCol="0" anchor="t">
            <a:normAutofit/>
          </a:bodyPr>
          <a:lstStyle/>
          <a:p>
            <a:pPr algn="ctr" indent="0" marL="0">
              <a:lnSpc>
                <a:spcPts val="3500"/>
              </a:lnSpc>
              <a:buNone/>
            </a:pPr>
            <a:r>
              <a:rPr lang="en-US" sz="1400" b="1" dirty="0">
                <a:solidFill>
                  <a:srgbClr val="F5F4FC"/>
                </a:solidFill>
                <a:latin typeface="Inter" pitchFamily="34" charset="0"/>
                <a:ea typeface="Inter" pitchFamily="34" charset="-122"/>
                <a:cs typeface="Inter" pitchFamily="34" charset="-120"/>
              </a:rPr>
              <a:t>4</a:t>
            </a:r>
            <a:endParaRPr lang="en-US" sz="1400" dirty="0"/>
          </a:p>
        </p:txBody>
      </p:sp>
      <p:sp>
        <p:nvSpPr>
          <p:cNvPr id="19" name="Text 14"/>
          <p:cNvSpPr/>
          <p:nvPr/>
        </p:nvSpPr>
        <p:spPr>
          <a:xfrm>
            <a:off x="9699625" y="2524125"/>
            <a:ext cx="463550" cy="463550"/>
          </a:xfrm>
          <a:custGeom>
            <a:avLst/>
            <a:gdLst/>
            <a:ahLst/>
            <a:cxnLst/>
            <a:rect l="l" t="t" r="r" b="b"/>
            <a:pathLst>
              <a:path w="463550" h="463550">
                <a:moveTo>
                  <a:pt x="231775" y="0"/>
                </a:moveTo>
                <a:lnTo>
                  <a:pt x="231775" y="0"/>
                </a:lnTo>
                <a:arcTo hR="231775" wR="231775" stAng="16200000" swAng="5400000"/>
                <a:lnTo>
                  <a:pt x="463550" y="231775"/>
                </a:lnTo>
                <a:arcTo hR="231775" wR="231775" stAng="0" swAng="5400000"/>
                <a:lnTo>
                  <a:pt x="231775" y="463550"/>
                </a:lnTo>
                <a:arcTo hR="231775" wR="231775" stAng="5400000" swAng="5400000"/>
                <a:lnTo>
                  <a:pt x="0" y="231775"/>
                </a:lnTo>
                <a:arcTo hR="231775" wR="231775" stAng="10800000" swAng="5400000"/>
                <a:close/>
              </a:path>
            </a:pathLst>
          </a:custGeom>
          <a:solidFill>
            <a:srgbClr val="262062"/>
          </a:solidFill>
          <a:ln w="19050">
            <a:solidFill>
              <a:srgbClr val="E4E1FF"/>
            </a:solidFill>
            <a:prstDash val="solid"/>
          </a:ln>
        </p:spPr>
        <p:txBody>
          <a:bodyPr wrap="square" lIns="0" tIns="9525" rIns="0" bIns="0" rtlCol="0" anchor="t">
            <a:normAutofit/>
          </a:bodyPr>
          <a:lstStyle/>
          <a:p>
            <a:pPr algn="ctr" indent="0" marL="0">
              <a:lnSpc>
                <a:spcPts val="3500"/>
              </a:lnSpc>
              <a:buNone/>
            </a:pPr>
            <a:r>
              <a:rPr lang="en-US" sz="1400" b="1" dirty="0">
                <a:solidFill>
                  <a:srgbClr val="F5F4FC"/>
                </a:solidFill>
                <a:latin typeface="Inter" pitchFamily="34" charset="0"/>
                <a:ea typeface="Inter" pitchFamily="34" charset="-122"/>
                <a:cs typeface="Inter" pitchFamily="34" charset="-120"/>
              </a:rPr>
              <a:t>5</a:t>
            </a:r>
            <a:endParaRPr lang="en-US" sz="1400" dirty="0"/>
          </a:p>
        </p:txBody>
      </p:sp>
      <p:sp>
        <p:nvSpPr>
          <p:cNvPr id="20" name="Text 15"/>
          <p:cNvSpPr/>
          <p:nvPr/>
        </p:nvSpPr>
        <p:spPr>
          <a:xfrm>
            <a:off x="10553700" y="25146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3</a:t>
            </a:r>
            <a:endParaRPr lang="en-US" sz="1400" dirty="0"/>
          </a:p>
        </p:txBody>
      </p:sp>
      <p:sp>
        <p:nvSpPr>
          <p:cNvPr id="21" name="Text 16"/>
          <p:cNvSpPr/>
          <p:nvPr/>
        </p:nvSpPr>
        <p:spPr>
          <a:xfrm>
            <a:off x="7962900" y="33782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6</a:t>
            </a:r>
            <a:endParaRPr lang="en-US" sz="1400" dirty="0"/>
          </a:p>
        </p:txBody>
      </p:sp>
      <p:sp>
        <p:nvSpPr>
          <p:cNvPr id="22" name="Text 17"/>
          <p:cNvSpPr/>
          <p:nvPr/>
        </p:nvSpPr>
        <p:spPr>
          <a:xfrm>
            <a:off x="8836025" y="3387725"/>
            <a:ext cx="463550" cy="463550"/>
          </a:xfrm>
          <a:custGeom>
            <a:avLst/>
            <a:gdLst/>
            <a:ahLst/>
            <a:cxnLst/>
            <a:rect l="l" t="t" r="r" b="b"/>
            <a:pathLst>
              <a:path w="463550" h="463550">
                <a:moveTo>
                  <a:pt x="231775" y="0"/>
                </a:moveTo>
                <a:lnTo>
                  <a:pt x="231775" y="0"/>
                </a:lnTo>
                <a:arcTo hR="231775" wR="231775" stAng="16200000" swAng="5400000"/>
                <a:lnTo>
                  <a:pt x="463550" y="231775"/>
                </a:lnTo>
                <a:arcTo hR="231775" wR="231775" stAng="0" swAng="5400000"/>
                <a:lnTo>
                  <a:pt x="231775" y="463550"/>
                </a:lnTo>
                <a:arcTo hR="231775" wR="231775" stAng="5400000" swAng="5400000"/>
                <a:lnTo>
                  <a:pt x="0" y="231775"/>
                </a:lnTo>
                <a:arcTo hR="231775" wR="231775" stAng="10800000" swAng="5400000"/>
                <a:close/>
              </a:path>
            </a:pathLst>
          </a:custGeom>
          <a:solidFill>
            <a:srgbClr val="262062"/>
          </a:solidFill>
          <a:ln w="19050">
            <a:solidFill>
              <a:srgbClr val="E4E1FF"/>
            </a:solidFill>
            <a:prstDash val="solid"/>
          </a:ln>
        </p:spPr>
        <p:txBody>
          <a:bodyPr wrap="square" lIns="0" tIns="9525" rIns="0" bIns="0" rtlCol="0" anchor="t">
            <a:normAutofit/>
          </a:bodyPr>
          <a:lstStyle/>
          <a:p>
            <a:pPr algn="ctr" indent="0" marL="0">
              <a:lnSpc>
                <a:spcPts val="3500"/>
              </a:lnSpc>
              <a:buNone/>
            </a:pPr>
            <a:r>
              <a:rPr lang="en-US" sz="1400" b="1" dirty="0">
                <a:solidFill>
                  <a:srgbClr val="F5F4FC"/>
                </a:solidFill>
                <a:latin typeface="Inter" pitchFamily="34" charset="0"/>
                <a:ea typeface="Inter" pitchFamily="34" charset="-122"/>
                <a:cs typeface="Inter" pitchFamily="34" charset="-120"/>
              </a:rPr>
              <a:t>7</a:t>
            </a:r>
            <a:endParaRPr lang="en-US" sz="1400" dirty="0"/>
          </a:p>
        </p:txBody>
      </p:sp>
      <p:sp>
        <p:nvSpPr>
          <p:cNvPr id="23" name="Text 18"/>
          <p:cNvSpPr/>
          <p:nvPr/>
        </p:nvSpPr>
        <p:spPr>
          <a:xfrm>
            <a:off x="9699625" y="3387725"/>
            <a:ext cx="463550" cy="463550"/>
          </a:xfrm>
          <a:custGeom>
            <a:avLst/>
            <a:gdLst/>
            <a:ahLst/>
            <a:cxnLst/>
            <a:rect l="l" t="t" r="r" b="b"/>
            <a:pathLst>
              <a:path w="463550" h="463550">
                <a:moveTo>
                  <a:pt x="231775" y="0"/>
                </a:moveTo>
                <a:lnTo>
                  <a:pt x="231775" y="0"/>
                </a:lnTo>
                <a:arcTo hR="231775" wR="231775" stAng="16200000" swAng="5400000"/>
                <a:lnTo>
                  <a:pt x="463550" y="231775"/>
                </a:lnTo>
                <a:arcTo hR="231775" wR="231775" stAng="0" swAng="5400000"/>
                <a:lnTo>
                  <a:pt x="231775" y="463550"/>
                </a:lnTo>
                <a:arcTo hR="231775" wR="231775" stAng="5400000" swAng="5400000"/>
                <a:lnTo>
                  <a:pt x="0" y="231775"/>
                </a:lnTo>
                <a:arcTo hR="231775" wR="231775" stAng="10800000" swAng="5400000"/>
                <a:close/>
              </a:path>
            </a:pathLst>
          </a:custGeom>
          <a:solidFill>
            <a:srgbClr val="262062"/>
          </a:solidFill>
          <a:ln w="19050">
            <a:solidFill>
              <a:srgbClr val="E4E1FF"/>
            </a:solidFill>
            <a:prstDash val="solid"/>
          </a:ln>
        </p:spPr>
        <p:txBody>
          <a:bodyPr wrap="square" lIns="0" tIns="9525" rIns="0" bIns="0" rtlCol="0" anchor="t">
            <a:normAutofit/>
          </a:bodyPr>
          <a:lstStyle/>
          <a:p>
            <a:pPr algn="ctr" indent="0" marL="0">
              <a:lnSpc>
                <a:spcPts val="3500"/>
              </a:lnSpc>
              <a:buNone/>
            </a:pPr>
            <a:r>
              <a:rPr lang="en-US" sz="1400" b="1" dirty="0">
                <a:solidFill>
                  <a:srgbClr val="F5F4FC"/>
                </a:solidFill>
                <a:latin typeface="Inter" pitchFamily="34" charset="0"/>
                <a:ea typeface="Inter" pitchFamily="34" charset="-122"/>
                <a:cs typeface="Inter" pitchFamily="34" charset="-120"/>
              </a:rPr>
              <a:t>8</a:t>
            </a:r>
            <a:endParaRPr lang="en-US" sz="1400" dirty="0"/>
          </a:p>
        </p:txBody>
      </p:sp>
      <p:sp>
        <p:nvSpPr>
          <p:cNvPr id="24" name="Text 19"/>
          <p:cNvSpPr/>
          <p:nvPr/>
        </p:nvSpPr>
        <p:spPr>
          <a:xfrm>
            <a:off x="10553700" y="33782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6</a:t>
            </a:r>
            <a:endParaRPr lang="en-US" sz="1400" dirty="0"/>
          </a:p>
        </p:txBody>
      </p:sp>
      <p:sp>
        <p:nvSpPr>
          <p:cNvPr id="25" name="Text 20"/>
          <p:cNvSpPr/>
          <p:nvPr/>
        </p:nvSpPr>
        <p:spPr>
          <a:xfrm>
            <a:off x="7962900" y="42418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0</a:t>
            </a:r>
            <a:endParaRPr lang="en-US" sz="1400" dirty="0"/>
          </a:p>
        </p:txBody>
      </p:sp>
      <p:sp>
        <p:nvSpPr>
          <p:cNvPr id="26" name="Text 21"/>
          <p:cNvSpPr/>
          <p:nvPr/>
        </p:nvSpPr>
        <p:spPr>
          <a:xfrm>
            <a:off x="8826500" y="42418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1</a:t>
            </a:r>
            <a:endParaRPr lang="en-US" sz="1400" dirty="0"/>
          </a:p>
        </p:txBody>
      </p:sp>
      <p:sp>
        <p:nvSpPr>
          <p:cNvPr id="27" name="Text 22"/>
          <p:cNvSpPr/>
          <p:nvPr/>
        </p:nvSpPr>
        <p:spPr>
          <a:xfrm>
            <a:off x="9690100" y="42418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2</a:t>
            </a:r>
            <a:endParaRPr lang="en-US" sz="1400" dirty="0"/>
          </a:p>
        </p:txBody>
      </p:sp>
      <p:sp>
        <p:nvSpPr>
          <p:cNvPr id="28" name="Text 23"/>
          <p:cNvSpPr/>
          <p:nvPr/>
        </p:nvSpPr>
        <p:spPr>
          <a:xfrm>
            <a:off x="10553700" y="42418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0</a:t>
            </a:r>
            <a:endParaRPr lang="en-US" sz="1400" dirty="0"/>
          </a:p>
        </p:txBody>
      </p:sp>
      <p:sp>
        <p:nvSpPr>
          <p:cNvPr id="29" name="Text 24"/>
          <p:cNvSpPr/>
          <p:nvPr/>
        </p:nvSpPr>
        <p:spPr>
          <a:xfrm>
            <a:off x="7720584" y="4978400"/>
            <a:ext cx="3558032"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A5D6"/>
                </a:solidFill>
                <a:latin typeface="Inter" pitchFamily="34" charset="0"/>
                <a:ea typeface="Inter" pitchFamily="34" charset="-122"/>
                <a:cs typeface="Inter" pitchFamily="34" charset="-120"/>
              </a:rPr>
              <a:t>The final schedule: 16 radios, 9 slots.</a:t>
            </a:r>
            <a:endParaRPr lang="en-US" sz="1200" dirty="0"/>
          </a:p>
          <a:p>
            <a:pPr algn="ctr" indent="0" marL="0">
              <a:lnSpc>
                <a:spcPts val="1680"/>
              </a:lnSpc>
              <a:buNone/>
            </a:pPr>
            <a:r>
              <a:rPr lang="en-US" sz="1200" dirty="0">
                <a:solidFill>
                  <a:srgbClr val="A9A5D6"/>
                </a:solidFill>
                <a:latin typeface="Inter" pitchFamily="34" charset="0"/>
                <a:ea typeface="Inter" pitchFamily="34" charset="-122"/>
                <a:cs typeface="Inter" pitchFamily="34" charset="-120"/>
              </a:rPr>
              <a:t>Cyan circles share their slot with another radio.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CE9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CE9FA"/>
              </a:gs>
              <a:gs pos="100000">
                <a:srgbClr val="E4F2FB"/>
              </a:gs>
            </a:gsLst>
            <a:lin ang="2700000" scaled="0"/>
          </a:gradFill>
          <a:ln/>
        </p:spPr>
      </p:sp>
      <p:sp>
        <p:nvSpPr>
          <p:cNvPr id="3" name="Shape 1"/>
          <p:cNvSpPr/>
          <p:nvPr/>
        </p:nvSpPr>
        <p:spPr>
          <a:xfrm>
            <a:off x="304800" y="304800"/>
            <a:ext cx="11582400" cy="6248400"/>
          </a:xfrm>
          <a:prstGeom prst="roundRect">
            <a:avLst>
              <a:gd name="adj" fmla="val 3659"/>
            </a:avLst>
          </a:prstGeom>
          <a:solidFill>
            <a:srgbClr val="FDFDFF"/>
          </a:solidFill>
          <a:ln/>
          <a:effectLst>
            <a:outerShdw sx="100000" sy="100000" kx="0" ky="0" algn="bl" rotWithShape="0" blurRad="355600" dist="101600" dir="5400000">
              <a:srgbClr val="281E6E">
                <a:alpha val="10000"/>
              </a:srgbClr>
            </a:outerShdw>
          </a:effectLst>
        </p:spPr>
      </p:sp>
      <p:sp>
        <p:nvSpPr>
          <p:cNvPr id="4" name="Text 2"/>
          <p:cNvSpPr/>
          <p:nvPr/>
        </p:nvSpPr>
        <p:spPr>
          <a:xfrm>
            <a:off x="914400" y="81280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54C4"/>
                </a:solidFill>
                <a:latin typeface="Inter" pitchFamily="34" charset="0"/>
                <a:ea typeface="Inter" pitchFamily="34" charset="-122"/>
                <a:cs typeface="Inter" pitchFamily="34" charset="-120"/>
              </a:rPr>
              <a:t>OVERVIEW</a:t>
            </a:r>
            <a:endParaRPr lang="en-US" sz="1200" dirty="0"/>
          </a:p>
        </p:txBody>
      </p:sp>
      <p:sp>
        <p:nvSpPr>
          <p:cNvPr id="5" name="Text 3"/>
          <p:cNvSpPr/>
          <p:nvPr>
            <p:ph type="title"/>
          </p:nvPr>
        </p:nvSpPr>
        <p:spPr>
          <a:xfrm>
            <a:off x="914400" y="1102320"/>
            <a:ext cx="10674096" cy="47243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40"/>
                </a:solidFill>
                <a:latin typeface="Plus Jakarta Sans" pitchFamily="34" charset="0"/>
                <a:ea typeface="Plus Jakarta Sans" pitchFamily="34" charset="-122"/>
                <a:cs typeface="Plus Jakarta Sans" pitchFamily="34" charset="-120"/>
              </a:rPr>
              <a:t>Agenda</a:t>
            </a:r>
            <a:endParaRPr lang="en-US" sz="3200" dirty="0"/>
          </a:p>
        </p:txBody>
      </p:sp>
      <p:sp>
        <p:nvSpPr>
          <p:cNvPr id="6" name="Shape 4"/>
          <p:cNvSpPr/>
          <p:nvPr/>
        </p:nvSpPr>
        <p:spPr>
          <a:xfrm>
            <a:off x="914400" y="2334816"/>
            <a:ext cx="5588000" cy="0"/>
          </a:xfrm>
          <a:prstGeom prst="line">
            <a:avLst/>
          </a:prstGeom>
          <a:noFill/>
          <a:ln w="6350">
            <a:solidFill>
              <a:srgbClr val="E6E3F5"/>
            </a:solidFill>
            <a:prstDash val="solid"/>
          </a:ln>
        </p:spPr>
      </p:sp>
      <p:sp>
        <p:nvSpPr>
          <p:cNvPr id="7" name="Text 5"/>
          <p:cNvSpPr/>
          <p:nvPr/>
        </p:nvSpPr>
        <p:spPr>
          <a:xfrm>
            <a:off x="914400" y="1968450"/>
            <a:ext cx="406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E54C4"/>
                </a:solidFill>
                <a:latin typeface="Inter" pitchFamily="34" charset="0"/>
                <a:ea typeface="Inter" pitchFamily="34" charset="-122"/>
                <a:cs typeface="Inter" pitchFamily="34" charset="-120"/>
              </a:rPr>
              <a:t>01</a:t>
            </a:r>
            <a:endParaRPr lang="en-US" sz="1400" dirty="0"/>
          </a:p>
        </p:txBody>
      </p:sp>
      <p:sp>
        <p:nvSpPr>
          <p:cNvPr id="8" name="Text 6"/>
          <p:cNvSpPr/>
          <p:nvPr/>
        </p:nvSpPr>
        <p:spPr>
          <a:xfrm>
            <a:off x="1447800" y="1968450"/>
            <a:ext cx="383250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The problem: two ways radios collide</a:t>
            </a:r>
            <a:endParaRPr lang="en-US" sz="1400" dirty="0"/>
          </a:p>
        </p:txBody>
      </p:sp>
      <p:sp>
        <p:nvSpPr>
          <p:cNvPr id="9" name="Shape 7"/>
          <p:cNvSpPr/>
          <p:nvPr/>
        </p:nvSpPr>
        <p:spPr>
          <a:xfrm>
            <a:off x="914400" y="2818656"/>
            <a:ext cx="5588000" cy="0"/>
          </a:xfrm>
          <a:prstGeom prst="line">
            <a:avLst/>
          </a:prstGeom>
          <a:noFill/>
          <a:ln w="6350">
            <a:solidFill>
              <a:srgbClr val="E6E3F5"/>
            </a:solidFill>
            <a:prstDash val="solid"/>
          </a:ln>
        </p:spPr>
      </p:sp>
      <p:sp>
        <p:nvSpPr>
          <p:cNvPr id="10" name="Text 8"/>
          <p:cNvSpPr/>
          <p:nvPr/>
        </p:nvSpPr>
        <p:spPr>
          <a:xfrm>
            <a:off x="914400" y="2452291"/>
            <a:ext cx="406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E54C4"/>
                </a:solidFill>
                <a:latin typeface="Inter" pitchFamily="34" charset="0"/>
                <a:ea typeface="Inter" pitchFamily="34" charset="-122"/>
                <a:cs typeface="Inter" pitchFamily="34" charset="-120"/>
              </a:rPr>
              <a:t>02</a:t>
            </a:r>
            <a:endParaRPr lang="en-US" sz="1400" dirty="0"/>
          </a:p>
        </p:txBody>
      </p:sp>
      <p:sp>
        <p:nvSpPr>
          <p:cNvPr id="11" name="Text 9"/>
          <p:cNvSpPr/>
          <p:nvPr/>
        </p:nvSpPr>
        <p:spPr>
          <a:xfrm>
            <a:off x="1447800" y="2452291"/>
            <a:ext cx="30418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Part 1: the schedule optimizer</a:t>
            </a:r>
            <a:endParaRPr lang="en-US" sz="1400" dirty="0"/>
          </a:p>
        </p:txBody>
      </p:sp>
      <p:sp>
        <p:nvSpPr>
          <p:cNvPr id="12" name="Shape 10"/>
          <p:cNvSpPr/>
          <p:nvPr/>
        </p:nvSpPr>
        <p:spPr>
          <a:xfrm>
            <a:off x="914400" y="3302496"/>
            <a:ext cx="5588000" cy="0"/>
          </a:xfrm>
          <a:prstGeom prst="line">
            <a:avLst/>
          </a:prstGeom>
          <a:noFill/>
          <a:ln w="6350">
            <a:solidFill>
              <a:srgbClr val="E6E3F5"/>
            </a:solidFill>
            <a:prstDash val="solid"/>
          </a:ln>
        </p:spPr>
      </p:sp>
      <p:sp>
        <p:nvSpPr>
          <p:cNvPr id="13" name="Text 11"/>
          <p:cNvSpPr/>
          <p:nvPr/>
        </p:nvSpPr>
        <p:spPr>
          <a:xfrm>
            <a:off x="914400" y="2936131"/>
            <a:ext cx="406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E54C4"/>
                </a:solidFill>
                <a:latin typeface="Inter" pitchFamily="34" charset="0"/>
                <a:ea typeface="Inter" pitchFamily="34" charset="-122"/>
                <a:cs typeface="Inter" pitchFamily="34" charset="-120"/>
              </a:rPr>
              <a:t>03</a:t>
            </a:r>
            <a:endParaRPr lang="en-US" sz="1400" dirty="0"/>
          </a:p>
        </p:txBody>
      </p:sp>
      <p:sp>
        <p:nvSpPr>
          <p:cNvPr id="14" name="Text 12"/>
          <p:cNvSpPr/>
          <p:nvPr/>
        </p:nvSpPr>
        <p:spPr>
          <a:xfrm>
            <a:off x="1447800" y="2936131"/>
            <a:ext cx="312890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Results: 9 slots, and why not 5</a:t>
            </a:r>
            <a:endParaRPr lang="en-US" sz="1400" dirty="0"/>
          </a:p>
        </p:txBody>
      </p:sp>
      <p:sp>
        <p:nvSpPr>
          <p:cNvPr id="15" name="Shape 13"/>
          <p:cNvSpPr/>
          <p:nvPr/>
        </p:nvSpPr>
        <p:spPr>
          <a:xfrm>
            <a:off x="914400" y="3786336"/>
            <a:ext cx="5588000" cy="0"/>
          </a:xfrm>
          <a:prstGeom prst="line">
            <a:avLst/>
          </a:prstGeom>
          <a:noFill/>
          <a:ln w="6350">
            <a:solidFill>
              <a:srgbClr val="E6E3F5"/>
            </a:solidFill>
            <a:prstDash val="solid"/>
          </a:ln>
        </p:spPr>
      </p:sp>
      <p:sp>
        <p:nvSpPr>
          <p:cNvPr id="16" name="Text 14"/>
          <p:cNvSpPr/>
          <p:nvPr/>
        </p:nvSpPr>
        <p:spPr>
          <a:xfrm>
            <a:off x="914400" y="3419971"/>
            <a:ext cx="406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E54C4"/>
                </a:solidFill>
                <a:latin typeface="Inter" pitchFamily="34" charset="0"/>
                <a:ea typeface="Inter" pitchFamily="34" charset="-122"/>
                <a:cs typeface="Inter" pitchFamily="34" charset="-120"/>
              </a:rPr>
              <a:t>04</a:t>
            </a:r>
            <a:endParaRPr lang="en-US" sz="1400" dirty="0"/>
          </a:p>
        </p:txBody>
      </p:sp>
      <p:sp>
        <p:nvSpPr>
          <p:cNvPr id="17" name="Text 15"/>
          <p:cNvSpPr/>
          <p:nvPr/>
        </p:nvSpPr>
        <p:spPr>
          <a:xfrm>
            <a:off x="1447800" y="3419971"/>
            <a:ext cx="412319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Part 2: EMANE emulation and the bridge</a:t>
            </a:r>
            <a:endParaRPr lang="en-US" sz="1400" dirty="0"/>
          </a:p>
        </p:txBody>
      </p:sp>
      <p:sp>
        <p:nvSpPr>
          <p:cNvPr id="18" name="Shape 16"/>
          <p:cNvSpPr/>
          <p:nvPr/>
        </p:nvSpPr>
        <p:spPr>
          <a:xfrm>
            <a:off x="914400" y="4270177"/>
            <a:ext cx="5588000" cy="0"/>
          </a:xfrm>
          <a:prstGeom prst="line">
            <a:avLst/>
          </a:prstGeom>
          <a:noFill/>
          <a:ln w="6350">
            <a:solidFill>
              <a:srgbClr val="E6E3F5"/>
            </a:solidFill>
            <a:prstDash val="solid"/>
          </a:ln>
        </p:spPr>
      </p:sp>
      <p:sp>
        <p:nvSpPr>
          <p:cNvPr id="19" name="Text 17"/>
          <p:cNvSpPr/>
          <p:nvPr/>
        </p:nvSpPr>
        <p:spPr>
          <a:xfrm>
            <a:off x="914400" y="3903811"/>
            <a:ext cx="406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E54C4"/>
                </a:solidFill>
                <a:latin typeface="Inter" pitchFamily="34" charset="0"/>
                <a:ea typeface="Inter" pitchFamily="34" charset="-122"/>
                <a:cs typeface="Inter" pitchFamily="34" charset="-120"/>
              </a:rPr>
              <a:t>05</a:t>
            </a:r>
            <a:endParaRPr lang="en-US" sz="1400" dirty="0"/>
          </a:p>
        </p:txBody>
      </p:sp>
      <p:sp>
        <p:nvSpPr>
          <p:cNvPr id="20" name="Text 18"/>
          <p:cNvSpPr/>
          <p:nvPr/>
        </p:nvSpPr>
        <p:spPr>
          <a:xfrm>
            <a:off x="1447800" y="3903811"/>
            <a:ext cx="105906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Live demo</a:t>
            </a:r>
            <a:endParaRPr lang="en-US" sz="1400" dirty="0"/>
          </a:p>
        </p:txBody>
      </p:sp>
      <p:sp>
        <p:nvSpPr>
          <p:cNvPr id="21" name="Text 19"/>
          <p:cNvSpPr/>
          <p:nvPr/>
        </p:nvSpPr>
        <p:spPr>
          <a:xfrm>
            <a:off x="914400" y="4387652"/>
            <a:ext cx="406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E54C4"/>
                </a:solidFill>
                <a:latin typeface="Inter" pitchFamily="34" charset="0"/>
                <a:ea typeface="Inter" pitchFamily="34" charset="-122"/>
                <a:cs typeface="Inter" pitchFamily="34" charset="-120"/>
              </a:rPr>
              <a:t>06</a:t>
            </a:r>
            <a:endParaRPr lang="en-US" sz="1400" dirty="0"/>
          </a:p>
        </p:txBody>
      </p:sp>
      <p:sp>
        <p:nvSpPr>
          <p:cNvPr id="22" name="Text 20"/>
          <p:cNvSpPr/>
          <p:nvPr/>
        </p:nvSpPr>
        <p:spPr>
          <a:xfrm>
            <a:off x="1447800" y="4387652"/>
            <a:ext cx="264181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Limitations and questions</a:t>
            </a:r>
            <a:endParaRPr lang="en-US" sz="1400" dirty="0"/>
          </a:p>
        </p:txBody>
      </p:sp>
      <p:sp>
        <p:nvSpPr>
          <p:cNvPr id="23" name="Shape 21"/>
          <p:cNvSpPr/>
          <p:nvPr/>
        </p:nvSpPr>
        <p:spPr>
          <a:xfrm>
            <a:off x="6807200" y="1854150"/>
            <a:ext cx="4470400" cy="3861842"/>
          </a:xfrm>
          <a:prstGeom prst="roundRect">
            <a:avLst>
              <a:gd name="adj" fmla="val 4604"/>
            </a:avLst>
          </a:prstGeom>
          <a:solidFill>
            <a:srgbClr val="F4F3FB"/>
          </a:solidFill>
          <a:ln/>
        </p:spPr>
      </p:sp>
      <p:sp>
        <p:nvSpPr>
          <p:cNvPr id="24" name="Text 22"/>
          <p:cNvSpPr/>
          <p:nvPr/>
        </p:nvSpPr>
        <p:spPr>
          <a:xfrm>
            <a:off x="7086600" y="2133550"/>
            <a:ext cx="402894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54C4"/>
                </a:solidFill>
                <a:latin typeface="Inter" pitchFamily="34" charset="0"/>
                <a:ea typeface="Inter" pitchFamily="34" charset="-122"/>
                <a:cs typeface="Inter" pitchFamily="34" charset="-120"/>
              </a:rPr>
              <a:t>HEADLINE RESULTS</a:t>
            </a:r>
            <a:endParaRPr lang="en-US" sz="1200" dirty="0"/>
          </a:p>
        </p:txBody>
      </p:sp>
      <p:sp>
        <p:nvSpPr>
          <p:cNvPr id="25" name="Text 23"/>
          <p:cNvSpPr/>
          <p:nvPr/>
        </p:nvSpPr>
        <p:spPr>
          <a:xfrm>
            <a:off x="7086600" y="2524671"/>
            <a:ext cx="4028948"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B1840"/>
                </a:solidFill>
                <a:latin typeface="Plus Jakarta Sans" pitchFamily="34" charset="0"/>
                <a:ea typeface="Plus Jakarta Sans" pitchFamily="34" charset="-122"/>
                <a:cs typeface="Plus Jakarta Sans" pitchFamily="34" charset="-120"/>
              </a:rPr>
              <a:t>9 slots</a:t>
            </a:r>
            <a:endParaRPr lang="en-US" sz="3200" dirty="0"/>
          </a:p>
        </p:txBody>
      </p:sp>
      <p:sp>
        <p:nvSpPr>
          <p:cNvPr id="26" name="Text 24"/>
          <p:cNvSpPr/>
          <p:nvPr/>
        </p:nvSpPr>
        <p:spPr>
          <a:xfrm>
            <a:off x="7086600" y="2976761"/>
            <a:ext cx="402894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7456A"/>
                </a:solidFill>
                <a:latin typeface="Inter" pitchFamily="34" charset="0"/>
                <a:ea typeface="Inter" pitchFamily="34" charset="-122"/>
                <a:cs typeface="Inter" pitchFamily="34" charset="-120"/>
              </a:rPr>
              <a:t>for 16 radios, provably the minimum</a:t>
            </a:r>
            <a:endParaRPr lang="en-US" sz="1400" dirty="0"/>
          </a:p>
        </p:txBody>
      </p:sp>
      <p:sp>
        <p:nvSpPr>
          <p:cNvPr id="27" name="Text 25"/>
          <p:cNvSpPr/>
          <p:nvPr/>
        </p:nvSpPr>
        <p:spPr>
          <a:xfrm>
            <a:off x="7086600" y="3394571"/>
            <a:ext cx="4028948"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B1840"/>
                </a:solidFill>
                <a:latin typeface="Plus Jakarta Sans" pitchFamily="34" charset="0"/>
                <a:ea typeface="Plus Jakarta Sans" pitchFamily="34" charset="-122"/>
                <a:cs typeface="Plus Jakarta Sans" pitchFamily="34" charset="-120"/>
              </a:rPr>
              <a:t>0</a:t>
            </a:r>
            <a:endParaRPr lang="en-US" sz="3200" dirty="0"/>
          </a:p>
        </p:txBody>
      </p:sp>
      <p:sp>
        <p:nvSpPr>
          <p:cNvPr id="28" name="Text 26"/>
          <p:cNvSpPr/>
          <p:nvPr/>
        </p:nvSpPr>
        <p:spPr>
          <a:xfrm>
            <a:off x="7086600" y="3846661"/>
            <a:ext cx="402894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7456A"/>
                </a:solidFill>
                <a:latin typeface="Inter" pitchFamily="34" charset="0"/>
                <a:ea typeface="Inter" pitchFamily="34" charset="-122"/>
                <a:cs typeface="Inter" pitchFamily="34" charset="-120"/>
              </a:rPr>
              <a:t>collision drops in EMANE with the optimizer's schedule</a:t>
            </a:r>
            <a:endParaRPr lang="en-US" sz="1400" dirty="0"/>
          </a:p>
        </p:txBody>
      </p:sp>
      <p:sp>
        <p:nvSpPr>
          <p:cNvPr id="29" name="Text 27"/>
          <p:cNvSpPr/>
          <p:nvPr/>
        </p:nvSpPr>
        <p:spPr>
          <a:xfrm>
            <a:off x="7086600" y="4504482"/>
            <a:ext cx="4028948"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B1840"/>
                </a:solidFill>
                <a:latin typeface="Plus Jakarta Sans" pitchFamily="34" charset="0"/>
                <a:ea typeface="Plus Jakarta Sans" pitchFamily="34" charset="-122"/>
                <a:cs typeface="Plus Jakarta Sans" pitchFamily="34" charset="-120"/>
              </a:rPr>
              <a:t>99.9% </a:t>
            </a:r>
            <a:r>
              <a:rPr lang="en-US" sz="3200" b="1" dirty="0">
                <a:solidFill>
                  <a:srgbClr val="6D6A8C"/>
                </a:solidFill>
                <a:latin typeface="Plus Jakarta Sans" pitchFamily="34" charset="0"/>
                <a:ea typeface="Plus Jakarta Sans" pitchFamily="34" charset="-122"/>
                <a:cs typeface="Plus Jakarta Sans" pitchFamily="34" charset="-120"/>
              </a:rPr>
              <a:t>vs</a:t>
            </a:r>
            <a:r>
              <a:rPr lang="en-US" sz="3200" b="1" dirty="0">
                <a:solidFill>
                  <a:srgbClr val="1B1840"/>
                </a:solidFill>
                <a:latin typeface="Plus Jakarta Sans" pitchFamily="34" charset="0"/>
                <a:ea typeface="Plus Jakarta Sans" pitchFamily="34" charset="-122"/>
                <a:cs typeface="Plus Jakarta Sans" pitchFamily="34" charset="-120"/>
              </a:rPr>
              <a:t> 34.5%</a:t>
            </a:r>
            <a:endParaRPr lang="en-US" sz="3200" dirty="0"/>
          </a:p>
        </p:txBody>
      </p:sp>
      <p:sp>
        <p:nvSpPr>
          <p:cNvPr id="30" name="Text 28"/>
          <p:cNvSpPr/>
          <p:nvPr/>
        </p:nvSpPr>
        <p:spPr>
          <a:xfrm>
            <a:off x="7086600" y="4956572"/>
            <a:ext cx="402894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7456A"/>
                </a:solidFill>
                <a:latin typeface="Inter" pitchFamily="34" charset="0"/>
                <a:ea typeface="Inter" pitchFamily="34" charset="-122"/>
                <a:cs typeface="Inter" pitchFamily="34" charset="-120"/>
              </a:rPr>
              <a:t>delivery at 10 ms slots: optimizer vs a schedule that ignores hidden terminals</a:t>
            </a:r>
            <a:endParaRPr lang="en-US" sz="1400" dirty="0"/>
          </a:p>
        </p:txBody>
      </p:sp>
      <p:pic>
        <p:nvPicPr>
          <p:cNvPr id="31" name="Image 0" descr="Vaan Megam Networks">    </p:cNvPr>
          <p:cNvPicPr>
            <a:picLocks noChangeAspect="1"/>
          </p:cNvPicPr>
          <p:nvPr/>
        </p:nvPicPr>
        <p:blipFill>
          <a:blip r:embed="rId1"/>
          <a:srcRect l="0" r="0" t="-56" b="-56"/>
          <a:stretch/>
        </p:blipFill>
        <p:spPr>
          <a:xfrm>
            <a:off x="914400" y="6273800"/>
            <a:ext cx="628650" cy="177800"/>
          </a:xfrm>
          <a:prstGeom prst="rect">
            <a:avLst/>
          </a:prstGeom>
        </p:spPr>
      </p:pic>
      <p:sp>
        <p:nvSpPr>
          <p:cNvPr id="32" name="Text 29"/>
          <p:cNvSpPr/>
          <p:nvPr/>
        </p:nvSpPr>
        <p:spPr>
          <a:xfrm>
            <a:off x="1670050" y="6276380"/>
            <a:ext cx="5232400" cy="200620"/>
          </a:xfrm>
          <a:prstGeom prst="rect">
            <a:avLst/>
          </a:prstGeom>
          <a:noFill/>
          <a:ln/>
        </p:spPr>
        <p:txBody>
          <a:bodyPr wrap="square" lIns="0" tIns="0" rIns="0" bIns="0" rtlCol="0" anchor="t">
            <a:normAutofit/>
          </a:bodyPr>
          <a:lstStyle/>
          <a:p>
            <a:pPr algn="l" indent="0" marL="0">
              <a:lnSpc>
                <a:spcPts val="1380"/>
              </a:lnSpc>
              <a:buNone/>
            </a:pPr>
            <a:r>
              <a:rPr lang="en-US" sz="1200" dirty="0">
                <a:solidFill>
                  <a:srgbClr val="6D6A8C"/>
                </a:solidFill>
                <a:latin typeface="Inter" pitchFamily="34" charset="0"/>
                <a:ea typeface="Inter" pitchFamily="34" charset="-122"/>
                <a:cs typeface="Inter" pitchFamily="34" charset="-120"/>
              </a:rPr>
              <a:t>TDMA Schedule Optimizer</a:t>
            </a:r>
            <a:endParaRPr lang="en-US" sz="1200" dirty="0"/>
          </a:p>
        </p:txBody>
      </p:sp>
      <p:sp>
        <p:nvSpPr>
          <p:cNvPr id="33" name="Text 30"/>
          <p:cNvSpPr/>
          <p:nvPr/>
        </p:nvSpPr>
        <p:spPr>
          <a:xfrm>
            <a:off x="10464800" y="6276380"/>
            <a:ext cx="812800" cy="200620"/>
          </a:xfrm>
          <a:prstGeom prst="rect">
            <a:avLst/>
          </a:prstGeom>
          <a:noFill/>
          <a:ln/>
        </p:spPr>
        <p:txBody>
          <a:bodyPr wrap="square" lIns="0" tIns="0" rIns="0" bIns="0" rtlCol="0" anchor="t">
            <a:normAutofit/>
          </a:bodyPr>
          <a:lstStyle/>
          <a:p>
            <a:pPr algn="r" indent="0" marL="0">
              <a:lnSpc>
                <a:spcPts val="1380"/>
              </a:lnSpc>
              <a:buNone/>
            </a:pPr>
            <a:r>
              <a:rPr lang="en-US" sz="1200" dirty="0">
                <a:solidFill>
                  <a:srgbClr val="6D6A8C"/>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9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CE9FA"/>
              </a:gs>
              <a:gs pos="100000">
                <a:srgbClr val="E4F2FB"/>
              </a:gs>
            </a:gsLst>
            <a:lin ang="2700000" scaled="0"/>
          </a:gradFill>
          <a:ln/>
        </p:spPr>
      </p:sp>
      <p:sp>
        <p:nvSpPr>
          <p:cNvPr id="3" name="Shape 1"/>
          <p:cNvSpPr/>
          <p:nvPr/>
        </p:nvSpPr>
        <p:spPr>
          <a:xfrm>
            <a:off x="304800" y="304800"/>
            <a:ext cx="11582400" cy="6248400"/>
          </a:xfrm>
          <a:prstGeom prst="roundRect">
            <a:avLst>
              <a:gd name="adj" fmla="val 3659"/>
            </a:avLst>
          </a:prstGeom>
          <a:solidFill>
            <a:srgbClr val="FDFDFF"/>
          </a:solidFill>
          <a:ln/>
          <a:effectLst>
            <a:outerShdw sx="100000" sy="100000" kx="0" ky="0" algn="bl" rotWithShape="0" blurRad="355600" dist="101600" dir="5400000">
              <a:srgbClr val="281E6E">
                <a:alpha val="10000"/>
              </a:srgbClr>
            </a:outerShdw>
          </a:effectLst>
        </p:spPr>
      </p:sp>
      <p:sp>
        <p:nvSpPr>
          <p:cNvPr id="4" name="Text 2"/>
          <p:cNvSpPr/>
          <p:nvPr/>
        </p:nvSpPr>
        <p:spPr>
          <a:xfrm>
            <a:off x="914400" y="81280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54C4"/>
                </a:solidFill>
                <a:latin typeface="Inter" pitchFamily="34" charset="0"/>
                <a:ea typeface="Inter" pitchFamily="34" charset="-122"/>
                <a:cs typeface="Inter" pitchFamily="34" charset="-120"/>
              </a:rPr>
              <a:t>THE PROBLEM</a:t>
            </a:r>
            <a:endParaRPr lang="en-US" sz="1200" dirty="0"/>
          </a:p>
        </p:txBody>
      </p:sp>
      <p:sp>
        <p:nvSpPr>
          <p:cNvPr id="5" name="Text 3"/>
          <p:cNvSpPr/>
          <p:nvPr>
            <p:ph type="title"/>
          </p:nvPr>
        </p:nvSpPr>
        <p:spPr>
          <a:xfrm>
            <a:off x="914400" y="1102320"/>
            <a:ext cx="10674096" cy="47243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40"/>
                </a:solidFill>
                <a:latin typeface="Plus Jakarta Sans" pitchFamily="34" charset="0"/>
                <a:ea typeface="Plus Jakarta Sans" pitchFamily="34" charset="-122"/>
                <a:cs typeface="Plus Jakarta Sans" pitchFamily="34" charset="-120"/>
              </a:rPr>
              <a:t>Two ways radios collide</a:t>
            </a:r>
            <a:endParaRPr lang="en-US" sz="3200" dirty="0"/>
          </a:p>
        </p:txBody>
      </p:sp>
      <p:sp>
        <p:nvSpPr>
          <p:cNvPr id="6" name="Shape 4"/>
          <p:cNvSpPr/>
          <p:nvPr/>
        </p:nvSpPr>
        <p:spPr>
          <a:xfrm>
            <a:off x="914400" y="1854150"/>
            <a:ext cx="5080000" cy="2451001"/>
          </a:xfrm>
          <a:prstGeom prst="roundRect">
            <a:avLst>
              <a:gd name="adj" fmla="val 6218"/>
            </a:avLst>
          </a:prstGeom>
          <a:solidFill>
            <a:srgbClr val="F4F3FB"/>
          </a:solidFill>
          <a:ln/>
        </p:spPr>
      </p:sp>
      <p:sp>
        <p:nvSpPr>
          <p:cNvPr id="7" name="Text 5"/>
          <p:cNvSpPr/>
          <p:nvPr/>
        </p:nvSpPr>
        <p:spPr>
          <a:xfrm>
            <a:off x="1168400" y="2064941"/>
            <a:ext cx="173617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Direct interference</a:t>
            </a:r>
            <a:endParaRPr lang="en-US" sz="1400" dirty="0"/>
          </a:p>
        </p:txBody>
      </p:sp>
      <p:sp>
        <p:nvSpPr>
          <p:cNvPr id="8" name="Text 6"/>
          <p:cNvSpPr/>
          <p:nvPr/>
        </p:nvSpPr>
        <p:spPr>
          <a:xfrm>
            <a:off x="2904579" y="2057350"/>
            <a:ext cx="589459" cy="264120"/>
          </a:xfrm>
          <a:custGeom>
            <a:avLst/>
            <a:gdLst/>
            <a:ahLst/>
            <a:cxnLst/>
            <a:rect l="l" t="t" r="r" b="b"/>
            <a:pathLst>
              <a:path w="589459" h="264120">
                <a:moveTo>
                  <a:pt x="132060" y="0"/>
                </a:moveTo>
                <a:lnTo>
                  <a:pt x="457398" y="0"/>
                </a:lnTo>
                <a:arcTo hR="132060" wR="132060" stAng="16200000" swAng="5400000"/>
                <a:lnTo>
                  <a:pt x="589459" y="132060"/>
                </a:lnTo>
                <a:arcTo hR="132060" wR="132060" stAng="0" swAng="5400000"/>
                <a:lnTo>
                  <a:pt x="132060" y="264120"/>
                </a:lnTo>
                <a:arcTo hR="132060" wR="132060" stAng="5400000" swAng="5400000"/>
                <a:lnTo>
                  <a:pt x="0" y="132060"/>
                </a:lnTo>
                <a:arcTo hR="132060" wR="132060" stAng="10800000" swAng="5400000"/>
                <a:close/>
              </a:path>
            </a:pathLst>
          </a:custGeom>
          <a:solidFill>
            <a:srgbClr val="E9E6FA"/>
          </a:solidFill>
          <a:ln/>
        </p:spPr>
        <p:txBody>
          <a:bodyPr wrap="none" lIns="0" tIns="0" rIns="0" bIns="0" rtlCol="0" anchor="ctr">
            <a:normAutofit/>
          </a:bodyPr>
          <a:lstStyle/>
          <a:p>
            <a:pPr algn="ctr" indent="0" marL="0">
              <a:lnSpc>
                <a:spcPts val="1680"/>
              </a:lnSpc>
              <a:buNone/>
            </a:pPr>
            <a:r>
              <a:rPr lang="en-US" sz="1200" b="1" dirty="0">
                <a:solidFill>
                  <a:srgbClr val="5E54C4"/>
                </a:solidFill>
                <a:latin typeface="Inter" pitchFamily="34" charset="0"/>
                <a:ea typeface="Inter" pitchFamily="34" charset="-122"/>
                <a:cs typeface="Inter" pitchFamily="34" charset="-120"/>
              </a:rPr>
              <a:t>1 hop</a:t>
            </a:r>
            <a:endParaRPr lang="en-US" sz="1200" dirty="0"/>
          </a:p>
        </p:txBody>
      </p:sp>
      <p:sp>
        <p:nvSpPr>
          <p:cNvPr id="9" name="Text 7"/>
          <p:cNvSpPr/>
          <p:nvPr/>
        </p:nvSpPr>
        <p:spPr>
          <a:xfrm>
            <a:off x="2320925" y="2686596"/>
            <a:ext cx="488950" cy="488404"/>
          </a:xfrm>
          <a:custGeom>
            <a:avLst/>
            <a:gdLst/>
            <a:ahLst/>
            <a:cxnLst/>
            <a:rect l="l" t="t" r="r" b="b"/>
            <a:pathLst>
              <a:path w="488950" h="488404">
                <a:moveTo>
                  <a:pt x="244202" y="0"/>
                </a:moveTo>
                <a:lnTo>
                  <a:pt x="244748" y="0"/>
                </a:lnTo>
                <a:arcTo hR="244202" wR="244202" stAng="16200000" swAng="5400000"/>
                <a:lnTo>
                  <a:pt x="488950" y="244202"/>
                </a:lnTo>
                <a:arcTo hR="244202" wR="244202" stAng="0" swAng="5400000"/>
                <a:lnTo>
                  <a:pt x="244202" y="488404"/>
                </a:lnTo>
                <a:arcTo hR="244202" wR="244202" stAng="5400000" swAng="5400000"/>
                <a:lnTo>
                  <a:pt x="0" y="244202"/>
                </a:lnTo>
                <a:arcTo hR="244202" wR="244202" stAng="10800000" swAng="5400000"/>
                <a:close/>
              </a:path>
            </a:pathLst>
          </a:custGeom>
          <a:solidFill>
            <a:srgbClr val="FDFDFF"/>
          </a:solidFill>
          <a:ln w="19050">
            <a:solidFill>
              <a:srgbClr val="5E54C4"/>
            </a:solidFill>
            <a:prstDash val="solid"/>
          </a:ln>
        </p:spPr>
        <p:txBody>
          <a:bodyPr wrap="square" lIns="0" tIns="9525" rIns="0" bIns="0" rtlCol="0" anchor="t">
            <a:normAutofit/>
          </a:bodyPr>
          <a:lstStyle/>
          <a:p>
            <a:pPr algn="ctr" indent="0" marL="0">
              <a:lnSpc>
                <a:spcPts val="3696"/>
              </a:lnSpc>
              <a:buNone/>
            </a:pPr>
            <a:r>
              <a:rPr lang="en-US" sz="1400" b="1" dirty="0">
                <a:solidFill>
                  <a:srgbClr val="1B1840"/>
                </a:solidFill>
                <a:latin typeface="Inter" pitchFamily="34" charset="0"/>
                <a:ea typeface="Inter" pitchFamily="34" charset="-122"/>
                <a:cs typeface="Inter" pitchFamily="34" charset="-120"/>
              </a:rPr>
              <a:t>A</a:t>
            </a:r>
            <a:endParaRPr lang="en-US" sz="1400" dirty="0"/>
          </a:p>
        </p:txBody>
      </p:sp>
      <p:sp>
        <p:nvSpPr>
          <p:cNvPr id="10" name="Text 8"/>
          <p:cNvSpPr/>
          <p:nvPr/>
        </p:nvSpPr>
        <p:spPr>
          <a:xfrm>
            <a:off x="4098925" y="2686596"/>
            <a:ext cx="488950" cy="488404"/>
          </a:xfrm>
          <a:custGeom>
            <a:avLst/>
            <a:gdLst/>
            <a:ahLst/>
            <a:cxnLst/>
            <a:rect l="l" t="t" r="r" b="b"/>
            <a:pathLst>
              <a:path w="488950" h="488404">
                <a:moveTo>
                  <a:pt x="244202" y="0"/>
                </a:moveTo>
                <a:lnTo>
                  <a:pt x="244748" y="0"/>
                </a:lnTo>
                <a:arcTo hR="244202" wR="244202" stAng="16200000" swAng="5400000"/>
                <a:lnTo>
                  <a:pt x="488950" y="244202"/>
                </a:lnTo>
                <a:arcTo hR="244202" wR="244202" stAng="0" swAng="5400000"/>
                <a:lnTo>
                  <a:pt x="244202" y="488404"/>
                </a:lnTo>
                <a:arcTo hR="244202" wR="244202" stAng="5400000" swAng="5400000"/>
                <a:lnTo>
                  <a:pt x="0" y="244202"/>
                </a:lnTo>
                <a:arcTo hR="244202" wR="244202" stAng="10800000" swAng="5400000"/>
                <a:close/>
              </a:path>
            </a:pathLst>
          </a:custGeom>
          <a:solidFill>
            <a:srgbClr val="FDFDFF"/>
          </a:solidFill>
          <a:ln w="19050">
            <a:solidFill>
              <a:srgbClr val="5E54C4"/>
            </a:solidFill>
            <a:prstDash val="solid"/>
          </a:ln>
        </p:spPr>
        <p:txBody>
          <a:bodyPr wrap="square" lIns="0" tIns="9525" rIns="0" bIns="0" rtlCol="0" anchor="t">
            <a:normAutofit/>
          </a:bodyPr>
          <a:lstStyle/>
          <a:p>
            <a:pPr algn="ctr" indent="0" marL="0">
              <a:lnSpc>
                <a:spcPts val="3696"/>
              </a:lnSpc>
              <a:buNone/>
            </a:pPr>
            <a:r>
              <a:rPr lang="en-US" sz="1400" b="1" dirty="0">
                <a:solidFill>
                  <a:srgbClr val="1B1840"/>
                </a:solidFill>
                <a:latin typeface="Inter" pitchFamily="34" charset="0"/>
                <a:ea typeface="Inter" pitchFamily="34" charset="-122"/>
                <a:cs typeface="Inter" pitchFamily="34" charset="-120"/>
              </a:rPr>
              <a:t>B</a:t>
            </a:r>
            <a:endParaRPr lang="en-US" sz="1400" dirty="0"/>
          </a:p>
        </p:txBody>
      </p:sp>
      <p:pic>
        <p:nvPicPr>
          <p:cNvPr id="11" name="Image 0" descr="connector">    </p:cNvPr>
          <p:cNvPicPr>
            <a:picLocks noChangeAspect="1"/>
          </p:cNvPicPr>
          <p:nvPr/>
        </p:nvPicPr>
        <p:blipFill>
          <a:blip r:embed="rId1"/>
          <a:srcRect l="0" r="0" t="0" b="0"/>
          <a:stretch/>
        </p:blipFill>
        <p:spPr>
          <a:xfrm>
            <a:off x="2768600" y="2880271"/>
            <a:ext cx="1371600" cy="101600"/>
          </a:xfrm>
          <a:prstGeom prst="rect">
            <a:avLst/>
          </a:prstGeom>
        </p:spPr>
      </p:pic>
      <p:sp>
        <p:nvSpPr>
          <p:cNvPr id="12" name="Text 9"/>
          <p:cNvSpPr/>
          <p:nvPr/>
        </p:nvSpPr>
        <p:spPr>
          <a:xfrm>
            <a:off x="2984500" y="2638971"/>
            <a:ext cx="93980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6D6A8C"/>
                </a:solidFill>
                <a:latin typeface="Inter" pitchFamily="34" charset="0"/>
                <a:ea typeface="Inter" pitchFamily="34" charset="-122"/>
                <a:cs typeface="Inter" pitchFamily="34" charset="-120"/>
              </a:rPr>
              <a:t>in range</a:t>
            </a:r>
            <a:endParaRPr lang="en-US" sz="1200" dirty="0"/>
          </a:p>
        </p:txBody>
      </p:sp>
      <p:sp>
        <p:nvSpPr>
          <p:cNvPr id="13" name="Text 10"/>
          <p:cNvSpPr/>
          <p:nvPr/>
        </p:nvSpPr>
        <p:spPr>
          <a:xfrm>
            <a:off x="1168400" y="3604171"/>
            <a:ext cx="48260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456A"/>
                </a:solidFill>
                <a:latin typeface="Inter" pitchFamily="34" charset="0"/>
                <a:ea typeface="Inter" pitchFamily="34" charset="-122"/>
                <a:cs typeface="Inter" pitchFamily="34" charset="-120"/>
              </a:rPr>
              <a:t>A and B hear each other, so they need different slots.</a:t>
            </a:r>
            <a:endParaRPr lang="en-US" sz="1400" dirty="0"/>
          </a:p>
        </p:txBody>
      </p:sp>
      <p:sp>
        <p:nvSpPr>
          <p:cNvPr id="14" name="Shape 11"/>
          <p:cNvSpPr/>
          <p:nvPr/>
        </p:nvSpPr>
        <p:spPr>
          <a:xfrm>
            <a:off x="6197600" y="1854150"/>
            <a:ext cx="5080000" cy="2451001"/>
          </a:xfrm>
          <a:prstGeom prst="roundRect">
            <a:avLst>
              <a:gd name="adj" fmla="val 6218"/>
            </a:avLst>
          </a:prstGeom>
          <a:solidFill>
            <a:srgbClr val="F4F3FB"/>
          </a:solidFill>
          <a:ln/>
        </p:spPr>
      </p:sp>
      <p:sp>
        <p:nvSpPr>
          <p:cNvPr id="15" name="Text 12"/>
          <p:cNvSpPr/>
          <p:nvPr/>
        </p:nvSpPr>
        <p:spPr>
          <a:xfrm>
            <a:off x="6451600" y="2064941"/>
            <a:ext cx="148098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Hidden terminal</a:t>
            </a:r>
            <a:endParaRPr lang="en-US" sz="1400" dirty="0"/>
          </a:p>
        </p:txBody>
      </p:sp>
      <p:sp>
        <p:nvSpPr>
          <p:cNvPr id="16" name="Text 13"/>
          <p:cNvSpPr/>
          <p:nvPr/>
        </p:nvSpPr>
        <p:spPr>
          <a:xfrm>
            <a:off x="7932589" y="2057350"/>
            <a:ext cx="705098" cy="264120"/>
          </a:xfrm>
          <a:custGeom>
            <a:avLst/>
            <a:gdLst/>
            <a:ahLst/>
            <a:cxnLst/>
            <a:rect l="l" t="t" r="r" b="b"/>
            <a:pathLst>
              <a:path w="705098" h="264120">
                <a:moveTo>
                  <a:pt x="132060" y="0"/>
                </a:moveTo>
                <a:lnTo>
                  <a:pt x="573038" y="0"/>
                </a:lnTo>
                <a:arcTo hR="132060" wR="132060" stAng="16200000" swAng="5400000"/>
                <a:lnTo>
                  <a:pt x="705098" y="132060"/>
                </a:lnTo>
                <a:arcTo hR="132060" wR="132060" stAng="0" swAng="5400000"/>
                <a:lnTo>
                  <a:pt x="132060" y="264120"/>
                </a:lnTo>
                <a:arcTo hR="132060" wR="132060" stAng="5400000" swAng="5400000"/>
                <a:lnTo>
                  <a:pt x="0" y="132060"/>
                </a:lnTo>
                <a:arcTo hR="132060" wR="132060" stAng="10800000" swAng="5400000"/>
                <a:close/>
              </a:path>
            </a:pathLst>
          </a:custGeom>
          <a:solidFill>
            <a:srgbClr val="E9E6FA"/>
          </a:solidFill>
          <a:ln/>
        </p:spPr>
        <p:txBody>
          <a:bodyPr wrap="none" lIns="0" tIns="0" rIns="0" bIns="0" rtlCol="0" anchor="ctr">
            <a:normAutofit/>
          </a:bodyPr>
          <a:lstStyle/>
          <a:p>
            <a:pPr algn="ctr" indent="0" marL="0">
              <a:lnSpc>
                <a:spcPts val="1680"/>
              </a:lnSpc>
              <a:buNone/>
            </a:pPr>
            <a:r>
              <a:rPr lang="en-US" sz="1200" b="1" dirty="0">
                <a:solidFill>
                  <a:srgbClr val="5E54C4"/>
                </a:solidFill>
                <a:latin typeface="Inter" pitchFamily="34" charset="0"/>
                <a:ea typeface="Inter" pitchFamily="34" charset="-122"/>
                <a:cs typeface="Inter" pitchFamily="34" charset="-120"/>
              </a:rPr>
              <a:t>2 hops</a:t>
            </a:r>
            <a:endParaRPr lang="en-US" sz="1200" dirty="0"/>
          </a:p>
        </p:txBody>
      </p:sp>
      <p:sp>
        <p:nvSpPr>
          <p:cNvPr id="17" name="Text 14"/>
          <p:cNvSpPr/>
          <p:nvPr/>
        </p:nvSpPr>
        <p:spPr>
          <a:xfrm>
            <a:off x="6969125" y="2686596"/>
            <a:ext cx="488950" cy="488404"/>
          </a:xfrm>
          <a:custGeom>
            <a:avLst/>
            <a:gdLst/>
            <a:ahLst/>
            <a:cxnLst/>
            <a:rect l="l" t="t" r="r" b="b"/>
            <a:pathLst>
              <a:path w="488950" h="488404">
                <a:moveTo>
                  <a:pt x="244202" y="0"/>
                </a:moveTo>
                <a:lnTo>
                  <a:pt x="244748" y="0"/>
                </a:lnTo>
                <a:arcTo hR="244202" wR="244202" stAng="16200000" swAng="5400000"/>
                <a:lnTo>
                  <a:pt x="488950" y="244202"/>
                </a:lnTo>
                <a:arcTo hR="244202" wR="244202" stAng="0" swAng="5400000"/>
                <a:lnTo>
                  <a:pt x="244202" y="488404"/>
                </a:lnTo>
                <a:arcTo hR="244202" wR="244202" stAng="5400000" swAng="5400000"/>
                <a:lnTo>
                  <a:pt x="0" y="244202"/>
                </a:lnTo>
                <a:arcTo hR="244202" wR="244202" stAng="10800000" swAng="5400000"/>
                <a:close/>
              </a:path>
            </a:pathLst>
          </a:custGeom>
          <a:solidFill>
            <a:srgbClr val="FDFDFF"/>
          </a:solidFill>
          <a:ln w="19050">
            <a:solidFill>
              <a:srgbClr val="5E54C4"/>
            </a:solidFill>
            <a:prstDash val="solid"/>
          </a:ln>
        </p:spPr>
        <p:txBody>
          <a:bodyPr wrap="square" lIns="0" tIns="9525" rIns="0" bIns="0" rtlCol="0" anchor="t">
            <a:normAutofit/>
          </a:bodyPr>
          <a:lstStyle/>
          <a:p>
            <a:pPr algn="ctr" indent="0" marL="0">
              <a:lnSpc>
                <a:spcPts val="3696"/>
              </a:lnSpc>
              <a:buNone/>
            </a:pPr>
            <a:r>
              <a:rPr lang="en-US" sz="1400" b="1" dirty="0">
                <a:solidFill>
                  <a:srgbClr val="1B1840"/>
                </a:solidFill>
                <a:latin typeface="Inter" pitchFamily="34" charset="0"/>
                <a:ea typeface="Inter" pitchFamily="34" charset="-122"/>
                <a:cs typeface="Inter" pitchFamily="34" charset="-120"/>
              </a:rPr>
              <a:t>A</a:t>
            </a:r>
            <a:endParaRPr lang="en-US" sz="1400" dirty="0"/>
          </a:p>
        </p:txBody>
      </p:sp>
      <p:sp>
        <p:nvSpPr>
          <p:cNvPr id="18" name="Text 15"/>
          <p:cNvSpPr/>
          <p:nvPr/>
        </p:nvSpPr>
        <p:spPr>
          <a:xfrm>
            <a:off x="8493125" y="2686596"/>
            <a:ext cx="488950" cy="488404"/>
          </a:xfrm>
          <a:custGeom>
            <a:avLst/>
            <a:gdLst/>
            <a:ahLst/>
            <a:cxnLst/>
            <a:rect l="l" t="t" r="r" b="b"/>
            <a:pathLst>
              <a:path w="488950" h="488404">
                <a:moveTo>
                  <a:pt x="244202" y="0"/>
                </a:moveTo>
                <a:lnTo>
                  <a:pt x="244748" y="0"/>
                </a:lnTo>
                <a:arcTo hR="244202" wR="244202" stAng="16200000" swAng="5400000"/>
                <a:lnTo>
                  <a:pt x="488950" y="244202"/>
                </a:lnTo>
                <a:arcTo hR="244202" wR="244202" stAng="0" swAng="5400000"/>
                <a:lnTo>
                  <a:pt x="244202" y="488404"/>
                </a:lnTo>
                <a:arcTo hR="244202" wR="244202" stAng="5400000" swAng="5400000"/>
                <a:lnTo>
                  <a:pt x="0" y="244202"/>
                </a:lnTo>
                <a:arcTo hR="244202" wR="244202" stAng="10800000" swAng="5400000"/>
                <a:close/>
              </a:path>
            </a:pathLst>
          </a:custGeom>
          <a:solidFill>
            <a:srgbClr val="D9572B"/>
          </a:solidFill>
          <a:ln w="19050">
            <a:solidFill>
              <a:srgbClr val="D9572B"/>
            </a:solidFill>
            <a:prstDash val="solid"/>
          </a:ln>
        </p:spPr>
        <p:txBody>
          <a:bodyPr wrap="square" lIns="0" tIns="9525" rIns="0" bIns="0" rtlCol="0" anchor="t">
            <a:normAutofit/>
          </a:bodyPr>
          <a:lstStyle/>
          <a:p>
            <a:pPr algn="ctr" indent="0" marL="0">
              <a:lnSpc>
                <a:spcPts val="3696"/>
              </a:lnSpc>
              <a:buNone/>
            </a:pPr>
            <a:r>
              <a:rPr lang="en-US" sz="1400" b="1" dirty="0">
                <a:solidFill>
                  <a:srgbClr val="FDFDFF"/>
                </a:solidFill>
                <a:latin typeface="Inter" pitchFamily="34" charset="0"/>
                <a:ea typeface="Inter" pitchFamily="34" charset="-122"/>
                <a:cs typeface="Inter" pitchFamily="34" charset="-120"/>
              </a:rPr>
              <a:t>B</a:t>
            </a:r>
            <a:endParaRPr lang="en-US" sz="1400" dirty="0"/>
          </a:p>
        </p:txBody>
      </p:sp>
      <p:sp>
        <p:nvSpPr>
          <p:cNvPr id="19" name="Text 16"/>
          <p:cNvSpPr/>
          <p:nvPr/>
        </p:nvSpPr>
        <p:spPr>
          <a:xfrm>
            <a:off x="10017125" y="2686596"/>
            <a:ext cx="488950" cy="488404"/>
          </a:xfrm>
          <a:custGeom>
            <a:avLst/>
            <a:gdLst/>
            <a:ahLst/>
            <a:cxnLst/>
            <a:rect l="l" t="t" r="r" b="b"/>
            <a:pathLst>
              <a:path w="488950" h="488404">
                <a:moveTo>
                  <a:pt x="244202" y="0"/>
                </a:moveTo>
                <a:lnTo>
                  <a:pt x="244748" y="0"/>
                </a:lnTo>
                <a:arcTo hR="244202" wR="244202" stAng="16200000" swAng="5400000"/>
                <a:lnTo>
                  <a:pt x="488950" y="244202"/>
                </a:lnTo>
                <a:arcTo hR="244202" wR="244202" stAng="0" swAng="5400000"/>
                <a:lnTo>
                  <a:pt x="244202" y="488404"/>
                </a:lnTo>
                <a:arcTo hR="244202" wR="244202" stAng="5400000" swAng="5400000"/>
                <a:lnTo>
                  <a:pt x="0" y="244202"/>
                </a:lnTo>
                <a:arcTo hR="244202" wR="244202" stAng="10800000" swAng="5400000"/>
                <a:close/>
              </a:path>
            </a:pathLst>
          </a:custGeom>
          <a:solidFill>
            <a:srgbClr val="FDFDFF"/>
          </a:solidFill>
          <a:ln w="19050">
            <a:solidFill>
              <a:srgbClr val="5E54C4"/>
            </a:solidFill>
            <a:prstDash val="solid"/>
          </a:ln>
        </p:spPr>
        <p:txBody>
          <a:bodyPr wrap="square" lIns="0" tIns="9525" rIns="0" bIns="0" rtlCol="0" anchor="t">
            <a:normAutofit/>
          </a:bodyPr>
          <a:lstStyle/>
          <a:p>
            <a:pPr algn="ctr" indent="0" marL="0">
              <a:lnSpc>
                <a:spcPts val="3696"/>
              </a:lnSpc>
              <a:buNone/>
            </a:pPr>
            <a:r>
              <a:rPr lang="en-US" sz="1400" b="1" dirty="0">
                <a:solidFill>
                  <a:srgbClr val="1B1840"/>
                </a:solidFill>
                <a:latin typeface="Inter" pitchFamily="34" charset="0"/>
                <a:ea typeface="Inter" pitchFamily="34" charset="-122"/>
                <a:cs typeface="Inter" pitchFamily="34" charset="-120"/>
              </a:rPr>
              <a:t>C</a:t>
            </a:r>
            <a:endParaRPr lang="en-US" sz="1400" dirty="0"/>
          </a:p>
        </p:txBody>
      </p:sp>
      <p:pic>
        <p:nvPicPr>
          <p:cNvPr id="20" name="Image 1" descr="connector">    </p:cNvPr>
          <p:cNvPicPr>
            <a:picLocks noChangeAspect="1"/>
          </p:cNvPicPr>
          <p:nvPr/>
        </p:nvPicPr>
        <p:blipFill>
          <a:blip r:embed="rId2"/>
          <a:srcRect l="0" r="0" t="0" b="0"/>
          <a:stretch/>
        </p:blipFill>
        <p:spPr>
          <a:xfrm>
            <a:off x="7416800" y="2880271"/>
            <a:ext cx="1117600" cy="101600"/>
          </a:xfrm>
          <a:prstGeom prst="rect">
            <a:avLst/>
          </a:prstGeom>
        </p:spPr>
      </p:pic>
      <p:pic>
        <p:nvPicPr>
          <p:cNvPr id="21" name="Image 2" descr="connector">    </p:cNvPr>
          <p:cNvPicPr>
            <a:picLocks noChangeAspect="1"/>
          </p:cNvPicPr>
          <p:nvPr/>
        </p:nvPicPr>
        <p:blipFill>
          <a:blip r:embed="rId3"/>
          <a:srcRect l="0" r="0" t="0" b="0"/>
          <a:stretch/>
        </p:blipFill>
        <p:spPr>
          <a:xfrm>
            <a:off x="8940800" y="2880271"/>
            <a:ext cx="1117600" cy="101600"/>
          </a:xfrm>
          <a:prstGeom prst="rect">
            <a:avLst/>
          </a:prstGeom>
        </p:spPr>
      </p:pic>
      <p:sp>
        <p:nvSpPr>
          <p:cNvPr id="22" name="Text 17"/>
          <p:cNvSpPr/>
          <p:nvPr/>
        </p:nvSpPr>
        <p:spPr>
          <a:xfrm>
            <a:off x="7950200" y="3261271"/>
            <a:ext cx="1574800"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B4441E"/>
                </a:solidFill>
                <a:latin typeface="Inter" pitchFamily="34" charset="0"/>
                <a:ea typeface="Inter" pitchFamily="34" charset="-122"/>
                <a:cs typeface="Inter" pitchFamily="34" charset="-120"/>
              </a:rPr>
              <a:t>both arrive at B</a:t>
            </a:r>
            <a:endParaRPr lang="en-US" sz="1200" dirty="0"/>
          </a:p>
        </p:txBody>
      </p:sp>
      <p:sp>
        <p:nvSpPr>
          <p:cNvPr id="23" name="Text 18"/>
          <p:cNvSpPr/>
          <p:nvPr/>
        </p:nvSpPr>
        <p:spPr>
          <a:xfrm>
            <a:off x="6451600" y="3604171"/>
            <a:ext cx="470916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456A"/>
                </a:solidFill>
                <a:latin typeface="Inter" pitchFamily="34" charset="0"/>
                <a:ea typeface="Inter" pitchFamily="34" charset="-122"/>
                <a:cs typeface="Inter" pitchFamily="34" charset="-120"/>
              </a:rPr>
              <a:t>A and C are out of range of each other, so neither knows the other is sending.</a:t>
            </a:r>
            <a:endParaRPr lang="en-US" sz="1400" dirty="0"/>
          </a:p>
        </p:txBody>
      </p:sp>
      <p:sp>
        <p:nvSpPr>
          <p:cNvPr id="24" name="Shape 19"/>
          <p:cNvSpPr/>
          <p:nvPr/>
        </p:nvSpPr>
        <p:spPr>
          <a:xfrm>
            <a:off x="914400" y="4508351"/>
            <a:ext cx="355600" cy="355600"/>
          </a:xfrm>
          <a:prstGeom prst="roundRect">
            <a:avLst>
              <a:gd name="adj" fmla="val 28571"/>
            </a:avLst>
          </a:prstGeom>
          <a:solidFill>
            <a:srgbClr val="E9E6FA"/>
          </a:solidFill>
          <a:ln/>
        </p:spPr>
      </p:sp>
      <p:pic>
        <p:nvPicPr>
          <p:cNvPr id="25" name="Image 3" descr="Clock">    </p:cNvPr>
          <p:cNvPicPr>
            <a:picLocks noChangeAspect="1"/>
          </p:cNvPicPr>
          <p:nvPr/>
        </p:nvPicPr>
        <p:blipFill>
          <a:blip r:embed="rId4"/>
          <a:srcRect l="0" r="0" t="0" b="0"/>
          <a:stretch/>
        </p:blipFill>
        <p:spPr>
          <a:xfrm>
            <a:off x="977900" y="4571851"/>
            <a:ext cx="228600" cy="228600"/>
          </a:xfrm>
          <a:prstGeom prst="rect">
            <a:avLst/>
          </a:prstGeom>
        </p:spPr>
      </p:pic>
      <p:sp>
        <p:nvSpPr>
          <p:cNvPr id="26" name="Text 20"/>
          <p:cNvSpPr/>
          <p:nvPr/>
        </p:nvSpPr>
        <p:spPr>
          <a:xfrm>
            <a:off x="1371600" y="4561681"/>
            <a:ext cx="186725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How TDMA works</a:t>
            </a:r>
            <a:endParaRPr lang="en-US" sz="1400" dirty="0"/>
          </a:p>
        </p:txBody>
      </p:sp>
      <p:sp>
        <p:nvSpPr>
          <p:cNvPr id="27" name="Text 21"/>
          <p:cNvSpPr/>
          <p:nvPr/>
        </p:nvSpPr>
        <p:spPr>
          <a:xfrm>
            <a:off x="914400" y="4940151"/>
            <a:ext cx="334873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456A"/>
                </a:solidFill>
                <a:latin typeface="Inter" pitchFamily="34" charset="0"/>
                <a:ea typeface="Inter" pitchFamily="34" charset="-122"/>
                <a:cs typeface="Inter" pitchFamily="34" charset="-120"/>
              </a:rPr>
              <a:t>All radios share one frequency and take turns in the time slots of a repeating frame.</a:t>
            </a:r>
            <a:endParaRPr lang="en-US" sz="1400" dirty="0"/>
          </a:p>
        </p:txBody>
      </p:sp>
      <p:sp>
        <p:nvSpPr>
          <p:cNvPr id="28" name="Shape 22"/>
          <p:cNvSpPr/>
          <p:nvPr/>
        </p:nvSpPr>
        <p:spPr>
          <a:xfrm>
            <a:off x="4470400" y="4508351"/>
            <a:ext cx="355600" cy="355600"/>
          </a:xfrm>
          <a:prstGeom prst="roundRect">
            <a:avLst>
              <a:gd name="adj" fmla="val 28571"/>
            </a:avLst>
          </a:prstGeom>
          <a:solidFill>
            <a:srgbClr val="E9E6FA"/>
          </a:solidFill>
          <a:ln/>
        </p:spPr>
      </p:sp>
      <p:pic>
        <p:nvPicPr>
          <p:cNvPr id="29" name="Image 4" descr="Verified">    </p:cNvPr>
          <p:cNvPicPr>
            <a:picLocks noChangeAspect="1"/>
          </p:cNvPicPr>
          <p:nvPr/>
        </p:nvPicPr>
        <p:blipFill>
          <a:blip r:embed="rId5"/>
          <a:srcRect l="0" r="0" t="0" b="0"/>
          <a:stretch/>
        </p:blipFill>
        <p:spPr>
          <a:xfrm>
            <a:off x="4533900" y="4571851"/>
            <a:ext cx="228600" cy="228600"/>
          </a:xfrm>
          <a:prstGeom prst="rect">
            <a:avLst/>
          </a:prstGeom>
        </p:spPr>
      </p:pic>
      <p:sp>
        <p:nvSpPr>
          <p:cNvPr id="30" name="Text 23"/>
          <p:cNvSpPr/>
          <p:nvPr/>
        </p:nvSpPr>
        <p:spPr>
          <a:xfrm>
            <a:off x="4927600" y="4561681"/>
            <a:ext cx="90243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The goal</a:t>
            </a:r>
            <a:endParaRPr lang="en-US" sz="1400" dirty="0"/>
          </a:p>
        </p:txBody>
      </p:sp>
      <p:sp>
        <p:nvSpPr>
          <p:cNvPr id="31" name="Text 24"/>
          <p:cNvSpPr/>
          <p:nvPr/>
        </p:nvSpPr>
        <p:spPr>
          <a:xfrm>
            <a:off x="4470400" y="4940151"/>
            <a:ext cx="334873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456A"/>
                </a:solidFill>
                <a:latin typeface="Inter" pitchFamily="34" charset="0"/>
                <a:ea typeface="Inter" pitchFamily="34" charset="-122"/>
                <a:cs typeface="Inter" pitchFamily="34" charset="-120"/>
              </a:rPr>
              <a:t>Give every radio a slot with no collisions, using as few slots as possible.</a:t>
            </a:r>
            <a:endParaRPr lang="en-US" sz="1400" dirty="0"/>
          </a:p>
        </p:txBody>
      </p:sp>
      <p:sp>
        <p:nvSpPr>
          <p:cNvPr id="32" name="Shape 25"/>
          <p:cNvSpPr/>
          <p:nvPr/>
        </p:nvSpPr>
        <p:spPr>
          <a:xfrm>
            <a:off x="8026400" y="4508351"/>
            <a:ext cx="355600" cy="355600"/>
          </a:xfrm>
          <a:prstGeom prst="roundRect">
            <a:avLst>
              <a:gd name="adj" fmla="val 28571"/>
            </a:avLst>
          </a:prstGeom>
          <a:solidFill>
            <a:srgbClr val="E9E6FA"/>
          </a:solidFill>
          <a:ln/>
        </p:spPr>
      </p:sp>
      <p:pic>
        <p:nvPicPr>
          <p:cNvPr id="33" name="Image 5" descr="Globe">    </p:cNvPr>
          <p:cNvPicPr>
            <a:picLocks noChangeAspect="1"/>
          </p:cNvPicPr>
          <p:nvPr/>
        </p:nvPicPr>
        <p:blipFill>
          <a:blip r:embed="rId6"/>
          <a:srcRect l="0" r="0" t="0" b="0"/>
          <a:stretch/>
        </p:blipFill>
        <p:spPr>
          <a:xfrm>
            <a:off x="8089900" y="4571851"/>
            <a:ext cx="228600" cy="228600"/>
          </a:xfrm>
          <a:prstGeom prst="rect">
            <a:avLst/>
          </a:prstGeom>
        </p:spPr>
      </p:pic>
      <p:sp>
        <p:nvSpPr>
          <p:cNvPr id="34" name="Text 26"/>
          <p:cNvSpPr/>
          <p:nvPr/>
        </p:nvSpPr>
        <p:spPr>
          <a:xfrm>
            <a:off x="8483600" y="4561681"/>
            <a:ext cx="135665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Spatial reuse</a:t>
            </a:r>
            <a:endParaRPr lang="en-US" sz="1400" dirty="0"/>
          </a:p>
        </p:txBody>
      </p:sp>
      <p:sp>
        <p:nvSpPr>
          <p:cNvPr id="35" name="Text 27"/>
          <p:cNvSpPr/>
          <p:nvPr/>
        </p:nvSpPr>
        <p:spPr>
          <a:xfrm>
            <a:off x="8026400" y="4940151"/>
            <a:ext cx="334873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456A"/>
                </a:solidFill>
                <a:latin typeface="Inter" pitchFamily="34" charset="0"/>
                <a:ea typeface="Inter" pitchFamily="34" charset="-122"/>
                <a:cs typeface="Inter" pitchFamily="34" charset="-120"/>
              </a:rPr>
              <a:t>Radios more than 2 hops apart can share a slot. That keeps the frame short.</a:t>
            </a:r>
            <a:endParaRPr lang="en-US" sz="1400" dirty="0"/>
          </a:p>
        </p:txBody>
      </p:sp>
      <p:pic>
        <p:nvPicPr>
          <p:cNvPr id="36" name="Image 6" descr="Vaan Megam Networks">    </p:cNvPr>
          <p:cNvPicPr>
            <a:picLocks noChangeAspect="1"/>
          </p:cNvPicPr>
          <p:nvPr/>
        </p:nvPicPr>
        <p:blipFill>
          <a:blip r:embed="rId7"/>
          <a:srcRect l="0" r="0" t="-56" b="-56"/>
          <a:stretch/>
        </p:blipFill>
        <p:spPr>
          <a:xfrm>
            <a:off x="914400" y="6273800"/>
            <a:ext cx="628650" cy="177800"/>
          </a:xfrm>
          <a:prstGeom prst="rect">
            <a:avLst/>
          </a:prstGeom>
        </p:spPr>
      </p:pic>
      <p:sp>
        <p:nvSpPr>
          <p:cNvPr id="37" name="Text 28"/>
          <p:cNvSpPr/>
          <p:nvPr/>
        </p:nvSpPr>
        <p:spPr>
          <a:xfrm>
            <a:off x="1670050" y="6276380"/>
            <a:ext cx="5232400" cy="200620"/>
          </a:xfrm>
          <a:prstGeom prst="rect">
            <a:avLst/>
          </a:prstGeom>
          <a:noFill/>
          <a:ln/>
        </p:spPr>
        <p:txBody>
          <a:bodyPr wrap="square" lIns="0" tIns="0" rIns="0" bIns="0" rtlCol="0" anchor="t">
            <a:normAutofit/>
          </a:bodyPr>
          <a:lstStyle/>
          <a:p>
            <a:pPr algn="l" indent="0" marL="0">
              <a:lnSpc>
                <a:spcPts val="1380"/>
              </a:lnSpc>
              <a:buNone/>
            </a:pPr>
            <a:r>
              <a:rPr lang="en-US" sz="1200" dirty="0">
                <a:solidFill>
                  <a:srgbClr val="6D6A8C"/>
                </a:solidFill>
                <a:latin typeface="Inter" pitchFamily="34" charset="0"/>
                <a:ea typeface="Inter" pitchFamily="34" charset="-122"/>
                <a:cs typeface="Inter" pitchFamily="34" charset="-120"/>
              </a:rPr>
              <a:t>TDMA Schedule Optimizer</a:t>
            </a:r>
            <a:endParaRPr lang="en-US" sz="1200" dirty="0"/>
          </a:p>
        </p:txBody>
      </p:sp>
      <p:sp>
        <p:nvSpPr>
          <p:cNvPr id="38" name="Text 29"/>
          <p:cNvSpPr/>
          <p:nvPr/>
        </p:nvSpPr>
        <p:spPr>
          <a:xfrm>
            <a:off x="10464800" y="6276380"/>
            <a:ext cx="812800" cy="200620"/>
          </a:xfrm>
          <a:prstGeom prst="rect">
            <a:avLst/>
          </a:prstGeom>
          <a:noFill/>
          <a:ln/>
        </p:spPr>
        <p:txBody>
          <a:bodyPr wrap="square" lIns="0" tIns="0" rIns="0" bIns="0" rtlCol="0" anchor="t">
            <a:normAutofit/>
          </a:bodyPr>
          <a:lstStyle/>
          <a:p>
            <a:pPr algn="r" indent="0" marL="0">
              <a:lnSpc>
                <a:spcPts val="1380"/>
              </a:lnSpc>
              <a:buNone/>
            </a:pPr>
            <a:r>
              <a:rPr lang="en-US" sz="1200" dirty="0">
                <a:solidFill>
                  <a:srgbClr val="6D6A8C"/>
                </a:solidFill>
                <a:latin typeface="Inter" pitchFamily="34" charset="0"/>
                <a:ea typeface="Inter" pitchFamily="34" charset="-122"/>
                <a:cs typeface="Inte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43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7143A"/>
              </a:gs>
              <a:gs pos="58000">
                <a:srgbClr val="262062"/>
              </a:gs>
              <a:gs pos="100000">
                <a:srgbClr val="1D4A72"/>
              </a:gs>
            </a:gsLst>
            <a:lin ang="2700000" scaled="0"/>
          </a:gradFill>
          <a:ln/>
        </p:spPr>
      </p:sp>
      <p:pic>
        <p:nvPicPr>
          <p:cNvPr id="3"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4" name="Text 1"/>
          <p:cNvSpPr/>
          <p:nvPr/>
        </p:nvSpPr>
        <p:spPr>
          <a:xfrm>
            <a:off x="812800" y="1687909"/>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6FD3F7"/>
                </a:solidFill>
                <a:latin typeface="Plus Jakarta Sans" pitchFamily="34" charset="0"/>
                <a:ea typeface="Plus Jakarta Sans" pitchFamily="34" charset="-122"/>
                <a:cs typeface="Plus Jakarta Sans" pitchFamily="34" charset="-120"/>
              </a:rPr>
              <a:t>01</a:t>
            </a:r>
            <a:endParaRPr lang="en-US" sz="6000" dirty="0"/>
          </a:p>
        </p:txBody>
      </p:sp>
      <p:sp>
        <p:nvSpPr>
          <p:cNvPr id="5" name="Text 2"/>
          <p:cNvSpPr/>
          <p:nvPr/>
        </p:nvSpPr>
        <p:spPr>
          <a:xfrm>
            <a:off x="812800" y="262770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A5D6"/>
                </a:solidFill>
                <a:latin typeface="Inter" pitchFamily="34" charset="0"/>
                <a:ea typeface="Inter" pitchFamily="34" charset="-122"/>
                <a:cs typeface="Inter" pitchFamily="34" charset="-120"/>
              </a:rPr>
              <a:t>PART 1 · MANDATORY</a:t>
            </a:r>
            <a:endParaRPr lang="en-US" sz="1200" dirty="0"/>
          </a:p>
        </p:txBody>
      </p:sp>
      <p:sp>
        <p:nvSpPr>
          <p:cNvPr id="6" name="Text 3"/>
          <p:cNvSpPr/>
          <p:nvPr>
            <p:ph type="title"/>
          </p:nvPr>
        </p:nvSpPr>
        <p:spPr>
          <a:xfrm>
            <a:off x="812800" y="301883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50" kern="0" dirty="0">
                <a:solidFill>
                  <a:srgbClr val="F5F4FC"/>
                </a:solidFill>
                <a:latin typeface="Plus Jakarta Sans" pitchFamily="34" charset="0"/>
                <a:ea typeface="Plus Jakarta Sans" pitchFamily="34" charset="-122"/>
                <a:cs typeface="Plus Jakarta Sans" pitchFamily="34" charset="-120"/>
              </a:rPr>
              <a:t>The schedule optimizer</a:t>
            </a:r>
            <a:endParaRPr lang="en-US" sz="6000" dirty="0"/>
          </a:p>
        </p:txBody>
      </p:sp>
      <p:sp>
        <p:nvSpPr>
          <p:cNvPr id="7" name="Text 4"/>
          <p:cNvSpPr/>
          <p:nvPr/>
        </p:nvSpPr>
        <p:spPr>
          <a:xfrm>
            <a:off x="812800" y="3996730"/>
            <a:ext cx="8175625"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9C6E8"/>
                </a:solidFill>
                <a:latin typeface="Inter" pitchFamily="34" charset="0"/>
                <a:ea typeface="Inter" pitchFamily="34" charset="-122"/>
                <a:cs typeface="Inter" pitchFamily="34" charset="-120"/>
              </a:rPr>
              <a:t>A Python CLI: node coordinates in, a collision-free slot plan out, with proof of how good it is.</a:t>
            </a:r>
            <a:endParaRPr lang="en-US" sz="1800" dirty="0"/>
          </a:p>
        </p:txBody>
      </p:sp>
      <p:sp>
        <p:nvSpPr>
          <p:cNvPr id="8" name="Text 5"/>
          <p:cNvSpPr/>
          <p:nvPr/>
        </p:nvSpPr>
        <p:spPr>
          <a:xfrm>
            <a:off x="815975" y="4794845"/>
            <a:ext cx="1575048" cy="372070"/>
          </a:xfrm>
          <a:prstGeom prst="roundRect">
            <a:avLst>
              <a:gd name="adj" fmla="val 50000"/>
            </a:avLst>
          </a:prstGeom>
          <a:solidFill>
            <a:srgbClr val="FFFFFF">
              <a:alpha val="8000"/>
            </a:srgbClr>
          </a:solidFill>
          <a:ln w="6350">
            <a:solidFill>
              <a:srgbClr val="FFFFFF">
                <a:alpha val="16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E4E1FF"/>
                </a:solidFill>
                <a:latin typeface="Inter" pitchFamily="34" charset="0"/>
                <a:ea typeface="Inter" pitchFamily="34" charset="-122"/>
                <a:cs typeface="Inter" pitchFamily="34" charset="-120"/>
              </a:rPr>
              <a:t>networkx graphs</a:t>
            </a:r>
            <a:endParaRPr lang="en-US" sz="1200" dirty="0"/>
          </a:p>
        </p:txBody>
      </p:sp>
      <p:sp>
        <p:nvSpPr>
          <p:cNvPr id="9" name="Text 6"/>
          <p:cNvSpPr/>
          <p:nvPr/>
        </p:nvSpPr>
        <p:spPr>
          <a:xfrm>
            <a:off x="2498973" y="4794845"/>
            <a:ext cx="1876425" cy="372070"/>
          </a:xfrm>
          <a:prstGeom prst="roundRect">
            <a:avLst>
              <a:gd name="adj" fmla="val 50000"/>
            </a:avLst>
          </a:prstGeom>
          <a:solidFill>
            <a:srgbClr val="FFFFFF">
              <a:alpha val="8000"/>
            </a:srgbClr>
          </a:solidFill>
          <a:ln w="6350">
            <a:solidFill>
              <a:srgbClr val="FFFFFF">
                <a:alpha val="16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E4E1FF"/>
                </a:solidFill>
                <a:latin typeface="Inter" pitchFamily="34" charset="0"/>
                <a:ea typeface="Inter" pitchFamily="34" charset="-122"/>
                <a:cs typeface="Inter" pitchFamily="34" charset="-120"/>
              </a:rPr>
              <a:t>Distance-2 colouring</a:t>
            </a:r>
            <a:endParaRPr lang="en-US" sz="1200" dirty="0"/>
          </a:p>
        </p:txBody>
      </p:sp>
      <p:sp>
        <p:nvSpPr>
          <p:cNvPr id="10" name="Text 7"/>
          <p:cNvSpPr/>
          <p:nvPr/>
        </p:nvSpPr>
        <p:spPr>
          <a:xfrm>
            <a:off x="4483348" y="4794845"/>
            <a:ext cx="1999704" cy="372070"/>
          </a:xfrm>
          <a:prstGeom prst="roundRect">
            <a:avLst>
              <a:gd name="adj" fmla="val 50000"/>
            </a:avLst>
          </a:prstGeom>
          <a:solidFill>
            <a:srgbClr val="FFFFFF">
              <a:alpha val="8000"/>
            </a:srgbClr>
          </a:solidFill>
          <a:ln w="6350">
            <a:solidFill>
              <a:srgbClr val="FFFFFF">
                <a:alpha val="16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E4E1FF"/>
                </a:solidFill>
                <a:latin typeface="Inter" pitchFamily="34" charset="0"/>
                <a:ea typeface="Inter" pitchFamily="34" charset="-122"/>
                <a:cs typeface="Inter" pitchFamily="34" charset="-120"/>
              </a:rPr>
              <a:t>DSATUR + largest-first</a:t>
            </a:r>
            <a:endParaRPr lang="en-US" sz="1200" dirty="0"/>
          </a:p>
        </p:txBody>
      </p:sp>
      <p:sp>
        <p:nvSpPr>
          <p:cNvPr id="11" name="Text 8"/>
          <p:cNvSpPr/>
          <p:nvPr/>
        </p:nvSpPr>
        <p:spPr>
          <a:xfrm>
            <a:off x="6591002" y="4794845"/>
            <a:ext cx="916037" cy="372070"/>
          </a:xfrm>
          <a:prstGeom prst="roundRect">
            <a:avLst>
              <a:gd name="adj" fmla="val 50000"/>
            </a:avLst>
          </a:prstGeom>
          <a:solidFill>
            <a:srgbClr val="FFFFFF">
              <a:alpha val="8000"/>
            </a:srgbClr>
          </a:solidFill>
          <a:ln w="6350">
            <a:solidFill>
              <a:srgbClr val="FFFFFF">
                <a:alpha val="16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E4E1FF"/>
                </a:solidFill>
                <a:latin typeface="Inter" pitchFamily="34" charset="0"/>
                <a:ea typeface="Inter" pitchFamily="34" charset="-122"/>
                <a:cs typeface="Inter" pitchFamily="34" charset="-120"/>
              </a:rPr>
              <a:t>98 tests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9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CE9FA"/>
              </a:gs>
              <a:gs pos="100000">
                <a:srgbClr val="E4F2FB"/>
              </a:gs>
            </a:gsLst>
            <a:lin ang="2700000" scaled="0"/>
          </a:gradFill>
          <a:ln/>
        </p:spPr>
      </p:sp>
      <p:sp>
        <p:nvSpPr>
          <p:cNvPr id="3" name="Shape 1"/>
          <p:cNvSpPr/>
          <p:nvPr/>
        </p:nvSpPr>
        <p:spPr>
          <a:xfrm>
            <a:off x="304800" y="304800"/>
            <a:ext cx="11582400" cy="6248400"/>
          </a:xfrm>
          <a:prstGeom prst="roundRect">
            <a:avLst>
              <a:gd name="adj" fmla="val 3659"/>
            </a:avLst>
          </a:prstGeom>
          <a:solidFill>
            <a:srgbClr val="FDFDFF"/>
          </a:solidFill>
          <a:ln/>
          <a:effectLst>
            <a:outerShdw sx="100000" sy="100000" kx="0" ky="0" algn="bl" rotWithShape="0" blurRad="355600" dist="101600" dir="5400000">
              <a:srgbClr val="281E6E">
                <a:alpha val="10000"/>
              </a:srgbClr>
            </a:outerShdw>
          </a:effectLst>
        </p:spPr>
      </p:sp>
      <p:sp>
        <p:nvSpPr>
          <p:cNvPr id="4" name="Text 2"/>
          <p:cNvSpPr/>
          <p:nvPr/>
        </p:nvSpPr>
        <p:spPr>
          <a:xfrm>
            <a:off x="914400" y="81280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54C4"/>
                </a:solidFill>
                <a:latin typeface="Inter" pitchFamily="34" charset="0"/>
                <a:ea typeface="Inter" pitchFamily="34" charset="-122"/>
                <a:cs typeface="Inter" pitchFamily="34" charset="-120"/>
              </a:rPr>
              <a:t>PART 1 · APPROACH</a:t>
            </a:r>
            <a:endParaRPr lang="en-US" sz="1200" dirty="0"/>
          </a:p>
        </p:txBody>
      </p:sp>
      <p:sp>
        <p:nvSpPr>
          <p:cNvPr id="5" name="Text 3"/>
          <p:cNvSpPr/>
          <p:nvPr>
            <p:ph type="title"/>
          </p:nvPr>
        </p:nvSpPr>
        <p:spPr>
          <a:xfrm>
            <a:off x="914400" y="1102320"/>
            <a:ext cx="10674096" cy="47243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40"/>
                </a:solidFill>
                <a:latin typeface="Plus Jakarta Sans" pitchFamily="34" charset="0"/>
                <a:ea typeface="Plus Jakarta Sans" pitchFamily="34" charset="-122"/>
                <a:cs typeface="Plus Jakarta Sans" pitchFamily="34" charset="-120"/>
              </a:rPr>
              <a:t>Scheduling as graph colouring</a:t>
            </a:r>
            <a:endParaRPr lang="en-US" sz="3200" dirty="0"/>
          </a:p>
        </p:txBody>
      </p:sp>
      <p:sp>
        <p:nvSpPr>
          <p:cNvPr id="6" name="Text 4"/>
          <p:cNvSpPr/>
          <p:nvPr/>
        </p:nvSpPr>
        <p:spPr>
          <a:xfrm>
            <a:off x="914400" y="185415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5E54C4"/>
          </a:solidFill>
          <a:ln/>
        </p:spPr>
        <p:txBody>
          <a:bodyPr wrap="square" lIns="0" tIns="0" rIns="0" bIns="0" rtlCol="0" anchor="t">
            <a:normAutofit/>
          </a:bodyPr>
          <a:lstStyle/>
          <a:p>
            <a:pPr algn="ctr" indent="0" marL="0">
              <a:lnSpc>
                <a:spcPts val="2796"/>
              </a:lnSpc>
              <a:buNone/>
            </a:pPr>
            <a:r>
              <a:rPr lang="en-US" sz="1200" b="1" dirty="0">
                <a:solidFill>
                  <a:srgbClr val="FDFDFF"/>
                </a:solidFill>
                <a:latin typeface="Inter" pitchFamily="34" charset="0"/>
                <a:ea typeface="Inter" pitchFamily="34" charset="-122"/>
                <a:cs typeface="Inter" pitchFamily="34" charset="-120"/>
              </a:rPr>
              <a:t>1</a:t>
            </a:r>
            <a:endParaRPr lang="en-US" sz="1200" dirty="0"/>
          </a:p>
        </p:txBody>
      </p:sp>
      <p:sp>
        <p:nvSpPr>
          <p:cNvPr id="7" name="Text 5"/>
          <p:cNvSpPr/>
          <p:nvPr/>
        </p:nvSpPr>
        <p:spPr>
          <a:xfrm>
            <a:off x="1422400" y="1854150"/>
            <a:ext cx="53632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Radio graph</a:t>
            </a:r>
            <a:endParaRPr lang="en-US" sz="1400" dirty="0"/>
          </a:p>
        </p:txBody>
      </p:sp>
      <p:sp>
        <p:nvSpPr>
          <p:cNvPr id="8" name="Text 6"/>
          <p:cNvSpPr/>
          <p:nvPr/>
        </p:nvSpPr>
        <p:spPr>
          <a:xfrm>
            <a:off x="1422400" y="2115741"/>
            <a:ext cx="53632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Link every pair of radios within 500 m (42 links).</a:t>
            </a:r>
            <a:endParaRPr lang="en-US" sz="1200" dirty="0"/>
          </a:p>
        </p:txBody>
      </p:sp>
      <p:sp>
        <p:nvSpPr>
          <p:cNvPr id="9" name="Text 7"/>
          <p:cNvSpPr/>
          <p:nvPr/>
        </p:nvSpPr>
        <p:spPr>
          <a:xfrm>
            <a:off x="914400" y="243066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5E54C4"/>
          </a:solidFill>
          <a:ln/>
        </p:spPr>
        <p:txBody>
          <a:bodyPr wrap="square" lIns="0" tIns="0" rIns="0" bIns="0" rtlCol="0" anchor="t">
            <a:normAutofit/>
          </a:bodyPr>
          <a:lstStyle/>
          <a:p>
            <a:pPr algn="ctr" indent="0" marL="0">
              <a:lnSpc>
                <a:spcPts val="2796"/>
              </a:lnSpc>
              <a:buNone/>
            </a:pPr>
            <a:r>
              <a:rPr lang="en-US" sz="1200" b="1" dirty="0">
                <a:solidFill>
                  <a:srgbClr val="FDFDFF"/>
                </a:solidFill>
                <a:latin typeface="Inter" pitchFamily="34" charset="0"/>
                <a:ea typeface="Inter" pitchFamily="34" charset="-122"/>
                <a:cs typeface="Inter" pitchFamily="34" charset="-120"/>
              </a:rPr>
              <a:t>2</a:t>
            </a:r>
            <a:endParaRPr lang="en-US" sz="1200" dirty="0"/>
          </a:p>
        </p:txBody>
      </p:sp>
      <p:sp>
        <p:nvSpPr>
          <p:cNvPr id="10" name="Text 8"/>
          <p:cNvSpPr/>
          <p:nvPr/>
        </p:nvSpPr>
        <p:spPr>
          <a:xfrm>
            <a:off x="1422400" y="2430661"/>
            <a:ext cx="53632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Conflict graph</a:t>
            </a:r>
            <a:endParaRPr lang="en-US" sz="1400" dirty="0"/>
          </a:p>
        </p:txBody>
      </p:sp>
      <p:sp>
        <p:nvSpPr>
          <p:cNvPr id="11" name="Text 9"/>
          <p:cNvSpPr/>
          <p:nvPr/>
        </p:nvSpPr>
        <p:spPr>
          <a:xfrm>
            <a:off x="1422400" y="2692251"/>
            <a:ext cx="53632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Join every pair 1 or 2 hops apart: G² (90 pairs).</a:t>
            </a:r>
            <a:endParaRPr lang="en-US" sz="1200" dirty="0"/>
          </a:p>
        </p:txBody>
      </p:sp>
      <p:sp>
        <p:nvSpPr>
          <p:cNvPr id="12" name="Text 10"/>
          <p:cNvSpPr/>
          <p:nvPr/>
        </p:nvSpPr>
        <p:spPr>
          <a:xfrm>
            <a:off x="914400" y="300717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5E54C4"/>
          </a:solidFill>
          <a:ln/>
        </p:spPr>
        <p:txBody>
          <a:bodyPr wrap="square" lIns="0" tIns="0" rIns="0" bIns="0" rtlCol="0" anchor="t">
            <a:normAutofit/>
          </a:bodyPr>
          <a:lstStyle/>
          <a:p>
            <a:pPr algn="ctr" indent="0" marL="0">
              <a:lnSpc>
                <a:spcPts val="2796"/>
              </a:lnSpc>
              <a:buNone/>
            </a:pPr>
            <a:r>
              <a:rPr lang="en-US" sz="1200" b="1" dirty="0">
                <a:solidFill>
                  <a:srgbClr val="FDFDFF"/>
                </a:solidFill>
                <a:latin typeface="Inter" pitchFamily="34" charset="0"/>
                <a:ea typeface="Inter" pitchFamily="34" charset="-122"/>
                <a:cs typeface="Inter" pitchFamily="34" charset="-120"/>
              </a:rPr>
              <a:t>3</a:t>
            </a:r>
            <a:endParaRPr lang="en-US" sz="1200" dirty="0"/>
          </a:p>
        </p:txBody>
      </p:sp>
      <p:sp>
        <p:nvSpPr>
          <p:cNvPr id="13" name="Text 11"/>
          <p:cNvSpPr/>
          <p:nvPr/>
        </p:nvSpPr>
        <p:spPr>
          <a:xfrm>
            <a:off x="1422400" y="3007171"/>
            <a:ext cx="53632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Greedy colouring</a:t>
            </a:r>
            <a:endParaRPr lang="en-US" sz="1400" dirty="0"/>
          </a:p>
        </p:txBody>
      </p:sp>
      <p:sp>
        <p:nvSpPr>
          <p:cNvPr id="14" name="Text 12"/>
          <p:cNvSpPr/>
          <p:nvPr/>
        </p:nvSpPr>
        <p:spPr>
          <a:xfrm>
            <a:off x="1422400" y="3268762"/>
            <a:ext cx="53632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Each colour is a slot. DSATUR and largest-first.</a:t>
            </a:r>
            <a:endParaRPr lang="en-US" sz="1200" dirty="0"/>
          </a:p>
        </p:txBody>
      </p:sp>
      <p:sp>
        <p:nvSpPr>
          <p:cNvPr id="15" name="Text 13"/>
          <p:cNvSpPr/>
          <p:nvPr/>
        </p:nvSpPr>
        <p:spPr>
          <a:xfrm>
            <a:off x="914400" y="3583682"/>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5E54C4"/>
          </a:solidFill>
          <a:ln/>
        </p:spPr>
        <p:txBody>
          <a:bodyPr wrap="square" lIns="0" tIns="0" rIns="0" bIns="0" rtlCol="0" anchor="t">
            <a:normAutofit/>
          </a:bodyPr>
          <a:lstStyle/>
          <a:p>
            <a:pPr algn="ctr" indent="0" marL="0">
              <a:lnSpc>
                <a:spcPts val="2796"/>
              </a:lnSpc>
              <a:buNone/>
            </a:pPr>
            <a:r>
              <a:rPr lang="en-US" sz="1200" b="1" dirty="0">
                <a:solidFill>
                  <a:srgbClr val="FDFDFF"/>
                </a:solidFill>
                <a:latin typeface="Inter" pitchFamily="34" charset="0"/>
                <a:ea typeface="Inter" pitchFamily="34" charset="-122"/>
                <a:cs typeface="Inter" pitchFamily="34" charset="-120"/>
              </a:rPr>
              <a:t>4</a:t>
            </a:r>
            <a:endParaRPr lang="en-US" sz="1200" dirty="0"/>
          </a:p>
        </p:txBody>
      </p:sp>
      <p:sp>
        <p:nvSpPr>
          <p:cNvPr id="16" name="Text 14"/>
          <p:cNvSpPr/>
          <p:nvPr/>
        </p:nvSpPr>
        <p:spPr>
          <a:xfrm>
            <a:off x="1422400" y="3583682"/>
            <a:ext cx="53632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Lower bound</a:t>
            </a:r>
            <a:endParaRPr lang="en-US" sz="1400" dirty="0"/>
          </a:p>
        </p:txBody>
      </p:sp>
      <p:sp>
        <p:nvSpPr>
          <p:cNvPr id="17" name="Text 15"/>
          <p:cNvSpPr/>
          <p:nvPr/>
        </p:nvSpPr>
        <p:spPr>
          <a:xfrm>
            <a:off x="1422400" y="3845272"/>
            <a:ext cx="53632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The busiest radio and its neighbours need distinct slots.</a:t>
            </a:r>
            <a:endParaRPr lang="en-US" sz="1200" dirty="0"/>
          </a:p>
        </p:txBody>
      </p:sp>
      <p:sp>
        <p:nvSpPr>
          <p:cNvPr id="18" name="Text 16"/>
          <p:cNvSpPr/>
          <p:nvPr/>
        </p:nvSpPr>
        <p:spPr>
          <a:xfrm>
            <a:off x="914400" y="4160193"/>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5E54C4"/>
          </a:solidFill>
          <a:ln/>
        </p:spPr>
        <p:txBody>
          <a:bodyPr wrap="square" lIns="0" tIns="0" rIns="0" bIns="0" rtlCol="0" anchor="t">
            <a:normAutofit/>
          </a:bodyPr>
          <a:lstStyle/>
          <a:p>
            <a:pPr algn="ctr" indent="0" marL="0">
              <a:lnSpc>
                <a:spcPts val="2796"/>
              </a:lnSpc>
              <a:buNone/>
            </a:pPr>
            <a:r>
              <a:rPr lang="en-US" sz="1200" b="1" dirty="0">
                <a:solidFill>
                  <a:srgbClr val="FDFDFF"/>
                </a:solidFill>
                <a:latin typeface="Inter" pitchFamily="34" charset="0"/>
                <a:ea typeface="Inter" pitchFamily="34" charset="-122"/>
                <a:cs typeface="Inter" pitchFamily="34" charset="-120"/>
              </a:rPr>
              <a:t>5</a:t>
            </a:r>
            <a:endParaRPr lang="en-US" sz="1200" dirty="0"/>
          </a:p>
        </p:txBody>
      </p:sp>
      <p:sp>
        <p:nvSpPr>
          <p:cNvPr id="19" name="Text 17"/>
          <p:cNvSpPr/>
          <p:nvPr/>
        </p:nvSpPr>
        <p:spPr>
          <a:xfrm>
            <a:off x="1422400" y="4160193"/>
            <a:ext cx="53632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Self-check</a:t>
            </a:r>
            <a:endParaRPr lang="en-US" sz="1400" dirty="0"/>
          </a:p>
        </p:txBody>
      </p:sp>
      <p:sp>
        <p:nvSpPr>
          <p:cNvPr id="20" name="Text 18"/>
          <p:cNvSpPr/>
          <p:nvPr/>
        </p:nvSpPr>
        <p:spPr>
          <a:xfrm>
            <a:off x="1422400" y="4421783"/>
            <a:ext cx="53632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Re-verify every shared slot from raw coordinates.</a:t>
            </a:r>
            <a:endParaRPr lang="en-US" sz="1200" dirty="0"/>
          </a:p>
        </p:txBody>
      </p:sp>
      <p:sp>
        <p:nvSpPr>
          <p:cNvPr id="21" name="Text 19"/>
          <p:cNvSpPr/>
          <p:nvPr/>
        </p:nvSpPr>
        <p:spPr>
          <a:xfrm>
            <a:off x="914400" y="4736703"/>
            <a:ext cx="5715000" cy="680641"/>
          </a:xfrm>
          <a:prstGeom prst="roundRect">
            <a:avLst>
              <a:gd name="adj" fmla="val 18659"/>
            </a:avLst>
          </a:prstGeom>
          <a:solidFill>
            <a:srgbClr val="1B1840"/>
          </a:solidFill>
          <a:ln/>
        </p:spPr>
        <p:txBody>
          <a:bodyPr wrap="square" lIns="140603" tIns="89803" rIns="0" bIns="64403" rtlCol="0" anchor="t">
            <a:normAutofit/>
          </a:bodyPr>
          <a:lstStyle/>
          <a:p>
            <a:pPr algn="l" indent="0" marL="0">
              <a:lnSpc>
                <a:spcPts val="1680"/>
              </a:lnSpc>
              <a:buNone/>
            </a:pPr>
            <a:r>
              <a:rPr lang="en-US" sz="1200" dirty="0">
                <a:solidFill>
                  <a:srgbClr val="6FD3F7"/>
                </a:solidFill>
                <a:latin typeface="Inter" pitchFamily="34" charset="0"/>
                <a:ea typeface="Inter" pitchFamily="34" charset="-122"/>
                <a:cs typeface="Inter" pitchFamily="34" charset="-120"/>
              </a:rPr>
              <a:t>In:</a:t>
            </a:r>
            <a:r>
              <a:rPr lang="en-US" sz="1200" dirty="0">
                <a:solidFill>
                  <a:srgbClr val="E4E1FF"/>
                </a:solidFill>
                <a:latin typeface="Inter" pitchFamily="34" charset="0"/>
                <a:ea typeface="Inter" pitchFamily="34" charset="-122"/>
                <a:cs typeface="Inter" pitchFamily="34" charset="-120"/>
              </a:rPr>
              <a:t> JSON coordinates of the radios. </a:t>
            </a:r>
            <a:r>
              <a:rPr lang="en-US" sz="1200" dirty="0">
                <a:solidFill>
                  <a:srgbClr val="6FD3F7"/>
                </a:solidFill>
                <a:latin typeface="Inter" pitchFamily="34" charset="0"/>
                <a:ea typeface="Inter" pitchFamily="34" charset="-122"/>
                <a:cs typeface="Inter" pitchFamily="34" charset="-120"/>
              </a:rPr>
              <a:t>Out:</a:t>
            </a:r>
            <a:r>
              <a:rPr lang="en-US" sz="1200" dirty="0">
                <a:solidFill>
                  <a:srgbClr val="E4E1FF"/>
                </a:solidFill>
                <a:latin typeface="Inter" pitchFamily="34" charset="0"/>
                <a:ea typeface="Inter" pitchFamily="34" charset="-122"/>
                <a:cs typeface="Inter" pitchFamily="34" charset="-120"/>
              </a:rPr>
              <a:t> node-to-slot map, Slot × Node matrix, frame length, and whether it is optimal.</a:t>
            </a:r>
            <a:endParaRPr lang="en-US" sz="1200" dirty="0"/>
          </a:p>
        </p:txBody>
      </p:sp>
      <p:sp>
        <p:nvSpPr>
          <p:cNvPr id="22" name="Shape 20"/>
          <p:cNvSpPr/>
          <p:nvPr/>
        </p:nvSpPr>
        <p:spPr>
          <a:xfrm>
            <a:off x="6934200" y="1854150"/>
            <a:ext cx="4343400" cy="3642171"/>
          </a:xfrm>
          <a:prstGeom prst="roundRect">
            <a:avLst>
              <a:gd name="adj" fmla="val 4882"/>
            </a:avLst>
          </a:prstGeom>
          <a:solidFill>
            <a:srgbClr val="F4F3FB"/>
          </a:solidFill>
          <a:ln/>
        </p:spPr>
      </p:sp>
      <p:sp>
        <p:nvSpPr>
          <p:cNvPr id="23" name="Text 21"/>
          <p:cNvSpPr/>
          <p:nvPr/>
        </p:nvSpPr>
        <p:spPr>
          <a:xfrm>
            <a:off x="7137400" y="2057350"/>
            <a:ext cx="405511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54C4"/>
                </a:solidFill>
                <a:latin typeface="Inter" pitchFamily="34" charset="0"/>
                <a:ea typeface="Inter" pitchFamily="34" charset="-122"/>
                <a:cs typeface="Inter" pitchFamily="34" charset="-120"/>
              </a:rPr>
              <a:t>KEY IDEA</a:t>
            </a:r>
            <a:endParaRPr lang="en-US" sz="1200" dirty="0"/>
          </a:p>
        </p:txBody>
      </p:sp>
      <p:sp>
        <p:nvSpPr>
          <p:cNvPr id="24" name="Text 22"/>
          <p:cNvSpPr/>
          <p:nvPr/>
        </p:nvSpPr>
        <p:spPr>
          <a:xfrm>
            <a:off x="7137400" y="2346871"/>
            <a:ext cx="40551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Square the graph</a:t>
            </a:r>
            <a:endParaRPr lang="en-US" sz="1400" dirty="0"/>
          </a:p>
        </p:txBody>
      </p:sp>
      <p:pic>
        <p:nvPicPr>
          <p:cNvPr id="25" name="Image 0" descr="preencoded.png">    </p:cNvPr>
          <p:cNvPicPr>
            <a:picLocks noChangeAspect="1"/>
          </p:cNvPicPr>
          <p:nvPr/>
        </p:nvPicPr>
        <p:blipFill>
          <a:blip r:embed="rId1"/>
          <a:srcRect l="0" r="0" t="0" b="0"/>
          <a:stretch/>
        </p:blipFill>
        <p:spPr>
          <a:xfrm>
            <a:off x="7137400" y="2671961"/>
            <a:ext cx="3937000" cy="1905000"/>
          </a:xfrm>
          <a:prstGeom prst="rect">
            <a:avLst/>
          </a:prstGeom>
        </p:spPr>
      </p:pic>
      <p:sp>
        <p:nvSpPr>
          <p:cNvPr id="26" name="Text 23"/>
          <p:cNvSpPr/>
          <p:nvPr/>
        </p:nvSpPr>
        <p:spPr>
          <a:xfrm>
            <a:off x="7137400" y="2671961"/>
            <a:ext cx="261620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B1840"/>
                </a:solidFill>
                <a:latin typeface="Inter" pitchFamily="34" charset="0"/>
                <a:ea typeface="Inter" pitchFamily="34" charset="-122"/>
                <a:cs typeface="Inter" pitchFamily="34" charset="-120"/>
              </a:rPr>
              <a:t>Radio graph G</a:t>
            </a:r>
            <a:endParaRPr lang="en-US" sz="1200" dirty="0"/>
          </a:p>
        </p:txBody>
      </p:sp>
      <p:sp>
        <p:nvSpPr>
          <p:cNvPr id="27" name="Text 24"/>
          <p:cNvSpPr/>
          <p:nvPr/>
        </p:nvSpPr>
        <p:spPr>
          <a:xfrm>
            <a:off x="7410450" y="2919611"/>
            <a:ext cx="342900" cy="343396"/>
          </a:xfrm>
          <a:custGeom>
            <a:avLst/>
            <a:gdLst/>
            <a:ahLst/>
            <a:cxnLst/>
            <a:rect l="l" t="t" r="r" b="b"/>
            <a:pathLst>
              <a:path w="342900" h="343396">
                <a:moveTo>
                  <a:pt x="171450" y="0"/>
                </a:moveTo>
                <a:lnTo>
                  <a:pt x="171450" y="0"/>
                </a:lnTo>
                <a:arcTo hR="171450" wR="171450" stAng="16200000" swAng="5400000"/>
                <a:lnTo>
                  <a:pt x="342900" y="171946"/>
                </a:lnTo>
                <a:arcTo hR="171450" wR="171450" stAng="0" swAng="5400000"/>
                <a:lnTo>
                  <a:pt x="171450" y="343396"/>
                </a:lnTo>
                <a:arcTo hR="171450" wR="171450" stAng="5400000" swAng="5400000"/>
                <a:lnTo>
                  <a:pt x="0" y="171450"/>
                </a:lnTo>
                <a:arcTo hR="171450" wR="171450" stAng="10800000" swAng="5400000"/>
                <a:close/>
              </a:path>
            </a:pathLst>
          </a:custGeom>
          <a:solidFill>
            <a:srgbClr val="FDFDFF"/>
          </a:solidFill>
          <a:ln w="12700">
            <a:solidFill>
              <a:srgbClr val="5E54C4"/>
            </a:solidFill>
            <a:prstDash val="solid"/>
          </a:ln>
        </p:spPr>
        <p:txBody>
          <a:bodyPr wrap="square" lIns="0" tIns="6350" rIns="0" bIns="0" rtlCol="0" anchor="t">
            <a:normAutofit/>
          </a:bodyPr>
          <a:lstStyle/>
          <a:p>
            <a:pPr algn="ctr" indent="0" marL="0">
              <a:lnSpc>
                <a:spcPts val="2604"/>
              </a:lnSpc>
              <a:buNone/>
            </a:pPr>
            <a:r>
              <a:rPr lang="en-US" sz="1200" b="1" dirty="0">
                <a:solidFill>
                  <a:srgbClr val="1B1840"/>
                </a:solidFill>
                <a:latin typeface="Inter" pitchFamily="34" charset="0"/>
                <a:ea typeface="Inter" pitchFamily="34" charset="-122"/>
                <a:cs typeface="Inter" pitchFamily="34" charset="-120"/>
              </a:rPr>
              <a:t>A</a:t>
            </a:r>
            <a:endParaRPr lang="en-US" sz="1200" dirty="0"/>
          </a:p>
        </p:txBody>
      </p:sp>
      <p:sp>
        <p:nvSpPr>
          <p:cNvPr id="28" name="Text 25"/>
          <p:cNvSpPr/>
          <p:nvPr/>
        </p:nvSpPr>
        <p:spPr>
          <a:xfrm>
            <a:off x="8426450" y="2919611"/>
            <a:ext cx="342900" cy="343396"/>
          </a:xfrm>
          <a:custGeom>
            <a:avLst/>
            <a:gdLst/>
            <a:ahLst/>
            <a:cxnLst/>
            <a:rect l="l" t="t" r="r" b="b"/>
            <a:pathLst>
              <a:path w="342900" h="343396">
                <a:moveTo>
                  <a:pt x="171450" y="0"/>
                </a:moveTo>
                <a:lnTo>
                  <a:pt x="171450" y="0"/>
                </a:lnTo>
                <a:arcTo hR="171450" wR="171450" stAng="16200000" swAng="5400000"/>
                <a:lnTo>
                  <a:pt x="342900" y="171946"/>
                </a:lnTo>
                <a:arcTo hR="171450" wR="171450" stAng="0" swAng="5400000"/>
                <a:lnTo>
                  <a:pt x="171450" y="343396"/>
                </a:lnTo>
                <a:arcTo hR="171450" wR="171450" stAng="5400000" swAng="5400000"/>
                <a:lnTo>
                  <a:pt x="0" y="171450"/>
                </a:lnTo>
                <a:arcTo hR="171450" wR="171450" stAng="10800000" swAng="5400000"/>
                <a:close/>
              </a:path>
            </a:pathLst>
          </a:custGeom>
          <a:solidFill>
            <a:srgbClr val="FDFDFF"/>
          </a:solidFill>
          <a:ln w="12700">
            <a:solidFill>
              <a:srgbClr val="5E54C4"/>
            </a:solidFill>
            <a:prstDash val="solid"/>
          </a:ln>
        </p:spPr>
        <p:txBody>
          <a:bodyPr wrap="square" lIns="0" tIns="6350" rIns="0" bIns="0" rtlCol="0" anchor="t">
            <a:normAutofit/>
          </a:bodyPr>
          <a:lstStyle/>
          <a:p>
            <a:pPr algn="ctr" indent="0" marL="0">
              <a:lnSpc>
                <a:spcPts val="2604"/>
              </a:lnSpc>
              <a:buNone/>
            </a:pPr>
            <a:r>
              <a:rPr lang="en-US" sz="1200" b="1" dirty="0">
                <a:solidFill>
                  <a:srgbClr val="1B1840"/>
                </a:solidFill>
                <a:latin typeface="Inter" pitchFamily="34" charset="0"/>
                <a:ea typeface="Inter" pitchFamily="34" charset="-122"/>
                <a:cs typeface="Inter" pitchFamily="34" charset="-120"/>
              </a:rPr>
              <a:t>B</a:t>
            </a:r>
            <a:endParaRPr lang="en-US" sz="1200" dirty="0"/>
          </a:p>
        </p:txBody>
      </p:sp>
      <p:sp>
        <p:nvSpPr>
          <p:cNvPr id="29" name="Text 26"/>
          <p:cNvSpPr/>
          <p:nvPr/>
        </p:nvSpPr>
        <p:spPr>
          <a:xfrm>
            <a:off x="9442450" y="2919611"/>
            <a:ext cx="342900" cy="343396"/>
          </a:xfrm>
          <a:custGeom>
            <a:avLst/>
            <a:gdLst/>
            <a:ahLst/>
            <a:cxnLst/>
            <a:rect l="l" t="t" r="r" b="b"/>
            <a:pathLst>
              <a:path w="342900" h="343396">
                <a:moveTo>
                  <a:pt x="171450" y="0"/>
                </a:moveTo>
                <a:lnTo>
                  <a:pt x="171450" y="0"/>
                </a:lnTo>
                <a:arcTo hR="171450" wR="171450" stAng="16200000" swAng="5400000"/>
                <a:lnTo>
                  <a:pt x="342900" y="171946"/>
                </a:lnTo>
                <a:arcTo hR="171450" wR="171450" stAng="0" swAng="5400000"/>
                <a:lnTo>
                  <a:pt x="171450" y="343396"/>
                </a:lnTo>
                <a:arcTo hR="171450" wR="171450" stAng="5400000" swAng="5400000"/>
                <a:lnTo>
                  <a:pt x="0" y="171450"/>
                </a:lnTo>
                <a:arcTo hR="171450" wR="171450" stAng="10800000" swAng="5400000"/>
                <a:close/>
              </a:path>
            </a:pathLst>
          </a:custGeom>
          <a:solidFill>
            <a:srgbClr val="FDFDFF"/>
          </a:solidFill>
          <a:ln w="12700">
            <a:solidFill>
              <a:srgbClr val="5E54C4"/>
            </a:solidFill>
            <a:prstDash val="solid"/>
          </a:ln>
        </p:spPr>
        <p:txBody>
          <a:bodyPr wrap="square" lIns="0" tIns="6350" rIns="0" bIns="0" rtlCol="0" anchor="t">
            <a:normAutofit/>
          </a:bodyPr>
          <a:lstStyle/>
          <a:p>
            <a:pPr algn="ctr" indent="0" marL="0">
              <a:lnSpc>
                <a:spcPts val="2604"/>
              </a:lnSpc>
              <a:buNone/>
            </a:pPr>
            <a:r>
              <a:rPr lang="en-US" sz="1200" b="1" dirty="0">
                <a:solidFill>
                  <a:srgbClr val="1B1840"/>
                </a:solidFill>
                <a:latin typeface="Inter" pitchFamily="34" charset="0"/>
                <a:ea typeface="Inter" pitchFamily="34" charset="-122"/>
                <a:cs typeface="Inter" pitchFamily="34" charset="-120"/>
              </a:rPr>
              <a:t>C</a:t>
            </a:r>
            <a:endParaRPr lang="en-US" sz="1200" dirty="0"/>
          </a:p>
        </p:txBody>
      </p:sp>
      <p:sp>
        <p:nvSpPr>
          <p:cNvPr id="30" name="Text 27"/>
          <p:cNvSpPr/>
          <p:nvPr/>
        </p:nvSpPr>
        <p:spPr>
          <a:xfrm>
            <a:off x="10458450" y="2919611"/>
            <a:ext cx="342900" cy="343396"/>
          </a:xfrm>
          <a:custGeom>
            <a:avLst/>
            <a:gdLst/>
            <a:ahLst/>
            <a:cxnLst/>
            <a:rect l="l" t="t" r="r" b="b"/>
            <a:pathLst>
              <a:path w="342900" h="343396">
                <a:moveTo>
                  <a:pt x="171450" y="0"/>
                </a:moveTo>
                <a:lnTo>
                  <a:pt x="171450" y="0"/>
                </a:lnTo>
                <a:arcTo hR="171450" wR="171450" stAng="16200000" swAng="5400000"/>
                <a:lnTo>
                  <a:pt x="342900" y="171946"/>
                </a:lnTo>
                <a:arcTo hR="171450" wR="171450" stAng="0" swAng="5400000"/>
                <a:lnTo>
                  <a:pt x="171450" y="343396"/>
                </a:lnTo>
                <a:arcTo hR="171450" wR="171450" stAng="5400000" swAng="5400000"/>
                <a:lnTo>
                  <a:pt x="0" y="171450"/>
                </a:lnTo>
                <a:arcTo hR="171450" wR="171450" stAng="10800000" swAng="5400000"/>
                <a:close/>
              </a:path>
            </a:pathLst>
          </a:custGeom>
          <a:solidFill>
            <a:srgbClr val="FDFDFF"/>
          </a:solidFill>
          <a:ln w="12700">
            <a:solidFill>
              <a:srgbClr val="5E54C4"/>
            </a:solidFill>
            <a:prstDash val="solid"/>
          </a:ln>
        </p:spPr>
        <p:txBody>
          <a:bodyPr wrap="square" lIns="0" tIns="6350" rIns="0" bIns="0" rtlCol="0" anchor="t">
            <a:normAutofit/>
          </a:bodyPr>
          <a:lstStyle/>
          <a:p>
            <a:pPr algn="ctr" indent="0" marL="0">
              <a:lnSpc>
                <a:spcPts val="2604"/>
              </a:lnSpc>
              <a:buNone/>
            </a:pPr>
            <a:r>
              <a:rPr lang="en-US" sz="1200" b="1" dirty="0">
                <a:solidFill>
                  <a:srgbClr val="1B1840"/>
                </a:solidFill>
                <a:latin typeface="Inter" pitchFamily="34" charset="0"/>
                <a:ea typeface="Inter" pitchFamily="34" charset="-122"/>
                <a:cs typeface="Inter" pitchFamily="34" charset="-120"/>
              </a:rPr>
              <a:t>D</a:t>
            </a:r>
            <a:endParaRPr lang="en-US" sz="1200" dirty="0"/>
          </a:p>
        </p:txBody>
      </p:sp>
      <p:sp>
        <p:nvSpPr>
          <p:cNvPr id="31" name="Text 28"/>
          <p:cNvSpPr/>
          <p:nvPr/>
        </p:nvSpPr>
        <p:spPr>
          <a:xfrm>
            <a:off x="7137400" y="3560961"/>
            <a:ext cx="261620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B1840"/>
                </a:solidFill>
                <a:latin typeface="Inter" pitchFamily="34" charset="0"/>
                <a:ea typeface="Inter" pitchFamily="34" charset="-122"/>
                <a:cs typeface="Inter" pitchFamily="34" charset="-120"/>
              </a:rPr>
              <a:t>Conflict graph G²</a:t>
            </a:r>
            <a:endParaRPr lang="en-US" sz="1200" dirty="0"/>
          </a:p>
        </p:txBody>
      </p:sp>
      <p:sp>
        <p:nvSpPr>
          <p:cNvPr id="32" name="Text 29"/>
          <p:cNvSpPr/>
          <p:nvPr/>
        </p:nvSpPr>
        <p:spPr>
          <a:xfrm>
            <a:off x="7410450" y="3859411"/>
            <a:ext cx="342900" cy="343396"/>
          </a:xfrm>
          <a:custGeom>
            <a:avLst/>
            <a:gdLst/>
            <a:ahLst/>
            <a:cxnLst/>
            <a:rect l="l" t="t" r="r" b="b"/>
            <a:pathLst>
              <a:path w="342900" h="343396">
                <a:moveTo>
                  <a:pt x="171450" y="0"/>
                </a:moveTo>
                <a:lnTo>
                  <a:pt x="171450" y="0"/>
                </a:lnTo>
                <a:arcTo hR="171450" wR="171450" stAng="16200000" swAng="5400000"/>
                <a:lnTo>
                  <a:pt x="342900" y="171946"/>
                </a:lnTo>
                <a:arcTo hR="171450" wR="171450" stAng="0" swAng="5400000"/>
                <a:lnTo>
                  <a:pt x="171450" y="343396"/>
                </a:lnTo>
                <a:arcTo hR="171450" wR="171450" stAng="5400000" swAng="5400000"/>
                <a:lnTo>
                  <a:pt x="0" y="171450"/>
                </a:lnTo>
                <a:arcTo hR="171450" wR="171450" stAng="10800000" swAng="5400000"/>
                <a:close/>
              </a:path>
            </a:pathLst>
          </a:custGeom>
          <a:solidFill>
            <a:srgbClr val="5E54C4"/>
          </a:solidFill>
          <a:ln w="12700">
            <a:solidFill>
              <a:srgbClr val="5E54C4"/>
            </a:solidFill>
            <a:prstDash val="solid"/>
          </a:ln>
        </p:spPr>
        <p:txBody>
          <a:bodyPr wrap="square" lIns="0" tIns="6350" rIns="0" bIns="0" rtlCol="0" anchor="t">
            <a:normAutofit/>
          </a:bodyPr>
          <a:lstStyle/>
          <a:p>
            <a:pPr algn="ctr" indent="0" marL="0">
              <a:lnSpc>
                <a:spcPts val="2604"/>
              </a:lnSpc>
              <a:buNone/>
            </a:pPr>
            <a:r>
              <a:rPr lang="en-US" sz="1200" b="1" dirty="0">
                <a:solidFill>
                  <a:srgbClr val="FDFDFF"/>
                </a:solidFill>
                <a:latin typeface="Inter" pitchFamily="34" charset="0"/>
                <a:ea typeface="Inter" pitchFamily="34" charset="-122"/>
                <a:cs typeface="Inter" pitchFamily="34" charset="-120"/>
              </a:rPr>
              <a:t>A</a:t>
            </a:r>
            <a:endParaRPr lang="en-US" sz="1200" dirty="0"/>
          </a:p>
        </p:txBody>
      </p:sp>
      <p:sp>
        <p:nvSpPr>
          <p:cNvPr id="33" name="Text 30"/>
          <p:cNvSpPr/>
          <p:nvPr/>
        </p:nvSpPr>
        <p:spPr>
          <a:xfrm>
            <a:off x="8426450" y="3859411"/>
            <a:ext cx="342900" cy="343396"/>
          </a:xfrm>
          <a:custGeom>
            <a:avLst/>
            <a:gdLst/>
            <a:ahLst/>
            <a:cxnLst/>
            <a:rect l="l" t="t" r="r" b="b"/>
            <a:pathLst>
              <a:path w="342900" h="343396">
                <a:moveTo>
                  <a:pt x="171450" y="0"/>
                </a:moveTo>
                <a:lnTo>
                  <a:pt x="171450" y="0"/>
                </a:lnTo>
                <a:arcTo hR="171450" wR="171450" stAng="16200000" swAng="5400000"/>
                <a:lnTo>
                  <a:pt x="342900" y="171946"/>
                </a:lnTo>
                <a:arcTo hR="171450" wR="171450" stAng="0" swAng="5400000"/>
                <a:lnTo>
                  <a:pt x="171450" y="343396"/>
                </a:lnTo>
                <a:arcTo hR="171450" wR="171450" stAng="5400000" swAng="5400000"/>
                <a:lnTo>
                  <a:pt x="0" y="171450"/>
                </a:lnTo>
                <a:arcTo hR="171450" wR="171450" stAng="10800000" swAng="5400000"/>
                <a:close/>
              </a:path>
            </a:pathLst>
          </a:custGeom>
          <a:solidFill>
            <a:srgbClr val="5E54C4"/>
          </a:solidFill>
          <a:ln w="12700">
            <a:solidFill>
              <a:srgbClr val="5E54C4"/>
            </a:solidFill>
            <a:prstDash val="solid"/>
          </a:ln>
        </p:spPr>
        <p:txBody>
          <a:bodyPr wrap="square" lIns="0" tIns="6350" rIns="0" bIns="0" rtlCol="0" anchor="t">
            <a:normAutofit/>
          </a:bodyPr>
          <a:lstStyle/>
          <a:p>
            <a:pPr algn="ctr" indent="0" marL="0">
              <a:lnSpc>
                <a:spcPts val="2604"/>
              </a:lnSpc>
              <a:buNone/>
            </a:pPr>
            <a:r>
              <a:rPr lang="en-US" sz="1200" b="1" dirty="0">
                <a:solidFill>
                  <a:srgbClr val="FDFDFF"/>
                </a:solidFill>
                <a:latin typeface="Inter" pitchFamily="34" charset="0"/>
                <a:ea typeface="Inter" pitchFamily="34" charset="-122"/>
                <a:cs typeface="Inter" pitchFamily="34" charset="-120"/>
              </a:rPr>
              <a:t>B</a:t>
            </a:r>
            <a:endParaRPr lang="en-US" sz="1200" dirty="0"/>
          </a:p>
        </p:txBody>
      </p:sp>
      <p:sp>
        <p:nvSpPr>
          <p:cNvPr id="34" name="Text 31"/>
          <p:cNvSpPr/>
          <p:nvPr/>
        </p:nvSpPr>
        <p:spPr>
          <a:xfrm>
            <a:off x="9442450" y="3859411"/>
            <a:ext cx="342900" cy="343396"/>
          </a:xfrm>
          <a:custGeom>
            <a:avLst/>
            <a:gdLst/>
            <a:ahLst/>
            <a:cxnLst/>
            <a:rect l="l" t="t" r="r" b="b"/>
            <a:pathLst>
              <a:path w="342900" h="343396">
                <a:moveTo>
                  <a:pt x="171450" y="0"/>
                </a:moveTo>
                <a:lnTo>
                  <a:pt x="171450" y="0"/>
                </a:lnTo>
                <a:arcTo hR="171450" wR="171450" stAng="16200000" swAng="5400000"/>
                <a:lnTo>
                  <a:pt x="342900" y="171946"/>
                </a:lnTo>
                <a:arcTo hR="171450" wR="171450" stAng="0" swAng="5400000"/>
                <a:lnTo>
                  <a:pt x="171450" y="343396"/>
                </a:lnTo>
                <a:arcTo hR="171450" wR="171450" stAng="5400000" swAng="5400000"/>
                <a:lnTo>
                  <a:pt x="0" y="171450"/>
                </a:lnTo>
                <a:arcTo hR="171450" wR="171450" stAng="10800000" swAng="5400000"/>
                <a:close/>
              </a:path>
            </a:pathLst>
          </a:custGeom>
          <a:solidFill>
            <a:srgbClr val="5E54C4"/>
          </a:solidFill>
          <a:ln w="12700">
            <a:solidFill>
              <a:srgbClr val="5E54C4"/>
            </a:solidFill>
            <a:prstDash val="solid"/>
          </a:ln>
        </p:spPr>
        <p:txBody>
          <a:bodyPr wrap="square" lIns="0" tIns="6350" rIns="0" bIns="0" rtlCol="0" anchor="t">
            <a:normAutofit/>
          </a:bodyPr>
          <a:lstStyle/>
          <a:p>
            <a:pPr algn="ctr" indent="0" marL="0">
              <a:lnSpc>
                <a:spcPts val="2604"/>
              </a:lnSpc>
              <a:buNone/>
            </a:pPr>
            <a:r>
              <a:rPr lang="en-US" sz="1200" b="1" dirty="0">
                <a:solidFill>
                  <a:srgbClr val="FDFDFF"/>
                </a:solidFill>
                <a:latin typeface="Inter" pitchFamily="34" charset="0"/>
                <a:ea typeface="Inter" pitchFamily="34" charset="-122"/>
                <a:cs typeface="Inter" pitchFamily="34" charset="-120"/>
              </a:rPr>
              <a:t>C</a:t>
            </a:r>
            <a:endParaRPr lang="en-US" sz="1200" dirty="0"/>
          </a:p>
        </p:txBody>
      </p:sp>
      <p:sp>
        <p:nvSpPr>
          <p:cNvPr id="35" name="Text 32"/>
          <p:cNvSpPr/>
          <p:nvPr/>
        </p:nvSpPr>
        <p:spPr>
          <a:xfrm>
            <a:off x="10458450" y="3859411"/>
            <a:ext cx="342900" cy="343396"/>
          </a:xfrm>
          <a:custGeom>
            <a:avLst/>
            <a:gdLst/>
            <a:ahLst/>
            <a:cxnLst/>
            <a:rect l="l" t="t" r="r" b="b"/>
            <a:pathLst>
              <a:path w="342900" h="343396">
                <a:moveTo>
                  <a:pt x="171450" y="0"/>
                </a:moveTo>
                <a:lnTo>
                  <a:pt x="171450" y="0"/>
                </a:lnTo>
                <a:arcTo hR="171450" wR="171450" stAng="16200000" swAng="5400000"/>
                <a:lnTo>
                  <a:pt x="342900" y="171946"/>
                </a:lnTo>
                <a:arcTo hR="171450" wR="171450" stAng="0" swAng="5400000"/>
                <a:lnTo>
                  <a:pt x="171450" y="343396"/>
                </a:lnTo>
                <a:arcTo hR="171450" wR="171450" stAng="5400000" swAng="5400000"/>
                <a:lnTo>
                  <a:pt x="0" y="171450"/>
                </a:lnTo>
                <a:arcTo hR="171450" wR="171450" stAng="10800000" swAng="5400000"/>
                <a:close/>
              </a:path>
            </a:pathLst>
          </a:custGeom>
          <a:solidFill>
            <a:srgbClr val="5E54C4"/>
          </a:solidFill>
          <a:ln w="12700">
            <a:solidFill>
              <a:srgbClr val="5E54C4"/>
            </a:solidFill>
            <a:prstDash val="solid"/>
          </a:ln>
        </p:spPr>
        <p:txBody>
          <a:bodyPr wrap="square" lIns="0" tIns="6350" rIns="0" bIns="0" rtlCol="0" anchor="t">
            <a:normAutofit/>
          </a:bodyPr>
          <a:lstStyle/>
          <a:p>
            <a:pPr algn="ctr" indent="0" marL="0">
              <a:lnSpc>
                <a:spcPts val="2604"/>
              </a:lnSpc>
              <a:buNone/>
            </a:pPr>
            <a:r>
              <a:rPr lang="en-US" sz="1200" b="1" dirty="0">
                <a:solidFill>
                  <a:srgbClr val="FDFDFF"/>
                </a:solidFill>
                <a:latin typeface="Inter" pitchFamily="34" charset="0"/>
                <a:ea typeface="Inter" pitchFamily="34" charset="-122"/>
                <a:cs typeface="Inter" pitchFamily="34" charset="-120"/>
              </a:rPr>
              <a:t>D</a:t>
            </a:r>
            <a:endParaRPr lang="en-US" sz="1200" dirty="0"/>
          </a:p>
        </p:txBody>
      </p:sp>
      <p:sp>
        <p:nvSpPr>
          <p:cNvPr id="36" name="Text 33"/>
          <p:cNvSpPr/>
          <p:nvPr/>
        </p:nvSpPr>
        <p:spPr>
          <a:xfrm>
            <a:off x="7137400" y="4653161"/>
            <a:ext cx="405511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A–C and B–D are 2 hops apart, so G² joins them (dashed). Colour G² so joined radios differ, and each colour is a time slot.</a:t>
            </a:r>
            <a:endParaRPr lang="en-US" sz="1200" dirty="0"/>
          </a:p>
        </p:txBody>
      </p:sp>
      <p:pic>
        <p:nvPicPr>
          <p:cNvPr id="37" name="Image 1" descr="Vaan Megam Networks">    </p:cNvPr>
          <p:cNvPicPr>
            <a:picLocks noChangeAspect="1"/>
          </p:cNvPicPr>
          <p:nvPr/>
        </p:nvPicPr>
        <p:blipFill>
          <a:blip r:embed="rId2"/>
          <a:srcRect l="0" r="0" t="-56" b="-56"/>
          <a:stretch/>
        </p:blipFill>
        <p:spPr>
          <a:xfrm>
            <a:off x="914400" y="6273800"/>
            <a:ext cx="628650" cy="177800"/>
          </a:xfrm>
          <a:prstGeom prst="rect">
            <a:avLst/>
          </a:prstGeom>
        </p:spPr>
      </p:pic>
      <p:sp>
        <p:nvSpPr>
          <p:cNvPr id="38" name="Text 34"/>
          <p:cNvSpPr/>
          <p:nvPr/>
        </p:nvSpPr>
        <p:spPr>
          <a:xfrm>
            <a:off x="1670050" y="6276380"/>
            <a:ext cx="5232400" cy="200620"/>
          </a:xfrm>
          <a:prstGeom prst="rect">
            <a:avLst/>
          </a:prstGeom>
          <a:noFill/>
          <a:ln/>
        </p:spPr>
        <p:txBody>
          <a:bodyPr wrap="square" lIns="0" tIns="0" rIns="0" bIns="0" rtlCol="0" anchor="t">
            <a:normAutofit/>
          </a:bodyPr>
          <a:lstStyle/>
          <a:p>
            <a:pPr algn="l" indent="0" marL="0">
              <a:lnSpc>
                <a:spcPts val="1380"/>
              </a:lnSpc>
              <a:buNone/>
            </a:pPr>
            <a:r>
              <a:rPr lang="en-US" sz="1200" dirty="0">
                <a:solidFill>
                  <a:srgbClr val="6D6A8C"/>
                </a:solidFill>
                <a:latin typeface="Inter" pitchFamily="34" charset="0"/>
                <a:ea typeface="Inter" pitchFamily="34" charset="-122"/>
                <a:cs typeface="Inter" pitchFamily="34" charset="-120"/>
              </a:rPr>
              <a:t>TDMA Schedule Optimizer</a:t>
            </a:r>
            <a:endParaRPr lang="en-US" sz="1200" dirty="0"/>
          </a:p>
        </p:txBody>
      </p:sp>
      <p:sp>
        <p:nvSpPr>
          <p:cNvPr id="39" name="Text 35"/>
          <p:cNvSpPr/>
          <p:nvPr/>
        </p:nvSpPr>
        <p:spPr>
          <a:xfrm>
            <a:off x="10464800" y="6276380"/>
            <a:ext cx="812800" cy="200620"/>
          </a:xfrm>
          <a:prstGeom prst="rect">
            <a:avLst/>
          </a:prstGeom>
          <a:noFill/>
          <a:ln/>
        </p:spPr>
        <p:txBody>
          <a:bodyPr wrap="square" lIns="0" tIns="0" rIns="0" bIns="0" rtlCol="0" anchor="t">
            <a:normAutofit/>
          </a:bodyPr>
          <a:lstStyle/>
          <a:p>
            <a:pPr algn="r" indent="0" marL="0">
              <a:lnSpc>
                <a:spcPts val="1380"/>
              </a:lnSpc>
              <a:buNone/>
            </a:pPr>
            <a:r>
              <a:rPr lang="en-US" sz="1200" dirty="0">
                <a:solidFill>
                  <a:srgbClr val="6D6A8C"/>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E9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CE9FA"/>
              </a:gs>
              <a:gs pos="100000">
                <a:srgbClr val="E4F2FB"/>
              </a:gs>
            </a:gsLst>
            <a:lin ang="2700000" scaled="0"/>
          </a:gradFill>
          <a:ln/>
        </p:spPr>
      </p:sp>
      <p:sp>
        <p:nvSpPr>
          <p:cNvPr id="3" name="Shape 1"/>
          <p:cNvSpPr/>
          <p:nvPr/>
        </p:nvSpPr>
        <p:spPr>
          <a:xfrm>
            <a:off x="304800" y="304800"/>
            <a:ext cx="11582400" cy="6248400"/>
          </a:xfrm>
          <a:prstGeom prst="roundRect">
            <a:avLst>
              <a:gd name="adj" fmla="val 3659"/>
            </a:avLst>
          </a:prstGeom>
          <a:solidFill>
            <a:srgbClr val="FDFDFF"/>
          </a:solidFill>
          <a:ln/>
          <a:effectLst>
            <a:outerShdw sx="100000" sy="100000" kx="0" ky="0" algn="bl" rotWithShape="0" blurRad="355600" dist="101600" dir="5400000">
              <a:srgbClr val="281E6E">
                <a:alpha val="10000"/>
              </a:srgbClr>
            </a:outerShdw>
          </a:effectLst>
        </p:spPr>
      </p:sp>
      <p:sp>
        <p:nvSpPr>
          <p:cNvPr id="4" name="Text 2"/>
          <p:cNvSpPr/>
          <p:nvPr/>
        </p:nvSpPr>
        <p:spPr>
          <a:xfrm>
            <a:off x="914400" y="812800"/>
            <a:ext cx="10674096" cy="236934"/>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5E54C4"/>
                </a:solidFill>
                <a:latin typeface="Inter" pitchFamily="34" charset="0"/>
                <a:ea typeface="Inter" pitchFamily="34" charset="-122"/>
                <a:cs typeface="Inter" pitchFamily="34" charset="-120"/>
              </a:rPr>
              <a:t>PART 1 · HEURISTICS</a:t>
            </a:r>
            <a:endParaRPr lang="en-US" sz="1196" dirty="0"/>
          </a:p>
        </p:txBody>
      </p:sp>
      <p:sp>
        <p:nvSpPr>
          <p:cNvPr id="5" name="Text 3"/>
          <p:cNvSpPr/>
          <p:nvPr>
            <p:ph type="title"/>
          </p:nvPr>
        </p:nvSpPr>
        <p:spPr>
          <a:xfrm>
            <a:off x="914400" y="1100534"/>
            <a:ext cx="10674096" cy="468759"/>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40"/>
                </a:solidFill>
                <a:latin typeface="Plus Jakarta Sans" pitchFamily="34" charset="0"/>
                <a:ea typeface="Plus Jakarta Sans" pitchFamily="34" charset="-122"/>
                <a:cs typeface="Plus Jakarta Sans" pitchFamily="34" charset="-120"/>
              </a:rPr>
              <a:t>Visiting order decides the slot count</a:t>
            </a:r>
            <a:endParaRPr lang="en-US" sz="3200" dirty="0"/>
          </a:p>
        </p:txBody>
      </p:sp>
      <p:sp>
        <p:nvSpPr>
          <p:cNvPr id="6" name="Text 4"/>
          <p:cNvSpPr/>
          <p:nvPr/>
        </p:nvSpPr>
        <p:spPr>
          <a:xfrm>
            <a:off x="914400" y="1848693"/>
            <a:ext cx="4709160"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456A"/>
                </a:solidFill>
                <a:latin typeface="Inter" pitchFamily="34" charset="0"/>
                <a:ea typeface="Inter" pitchFamily="34" charset="-122"/>
                <a:cs typeface="Inter" pitchFamily="34" charset="-120"/>
              </a:rPr>
              <a:t>Greedy colouring never puts two conflicting radios in one slot. Only the order changes how many slots it needs, so the tool runs both and keeps the shorter frame.</a:t>
            </a:r>
            <a:endParaRPr lang="en-US" sz="1400" dirty="0"/>
          </a:p>
        </p:txBody>
      </p:sp>
      <p:sp>
        <p:nvSpPr>
          <p:cNvPr id="7" name="Shape 5"/>
          <p:cNvSpPr/>
          <p:nvPr/>
        </p:nvSpPr>
        <p:spPr>
          <a:xfrm>
            <a:off x="914400" y="2996654"/>
            <a:ext cx="4572000" cy="1346051"/>
          </a:xfrm>
          <a:prstGeom prst="roundRect">
            <a:avLst>
              <a:gd name="adj" fmla="val 11322"/>
            </a:avLst>
          </a:prstGeom>
          <a:solidFill>
            <a:srgbClr val="F4F3FB"/>
          </a:solidFill>
          <a:ln/>
        </p:spPr>
      </p:sp>
      <p:sp>
        <p:nvSpPr>
          <p:cNvPr id="8" name="Text 6"/>
          <p:cNvSpPr/>
          <p:nvPr/>
        </p:nvSpPr>
        <p:spPr>
          <a:xfrm>
            <a:off x="1117600" y="3199854"/>
            <a:ext cx="42905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DSATUR</a:t>
            </a:r>
            <a:endParaRPr lang="en-US" sz="1400" dirty="0"/>
          </a:p>
        </p:txBody>
      </p:sp>
      <p:sp>
        <p:nvSpPr>
          <p:cNvPr id="9" name="Text 7"/>
          <p:cNvSpPr/>
          <p:nvPr/>
        </p:nvSpPr>
        <p:spPr>
          <a:xfrm>
            <a:off x="1117600" y="3499545"/>
            <a:ext cx="429056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Next radio: the one whose conflicting neighbours already hold the most different slots. The order adapts as slots are handed out.</a:t>
            </a:r>
            <a:endParaRPr lang="en-US" sz="1200" dirty="0"/>
          </a:p>
        </p:txBody>
      </p:sp>
      <p:sp>
        <p:nvSpPr>
          <p:cNvPr id="10" name="Shape 8"/>
          <p:cNvSpPr/>
          <p:nvPr/>
        </p:nvSpPr>
        <p:spPr>
          <a:xfrm>
            <a:off x="914400" y="4495105"/>
            <a:ext cx="4572000" cy="1132731"/>
          </a:xfrm>
          <a:prstGeom prst="roundRect">
            <a:avLst>
              <a:gd name="adj" fmla="val 13454"/>
            </a:avLst>
          </a:prstGeom>
          <a:solidFill>
            <a:srgbClr val="F4F3FB"/>
          </a:solidFill>
          <a:ln/>
        </p:spPr>
      </p:sp>
      <p:sp>
        <p:nvSpPr>
          <p:cNvPr id="11" name="Text 9"/>
          <p:cNvSpPr/>
          <p:nvPr/>
        </p:nvSpPr>
        <p:spPr>
          <a:xfrm>
            <a:off x="1117600" y="4698305"/>
            <a:ext cx="42905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largest-first</a:t>
            </a:r>
            <a:endParaRPr lang="en-US" sz="1400" dirty="0"/>
          </a:p>
        </p:txBody>
      </p:sp>
      <p:sp>
        <p:nvSpPr>
          <p:cNvPr id="12" name="Text 10"/>
          <p:cNvSpPr/>
          <p:nvPr/>
        </p:nvSpPr>
        <p:spPr>
          <a:xfrm>
            <a:off x="1117600" y="4997996"/>
            <a:ext cx="429056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Visit radios by number of conflicts, highest first. The order is fixed before colouring starts.</a:t>
            </a:r>
            <a:endParaRPr lang="en-US" sz="1200" dirty="0"/>
          </a:p>
        </p:txBody>
      </p:sp>
      <p:sp>
        <p:nvSpPr>
          <p:cNvPr id="13" name="Shape 11"/>
          <p:cNvSpPr/>
          <p:nvPr/>
        </p:nvSpPr>
        <p:spPr>
          <a:xfrm>
            <a:off x="5791200" y="1848693"/>
            <a:ext cx="5486400" cy="3993307"/>
          </a:xfrm>
          <a:prstGeom prst="roundRect">
            <a:avLst>
              <a:gd name="adj" fmla="val 4452"/>
            </a:avLst>
          </a:prstGeom>
          <a:solidFill>
            <a:srgbClr val="F4F3FB"/>
          </a:solidFill>
          <a:ln/>
        </p:spPr>
      </p:sp>
      <p:sp>
        <p:nvSpPr>
          <p:cNvPr id="14" name="Text 12"/>
          <p:cNvSpPr/>
          <p:nvPr/>
        </p:nvSpPr>
        <p:spPr>
          <a:xfrm>
            <a:off x="6045200" y="2102693"/>
            <a:ext cx="5127752" cy="267494"/>
          </a:xfrm>
          <a:prstGeom prst="rect">
            <a:avLst/>
          </a:prstGeom>
          <a:noFill/>
          <a:ln/>
        </p:spPr>
        <p:txBody>
          <a:bodyPr wrap="square" lIns="0" tIns="0" rIns="0" bIns="0" rtlCol="0" anchor="t">
            <a:normAutofit/>
          </a:bodyPr>
          <a:lstStyle/>
          <a:p>
            <a:pPr algn="l" indent="0" marL="0">
              <a:lnSpc>
                <a:spcPts val="1923"/>
              </a:lnSpc>
              <a:buNone/>
            </a:pPr>
            <a:r>
              <a:rPr lang="en-US" sz="1374" b="1" dirty="0">
                <a:solidFill>
                  <a:srgbClr val="1B1840"/>
                </a:solidFill>
                <a:latin typeface="Inter" pitchFamily="34" charset="0"/>
                <a:ea typeface="Inter" pitchFamily="34" charset="-122"/>
                <a:cs typeface="Inter" pitchFamily="34" charset="-120"/>
              </a:rPr>
              <a:t>Layouts (of 500) where one heuristic won</a:t>
            </a:r>
            <a:endParaRPr lang="en-US" sz="1374" dirty="0"/>
          </a:p>
        </p:txBody>
      </p:sp>
      <p:sp>
        <p:nvSpPr>
          <p:cNvPr id="15" name="Shape 13"/>
          <p:cNvSpPr/>
          <p:nvPr/>
        </p:nvSpPr>
        <p:spPr>
          <a:xfrm>
            <a:off x="6045200" y="2499370"/>
            <a:ext cx="152400" cy="152400"/>
          </a:xfrm>
          <a:prstGeom prst="roundRect">
            <a:avLst>
              <a:gd name="adj" fmla="val 25000"/>
            </a:avLst>
          </a:prstGeom>
          <a:solidFill>
            <a:srgbClr val="5E54C4"/>
          </a:solidFill>
          <a:ln/>
        </p:spPr>
      </p:sp>
      <p:sp>
        <p:nvSpPr>
          <p:cNvPr id="16" name="Text 14"/>
          <p:cNvSpPr/>
          <p:nvPr/>
        </p:nvSpPr>
        <p:spPr>
          <a:xfrm>
            <a:off x="6273800" y="2468910"/>
            <a:ext cx="13721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DSATUR shorter</a:t>
            </a:r>
            <a:endParaRPr lang="en-US" sz="1200" dirty="0"/>
          </a:p>
        </p:txBody>
      </p:sp>
      <p:sp>
        <p:nvSpPr>
          <p:cNvPr id="17" name="Shape 15"/>
          <p:cNvSpPr/>
          <p:nvPr/>
        </p:nvSpPr>
        <p:spPr>
          <a:xfrm>
            <a:off x="7645995" y="2499370"/>
            <a:ext cx="152400" cy="152400"/>
          </a:xfrm>
          <a:prstGeom prst="roundRect">
            <a:avLst>
              <a:gd name="adj" fmla="val 25000"/>
            </a:avLst>
          </a:prstGeom>
          <a:solidFill>
            <a:srgbClr val="2BA5DC"/>
          </a:solidFill>
          <a:ln/>
        </p:spPr>
      </p:sp>
      <p:sp>
        <p:nvSpPr>
          <p:cNvPr id="18" name="Text 16"/>
          <p:cNvSpPr/>
          <p:nvPr/>
        </p:nvSpPr>
        <p:spPr>
          <a:xfrm>
            <a:off x="7874595" y="2468910"/>
            <a:ext cx="16766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largest-first shorter</a:t>
            </a:r>
            <a:endParaRPr lang="en-US" sz="1200" dirty="0"/>
          </a:p>
        </p:txBody>
      </p:sp>
      <p:sp>
        <p:nvSpPr>
          <p:cNvPr id="19" name="Shape 17"/>
          <p:cNvSpPr/>
          <p:nvPr/>
        </p:nvSpPr>
        <p:spPr>
          <a:xfrm>
            <a:off x="6045200" y="4705003"/>
            <a:ext cx="4978400" cy="0"/>
          </a:xfrm>
          <a:prstGeom prst="line">
            <a:avLst/>
          </a:prstGeom>
          <a:noFill/>
          <a:ln w="12700">
            <a:solidFill>
              <a:srgbClr val="CFCBE8"/>
            </a:solidFill>
            <a:prstDash val="solid"/>
          </a:ln>
        </p:spPr>
      </p:sp>
      <p:sp>
        <p:nvSpPr>
          <p:cNvPr id="20" name="Text 18"/>
          <p:cNvSpPr/>
          <p:nvPr/>
        </p:nvSpPr>
        <p:spPr>
          <a:xfrm>
            <a:off x="6533604" y="4402782"/>
            <a:ext cx="1491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1840"/>
                </a:solidFill>
                <a:latin typeface="Inter" pitchFamily="34" charset="0"/>
                <a:ea typeface="Inter" pitchFamily="34" charset="-122"/>
                <a:cs typeface="Inter" pitchFamily="34" charset="-120"/>
              </a:rPr>
              <a:t>3</a:t>
            </a:r>
            <a:endParaRPr lang="en-US" sz="1200" dirty="0"/>
          </a:p>
        </p:txBody>
      </p:sp>
      <p:sp>
        <p:nvSpPr>
          <p:cNvPr id="21" name="Shape 19"/>
          <p:cNvSpPr/>
          <p:nvPr/>
        </p:nvSpPr>
        <p:spPr>
          <a:xfrm>
            <a:off x="6379617" y="4666903"/>
            <a:ext cx="457200" cy="31750"/>
          </a:xfrm>
          <a:custGeom>
            <a:avLst/>
            <a:gdLst/>
            <a:ahLst/>
            <a:cxnLst/>
            <a:rect l="l" t="t" r="r" b="b"/>
            <a:pathLst>
              <a:path w="457200" h="31750">
                <a:moveTo>
                  <a:pt x="31750" y="0"/>
                </a:moveTo>
                <a:lnTo>
                  <a:pt x="425450" y="0"/>
                </a:lnTo>
                <a:arcTo hR="31750" wR="31750" stAng="16200000" swAng="5400000"/>
                <a:lnTo>
                  <a:pt x="457200" y="31750"/>
                </a:lnTo>
                <a:lnTo>
                  <a:pt x="0" y="31750"/>
                </a:lnTo>
                <a:lnTo>
                  <a:pt x="0" y="31750"/>
                </a:lnTo>
                <a:arcTo hR="31750" wR="31750" stAng="10800000" swAng="5400000"/>
                <a:close/>
              </a:path>
            </a:pathLst>
          </a:custGeom>
          <a:solidFill>
            <a:srgbClr val="5E54C4"/>
          </a:solidFill>
          <a:ln/>
        </p:spPr>
      </p:sp>
      <p:sp>
        <p:nvSpPr>
          <p:cNvPr id="22" name="Text 20"/>
          <p:cNvSpPr/>
          <p:nvPr/>
        </p:nvSpPr>
        <p:spPr>
          <a:xfrm>
            <a:off x="7064821" y="4421832"/>
            <a:ext cx="153541"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1840"/>
                </a:solidFill>
                <a:latin typeface="Inter" pitchFamily="34" charset="0"/>
                <a:ea typeface="Inter" pitchFamily="34" charset="-122"/>
                <a:cs typeface="Inter" pitchFamily="34" charset="-120"/>
              </a:rPr>
              <a:t>0</a:t>
            </a:r>
            <a:endParaRPr lang="en-US" sz="1200" dirty="0"/>
          </a:p>
        </p:txBody>
      </p:sp>
      <p:sp>
        <p:nvSpPr>
          <p:cNvPr id="23" name="Shape 21"/>
          <p:cNvSpPr/>
          <p:nvPr/>
        </p:nvSpPr>
        <p:spPr>
          <a:xfrm>
            <a:off x="6913017" y="4685953"/>
            <a:ext cx="457200" cy="12700"/>
          </a:xfrm>
          <a:prstGeom prst="rect">
            <a:avLst/>
          </a:prstGeom>
          <a:solidFill>
            <a:srgbClr val="CFCBE8"/>
          </a:solidFill>
          <a:ln/>
        </p:spPr>
      </p:sp>
      <p:sp>
        <p:nvSpPr>
          <p:cNvPr id="24" name="Text 22"/>
          <p:cNvSpPr/>
          <p:nvPr/>
        </p:nvSpPr>
        <p:spPr>
          <a:xfrm>
            <a:off x="8146901" y="4155132"/>
            <a:ext cx="24159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1840"/>
                </a:solidFill>
                <a:latin typeface="Inter" pitchFamily="34" charset="0"/>
                <a:ea typeface="Inter" pitchFamily="34" charset="-122"/>
                <a:cs typeface="Inter" pitchFamily="34" charset="-120"/>
              </a:rPr>
              <a:t>25</a:t>
            </a:r>
            <a:endParaRPr lang="en-US" sz="1200" dirty="0"/>
          </a:p>
        </p:txBody>
      </p:sp>
      <p:sp>
        <p:nvSpPr>
          <p:cNvPr id="25" name="Shape 23"/>
          <p:cNvSpPr/>
          <p:nvPr/>
        </p:nvSpPr>
        <p:spPr>
          <a:xfrm>
            <a:off x="8039100" y="4419253"/>
            <a:ext cx="457200" cy="279400"/>
          </a:xfrm>
          <a:custGeom>
            <a:avLst/>
            <a:gdLst/>
            <a:ahLst/>
            <a:cxnLst/>
            <a:rect l="l" t="t" r="r" b="b"/>
            <a:pathLst>
              <a:path w="457200" h="279400">
                <a:moveTo>
                  <a:pt x="50800" y="0"/>
                </a:moveTo>
                <a:lnTo>
                  <a:pt x="406400" y="0"/>
                </a:lnTo>
                <a:arcTo hR="50800" wR="50800" stAng="16200000" swAng="5400000"/>
                <a:lnTo>
                  <a:pt x="457200" y="279400"/>
                </a:lnTo>
                <a:lnTo>
                  <a:pt x="0" y="279400"/>
                </a:lnTo>
                <a:lnTo>
                  <a:pt x="0" y="50800"/>
                </a:lnTo>
                <a:arcTo hR="50800" wR="50800" stAng="10800000" swAng="5400000"/>
                <a:close/>
              </a:path>
            </a:pathLst>
          </a:custGeom>
          <a:solidFill>
            <a:srgbClr val="5E54C4"/>
          </a:solidFill>
          <a:ln/>
        </p:spPr>
      </p:sp>
      <p:sp>
        <p:nvSpPr>
          <p:cNvPr id="26" name="Text 24"/>
          <p:cNvSpPr/>
          <p:nvPr/>
        </p:nvSpPr>
        <p:spPr>
          <a:xfrm>
            <a:off x="8742809" y="4421832"/>
            <a:ext cx="116532"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1840"/>
                </a:solidFill>
                <a:latin typeface="Inter" pitchFamily="34" charset="0"/>
                <a:ea typeface="Inter" pitchFamily="34" charset="-122"/>
                <a:cs typeface="Inter" pitchFamily="34" charset="-120"/>
              </a:rPr>
              <a:t>1</a:t>
            </a:r>
            <a:endParaRPr lang="en-US" sz="1200" dirty="0"/>
          </a:p>
        </p:txBody>
      </p:sp>
      <p:sp>
        <p:nvSpPr>
          <p:cNvPr id="27" name="Shape 25"/>
          <p:cNvSpPr/>
          <p:nvPr/>
        </p:nvSpPr>
        <p:spPr>
          <a:xfrm>
            <a:off x="8572500" y="4685953"/>
            <a:ext cx="457200" cy="12700"/>
          </a:xfrm>
          <a:prstGeom prst="rect">
            <a:avLst/>
          </a:prstGeom>
          <a:solidFill>
            <a:srgbClr val="2BA5DC"/>
          </a:solidFill>
          <a:ln/>
        </p:spPr>
      </p:sp>
      <p:sp>
        <p:nvSpPr>
          <p:cNvPr id="28" name="Text 26"/>
          <p:cNvSpPr/>
          <p:nvPr/>
        </p:nvSpPr>
        <p:spPr>
          <a:xfrm>
            <a:off x="9768250" y="2847032"/>
            <a:ext cx="31771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1840"/>
                </a:solidFill>
                <a:latin typeface="Inter" pitchFamily="34" charset="0"/>
                <a:ea typeface="Inter" pitchFamily="34" charset="-122"/>
                <a:cs typeface="Inter" pitchFamily="34" charset="-120"/>
              </a:rPr>
              <a:t>142</a:t>
            </a:r>
            <a:endParaRPr lang="en-US" sz="1200" dirty="0"/>
          </a:p>
        </p:txBody>
      </p:sp>
      <p:sp>
        <p:nvSpPr>
          <p:cNvPr id="29" name="Shape 27"/>
          <p:cNvSpPr/>
          <p:nvPr/>
        </p:nvSpPr>
        <p:spPr>
          <a:xfrm>
            <a:off x="9698534" y="3111153"/>
            <a:ext cx="457200" cy="1587500"/>
          </a:xfrm>
          <a:custGeom>
            <a:avLst/>
            <a:gdLst/>
            <a:ahLst/>
            <a:cxnLst/>
            <a:rect l="l" t="t" r="r" b="b"/>
            <a:pathLst>
              <a:path w="457200" h="1587500">
                <a:moveTo>
                  <a:pt x="50800" y="0"/>
                </a:moveTo>
                <a:lnTo>
                  <a:pt x="406400" y="0"/>
                </a:lnTo>
                <a:arcTo hR="50800" wR="50800" stAng="16200000" swAng="5400000"/>
                <a:lnTo>
                  <a:pt x="457200" y="1587500"/>
                </a:lnTo>
                <a:lnTo>
                  <a:pt x="0" y="1587500"/>
                </a:lnTo>
                <a:lnTo>
                  <a:pt x="0" y="50800"/>
                </a:lnTo>
                <a:arcTo hR="50800" wR="50800" stAng="10800000" swAng="5400000"/>
                <a:close/>
              </a:path>
            </a:pathLst>
          </a:custGeom>
          <a:solidFill>
            <a:srgbClr val="5E54C4"/>
          </a:solidFill>
          <a:ln/>
        </p:spPr>
      </p:sp>
      <p:sp>
        <p:nvSpPr>
          <p:cNvPr id="30" name="Text 28"/>
          <p:cNvSpPr/>
          <p:nvPr/>
        </p:nvSpPr>
        <p:spPr>
          <a:xfrm>
            <a:off x="10357941" y="4244032"/>
            <a:ext cx="205184"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1840"/>
                </a:solidFill>
                <a:latin typeface="Inter" pitchFamily="34" charset="0"/>
                <a:ea typeface="Inter" pitchFamily="34" charset="-122"/>
                <a:cs typeface="Inter" pitchFamily="34" charset="-120"/>
              </a:rPr>
              <a:t>17</a:t>
            </a:r>
            <a:endParaRPr lang="en-US" sz="1200" dirty="0"/>
          </a:p>
        </p:txBody>
      </p:sp>
      <p:sp>
        <p:nvSpPr>
          <p:cNvPr id="31" name="Shape 29"/>
          <p:cNvSpPr/>
          <p:nvPr/>
        </p:nvSpPr>
        <p:spPr>
          <a:xfrm>
            <a:off x="10231934" y="4508153"/>
            <a:ext cx="457200" cy="190500"/>
          </a:xfrm>
          <a:custGeom>
            <a:avLst/>
            <a:gdLst/>
            <a:ahLst/>
            <a:cxnLst/>
            <a:rect l="l" t="t" r="r" b="b"/>
            <a:pathLst>
              <a:path w="457200" h="190500">
                <a:moveTo>
                  <a:pt x="50800" y="0"/>
                </a:moveTo>
                <a:lnTo>
                  <a:pt x="406400" y="0"/>
                </a:lnTo>
                <a:arcTo hR="50800" wR="50800" stAng="16200000" swAng="5400000"/>
                <a:lnTo>
                  <a:pt x="457200" y="190500"/>
                </a:lnTo>
                <a:lnTo>
                  <a:pt x="0" y="190500"/>
                </a:lnTo>
                <a:lnTo>
                  <a:pt x="0" y="50800"/>
                </a:lnTo>
                <a:arcTo hR="50800" wR="50800" stAng="10800000" swAng="5400000"/>
                <a:close/>
              </a:path>
            </a:pathLst>
          </a:custGeom>
          <a:solidFill>
            <a:srgbClr val="2BA5DC"/>
          </a:solidFill>
          <a:ln/>
        </p:spPr>
      </p:sp>
      <p:sp>
        <p:nvSpPr>
          <p:cNvPr id="32" name="Text 30"/>
          <p:cNvSpPr/>
          <p:nvPr/>
        </p:nvSpPr>
        <p:spPr>
          <a:xfrm>
            <a:off x="6354217" y="4838353"/>
            <a:ext cx="1041400" cy="232966"/>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456A"/>
                </a:solidFill>
                <a:latin typeface="Inter" pitchFamily="34" charset="0"/>
                <a:ea typeface="Inter" pitchFamily="34" charset="-122"/>
                <a:cs typeface="Inter" pitchFamily="34" charset="-120"/>
              </a:rPr>
              <a:t>16 radios</a:t>
            </a:r>
            <a:endParaRPr lang="en-US" sz="1200" dirty="0"/>
          </a:p>
        </p:txBody>
      </p:sp>
      <p:sp>
        <p:nvSpPr>
          <p:cNvPr id="33" name="Text 31"/>
          <p:cNvSpPr/>
          <p:nvPr/>
        </p:nvSpPr>
        <p:spPr>
          <a:xfrm>
            <a:off x="8013700" y="4838353"/>
            <a:ext cx="1041400" cy="232966"/>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456A"/>
                </a:solidFill>
                <a:latin typeface="Inter" pitchFamily="34" charset="0"/>
                <a:ea typeface="Inter" pitchFamily="34" charset="-122"/>
                <a:cs typeface="Inter" pitchFamily="34" charset="-120"/>
              </a:rPr>
              <a:t>30 radios</a:t>
            </a:r>
            <a:endParaRPr lang="en-US" sz="1200" dirty="0"/>
          </a:p>
        </p:txBody>
      </p:sp>
      <p:sp>
        <p:nvSpPr>
          <p:cNvPr id="34" name="Text 32"/>
          <p:cNvSpPr/>
          <p:nvPr/>
        </p:nvSpPr>
        <p:spPr>
          <a:xfrm>
            <a:off x="9673134" y="4838353"/>
            <a:ext cx="1041400" cy="232966"/>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456A"/>
                </a:solidFill>
                <a:latin typeface="Inter" pitchFamily="34" charset="0"/>
                <a:ea typeface="Inter" pitchFamily="34" charset="-122"/>
                <a:cs typeface="Inter" pitchFamily="34" charset="-120"/>
              </a:rPr>
              <a:t>60 radios</a:t>
            </a:r>
            <a:endParaRPr lang="en-US" sz="1200" dirty="0"/>
          </a:p>
        </p:txBody>
      </p:sp>
      <p:sp>
        <p:nvSpPr>
          <p:cNvPr id="35" name="Text 33"/>
          <p:cNvSpPr/>
          <p:nvPr/>
        </p:nvSpPr>
        <p:spPr>
          <a:xfrm>
            <a:off x="6045200" y="5172918"/>
            <a:ext cx="5127752" cy="440482"/>
          </a:xfrm>
          <a:prstGeom prst="rect">
            <a:avLst/>
          </a:prstGeom>
          <a:noFill/>
          <a:ln/>
        </p:spPr>
        <p:txBody>
          <a:bodyPr wrap="square" lIns="0" tIns="0" rIns="0" bIns="0" rtlCol="0" anchor="t">
            <a:normAutofit/>
          </a:bodyPr>
          <a:lstStyle/>
          <a:p>
            <a:pPr algn="l" indent="0" marL="0">
              <a:lnSpc>
                <a:spcPts val="1633"/>
              </a:lnSpc>
              <a:buNone/>
            </a:pPr>
            <a:r>
              <a:rPr lang="en-US" sz="1166" dirty="0">
                <a:solidFill>
                  <a:srgbClr val="6D6A8C"/>
                </a:solidFill>
                <a:latin typeface="Inter" pitchFamily="34" charset="0"/>
                <a:ea typeface="Inter" pitchFamily="34" charset="-122"/>
                <a:cs typeface="Inter" pitchFamily="34" charset="-120"/>
              </a:rPr>
              <a:t>Best result equals the lower bound in 349 to 481 of 500 layouts per size.</a:t>
            </a:r>
            <a:endParaRPr lang="en-US" sz="1166" dirty="0"/>
          </a:p>
        </p:txBody>
      </p:sp>
      <p:pic>
        <p:nvPicPr>
          <p:cNvPr id="36" name="Image 0" descr="Vaan Megam Networks">    </p:cNvPr>
          <p:cNvPicPr>
            <a:picLocks noChangeAspect="1"/>
          </p:cNvPicPr>
          <p:nvPr/>
        </p:nvPicPr>
        <p:blipFill>
          <a:blip r:embed="rId1"/>
          <a:srcRect l="0" r="0" t="-56" b="-56"/>
          <a:stretch/>
        </p:blipFill>
        <p:spPr>
          <a:xfrm>
            <a:off x="914400" y="6273800"/>
            <a:ext cx="628650" cy="177800"/>
          </a:xfrm>
          <a:prstGeom prst="rect">
            <a:avLst/>
          </a:prstGeom>
        </p:spPr>
      </p:pic>
      <p:sp>
        <p:nvSpPr>
          <p:cNvPr id="37" name="Text 34"/>
          <p:cNvSpPr/>
          <p:nvPr/>
        </p:nvSpPr>
        <p:spPr>
          <a:xfrm>
            <a:off x="1670050" y="6276380"/>
            <a:ext cx="5232400" cy="200620"/>
          </a:xfrm>
          <a:prstGeom prst="rect">
            <a:avLst/>
          </a:prstGeom>
          <a:noFill/>
          <a:ln/>
        </p:spPr>
        <p:txBody>
          <a:bodyPr wrap="square" lIns="0" tIns="0" rIns="0" bIns="0" rtlCol="0" anchor="t">
            <a:normAutofit/>
          </a:bodyPr>
          <a:lstStyle/>
          <a:p>
            <a:pPr algn="l" indent="0" marL="0">
              <a:lnSpc>
                <a:spcPts val="1380"/>
              </a:lnSpc>
              <a:buNone/>
            </a:pPr>
            <a:r>
              <a:rPr lang="en-US" sz="1200" dirty="0">
                <a:solidFill>
                  <a:srgbClr val="6D6A8C"/>
                </a:solidFill>
                <a:latin typeface="Inter" pitchFamily="34" charset="0"/>
                <a:ea typeface="Inter" pitchFamily="34" charset="-122"/>
                <a:cs typeface="Inter" pitchFamily="34" charset="-120"/>
              </a:rPr>
              <a:t>TDMA Schedule Optimizer</a:t>
            </a:r>
            <a:endParaRPr lang="en-US" sz="1200" dirty="0"/>
          </a:p>
        </p:txBody>
      </p:sp>
      <p:sp>
        <p:nvSpPr>
          <p:cNvPr id="38" name="Text 35"/>
          <p:cNvSpPr/>
          <p:nvPr/>
        </p:nvSpPr>
        <p:spPr>
          <a:xfrm>
            <a:off x="10464800" y="6276380"/>
            <a:ext cx="812800" cy="200620"/>
          </a:xfrm>
          <a:prstGeom prst="rect">
            <a:avLst/>
          </a:prstGeom>
          <a:noFill/>
          <a:ln/>
        </p:spPr>
        <p:txBody>
          <a:bodyPr wrap="square" lIns="0" tIns="0" rIns="0" bIns="0" rtlCol="0" anchor="t">
            <a:normAutofit/>
          </a:bodyPr>
          <a:lstStyle/>
          <a:p>
            <a:pPr algn="r" indent="0" marL="0">
              <a:lnSpc>
                <a:spcPts val="1380"/>
              </a:lnSpc>
              <a:buNone/>
            </a:pPr>
            <a:r>
              <a:rPr lang="en-US" sz="1200" dirty="0">
                <a:solidFill>
                  <a:srgbClr val="6D6A8C"/>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9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CE9FA"/>
              </a:gs>
              <a:gs pos="100000">
                <a:srgbClr val="E4F2FB"/>
              </a:gs>
            </a:gsLst>
            <a:lin ang="2700000" scaled="0"/>
          </a:gradFill>
          <a:ln/>
        </p:spPr>
      </p:sp>
      <p:sp>
        <p:nvSpPr>
          <p:cNvPr id="3" name="Shape 1"/>
          <p:cNvSpPr/>
          <p:nvPr/>
        </p:nvSpPr>
        <p:spPr>
          <a:xfrm>
            <a:off x="304800" y="304800"/>
            <a:ext cx="11582400" cy="6248400"/>
          </a:xfrm>
          <a:prstGeom prst="roundRect">
            <a:avLst>
              <a:gd name="adj" fmla="val 3659"/>
            </a:avLst>
          </a:prstGeom>
          <a:solidFill>
            <a:srgbClr val="FDFDFF"/>
          </a:solidFill>
          <a:ln/>
          <a:effectLst>
            <a:outerShdw sx="100000" sy="100000" kx="0" ky="0" algn="bl" rotWithShape="0" blurRad="355600" dist="101600" dir="5400000">
              <a:srgbClr val="281E6E">
                <a:alpha val="10000"/>
              </a:srgbClr>
            </a:outerShdw>
          </a:effectLst>
        </p:spPr>
      </p:sp>
      <p:sp>
        <p:nvSpPr>
          <p:cNvPr id="4" name="Text 2"/>
          <p:cNvSpPr/>
          <p:nvPr/>
        </p:nvSpPr>
        <p:spPr>
          <a:xfrm>
            <a:off x="914400" y="81280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54C4"/>
                </a:solidFill>
                <a:latin typeface="Inter" pitchFamily="34" charset="0"/>
                <a:ea typeface="Inter" pitchFamily="34" charset="-122"/>
                <a:cs typeface="Inter" pitchFamily="34" charset="-120"/>
              </a:rPr>
              <a:t>PART 1 · RESULT</a:t>
            </a:r>
            <a:endParaRPr lang="en-US" sz="1200" dirty="0"/>
          </a:p>
        </p:txBody>
      </p:sp>
      <p:sp>
        <p:nvSpPr>
          <p:cNvPr id="5" name="Text 3"/>
          <p:cNvSpPr/>
          <p:nvPr>
            <p:ph type="title"/>
          </p:nvPr>
        </p:nvSpPr>
        <p:spPr>
          <a:xfrm>
            <a:off x="914400" y="1102320"/>
            <a:ext cx="10674096" cy="47243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40"/>
                </a:solidFill>
                <a:latin typeface="Plus Jakarta Sans" pitchFamily="34" charset="0"/>
                <a:ea typeface="Plus Jakarta Sans" pitchFamily="34" charset="-122"/>
                <a:cs typeface="Plus Jakarta Sans" pitchFamily="34" charset="-120"/>
              </a:rPr>
              <a:t>9 slots for 16 radios, zero collisions</a:t>
            </a:r>
            <a:endParaRPr lang="en-US" sz="3200" dirty="0"/>
          </a:p>
        </p:txBody>
      </p:sp>
      <p:sp>
        <p:nvSpPr>
          <p:cNvPr id="6" name="Shape 4"/>
          <p:cNvSpPr/>
          <p:nvPr/>
        </p:nvSpPr>
        <p:spPr>
          <a:xfrm>
            <a:off x="914400" y="1854150"/>
            <a:ext cx="4826000" cy="3845520"/>
          </a:xfrm>
          <a:prstGeom prst="roundRect">
            <a:avLst>
              <a:gd name="adj" fmla="val 4624"/>
            </a:avLst>
          </a:prstGeom>
          <a:solidFill>
            <a:srgbClr val="F4F3FB"/>
          </a:solidFill>
          <a:ln/>
        </p:spPr>
      </p:sp>
      <p:pic>
        <p:nvPicPr>
          <p:cNvPr id="7" name="Image 0" descr="preencoded.png">    </p:cNvPr>
          <p:cNvPicPr>
            <a:picLocks noChangeAspect="1"/>
          </p:cNvPicPr>
          <p:nvPr/>
        </p:nvPicPr>
        <p:blipFill>
          <a:blip r:embed="rId1"/>
          <a:srcRect l="0" r="0" t="0" b="0"/>
          <a:stretch/>
        </p:blipFill>
        <p:spPr>
          <a:xfrm>
            <a:off x="1168400" y="2108150"/>
            <a:ext cx="4318000" cy="3022600"/>
          </a:xfrm>
          <a:prstGeom prst="rect">
            <a:avLst/>
          </a:prstGeom>
        </p:spPr>
      </p:pic>
      <p:sp>
        <p:nvSpPr>
          <p:cNvPr id="8" name="Text 5"/>
          <p:cNvSpPr/>
          <p:nvPr/>
        </p:nvSpPr>
        <p:spPr>
          <a:xfrm>
            <a:off x="1835150" y="2120850"/>
            <a:ext cx="508000" cy="508496"/>
          </a:xfrm>
          <a:custGeom>
            <a:avLst/>
            <a:gdLst/>
            <a:ahLst/>
            <a:cxnLst/>
            <a:rect l="l" t="t" r="r" b="b"/>
            <a:pathLst>
              <a:path w="508000" h="508496">
                <a:moveTo>
                  <a:pt x="254000" y="0"/>
                </a:moveTo>
                <a:lnTo>
                  <a:pt x="254000" y="0"/>
                </a:lnTo>
                <a:arcTo hR="254000" wR="254000" stAng="16200000" swAng="5400000"/>
                <a:lnTo>
                  <a:pt x="508000" y="254496"/>
                </a:lnTo>
                <a:arcTo hR="254000" wR="254000" stAng="0" swAng="5400000"/>
                <a:lnTo>
                  <a:pt x="254000" y="508496"/>
                </a:lnTo>
                <a:arcTo hR="254000" wR="254000" stAng="5400000" swAng="5400000"/>
                <a:lnTo>
                  <a:pt x="0" y="254000"/>
                </a:lnTo>
                <a:arcTo hR="254000" wR="254000" stAng="10800000" swAng="5400000"/>
                <a:close/>
              </a:path>
            </a:pathLst>
          </a:custGeom>
          <a:solidFill>
            <a:srgbClr val="5E54C4"/>
          </a:solidFill>
          <a:ln/>
        </p:spPr>
        <p:txBody>
          <a:bodyPr wrap="square" lIns="0" tIns="0" rIns="0" bIns="0" rtlCol="0" anchor="t">
            <a:normAutofit/>
          </a:bodyPr>
          <a:lstStyle/>
          <a:p>
            <a:pPr algn="ctr" indent="0" marL="0">
              <a:lnSpc>
                <a:spcPts val="4004"/>
              </a:lnSpc>
              <a:buNone/>
            </a:pPr>
            <a:r>
              <a:rPr lang="en-US" sz="1400" b="1" dirty="0">
                <a:solidFill>
                  <a:srgbClr val="FDFDFF"/>
                </a:solidFill>
                <a:latin typeface="Inter" pitchFamily="34" charset="0"/>
                <a:ea typeface="Inter" pitchFamily="34" charset="-122"/>
                <a:cs typeface="Inter" pitchFamily="34" charset="-120"/>
              </a:rPr>
              <a:t>0</a:t>
            </a:r>
            <a:endParaRPr lang="en-US" sz="1400" dirty="0"/>
          </a:p>
        </p:txBody>
      </p:sp>
      <p:sp>
        <p:nvSpPr>
          <p:cNvPr id="9" name="Text 6"/>
          <p:cNvSpPr/>
          <p:nvPr/>
        </p:nvSpPr>
        <p:spPr>
          <a:xfrm>
            <a:off x="2660650" y="2120850"/>
            <a:ext cx="508000" cy="508496"/>
          </a:xfrm>
          <a:custGeom>
            <a:avLst/>
            <a:gdLst/>
            <a:ahLst/>
            <a:cxnLst/>
            <a:rect l="l" t="t" r="r" b="b"/>
            <a:pathLst>
              <a:path w="508000" h="508496">
                <a:moveTo>
                  <a:pt x="254000" y="0"/>
                </a:moveTo>
                <a:lnTo>
                  <a:pt x="254000" y="0"/>
                </a:lnTo>
                <a:arcTo hR="254000" wR="254000" stAng="16200000" swAng="5400000"/>
                <a:lnTo>
                  <a:pt x="508000" y="254496"/>
                </a:lnTo>
                <a:arcTo hR="254000" wR="254000" stAng="0" swAng="5400000"/>
                <a:lnTo>
                  <a:pt x="254000" y="508496"/>
                </a:lnTo>
                <a:arcTo hR="254000" wR="254000" stAng="5400000" swAng="5400000"/>
                <a:lnTo>
                  <a:pt x="0" y="254000"/>
                </a:lnTo>
                <a:arcTo hR="254000" wR="254000" stAng="10800000" swAng="5400000"/>
                <a:close/>
              </a:path>
            </a:pathLst>
          </a:custGeom>
          <a:solidFill>
            <a:srgbClr val="5E54C4"/>
          </a:solidFill>
          <a:ln/>
        </p:spPr>
        <p:txBody>
          <a:bodyPr wrap="square" lIns="0" tIns="0" rIns="0" bIns="0" rtlCol="0" anchor="t">
            <a:normAutofit/>
          </a:bodyPr>
          <a:lstStyle/>
          <a:p>
            <a:pPr algn="ctr" indent="0" marL="0">
              <a:lnSpc>
                <a:spcPts val="4004"/>
              </a:lnSpc>
              <a:buNone/>
            </a:pPr>
            <a:r>
              <a:rPr lang="en-US" sz="1400" b="1" dirty="0">
                <a:solidFill>
                  <a:srgbClr val="FDFDFF"/>
                </a:solidFill>
                <a:latin typeface="Inter" pitchFamily="34" charset="0"/>
                <a:ea typeface="Inter" pitchFamily="34" charset="-122"/>
                <a:cs typeface="Inter" pitchFamily="34" charset="-120"/>
              </a:rPr>
              <a:t>1</a:t>
            </a:r>
            <a:endParaRPr lang="en-US" sz="1400" dirty="0"/>
          </a:p>
        </p:txBody>
      </p:sp>
      <p:sp>
        <p:nvSpPr>
          <p:cNvPr id="10" name="Text 7"/>
          <p:cNvSpPr/>
          <p:nvPr/>
        </p:nvSpPr>
        <p:spPr>
          <a:xfrm>
            <a:off x="3486150" y="2120850"/>
            <a:ext cx="508000" cy="508496"/>
          </a:xfrm>
          <a:custGeom>
            <a:avLst/>
            <a:gdLst/>
            <a:ahLst/>
            <a:cxnLst/>
            <a:rect l="l" t="t" r="r" b="b"/>
            <a:pathLst>
              <a:path w="508000" h="508496">
                <a:moveTo>
                  <a:pt x="254000" y="0"/>
                </a:moveTo>
                <a:lnTo>
                  <a:pt x="254000" y="0"/>
                </a:lnTo>
                <a:arcTo hR="254000" wR="254000" stAng="16200000" swAng="5400000"/>
                <a:lnTo>
                  <a:pt x="508000" y="254496"/>
                </a:lnTo>
                <a:arcTo hR="254000" wR="254000" stAng="0" swAng="5400000"/>
                <a:lnTo>
                  <a:pt x="254000" y="508496"/>
                </a:lnTo>
                <a:arcTo hR="254000" wR="254000" stAng="5400000" swAng="5400000"/>
                <a:lnTo>
                  <a:pt x="0" y="254000"/>
                </a:lnTo>
                <a:arcTo hR="254000" wR="254000" stAng="10800000" swAng="5400000"/>
                <a:close/>
              </a:path>
            </a:pathLst>
          </a:custGeom>
          <a:solidFill>
            <a:srgbClr val="5E54C4"/>
          </a:solidFill>
          <a:ln/>
        </p:spPr>
        <p:txBody>
          <a:bodyPr wrap="square" lIns="0" tIns="0" rIns="0" bIns="0" rtlCol="0" anchor="t">
            <a:normAutofit/>
          </a:bodyPr>
          <a:lstStyle/>
          <a:p>
            <a:pPr algn="ctr" indent="0" marL="0">
              <a:lnSpc>
                <a:spcPts val="4004"/>
              </a:lnSpc>
              <a:buNone/>
            </a:pPr>
            <a:r>
              <a:rPr lang="en-US" sz="1400" b="1" dirty="0">
                <a:solidFill>
                  <a:srgbClr val="FDFDFF"/>
                </a:solidFill>
                <a:latin typeface="Inter" pitchFamily="34" charset="0"/>
                <a:ea typeface="Inter" pitchFamily="34" charset="-122"/>
                <a:cs typeface="Inter" pitchFamily="34" charset="-120"/>
              </a:rPr>
              <a:t>2</a:t>
            </a:r>
            <a:endParaRPr lang="en-US" sz="1400" dirty="0"/>
          </a:p>
        </p:txBody>
      </p:sp>
      <p:sp>
        <p:nvSpPr>
          <p:cNvPr id="11" name="Text 8"/>
          <p:cNvSpPr/>
          <p:nvPr/>
        </p:nvSpPr>
        <p:spPr>
          <a:xfrm>
            <a:off x="4311650" y="2120850"/>
            <a:ext cx="508000" cy="508496"/>
          </a:xfrm>
          <a:custGeom>
            <a:avLst/>
            <a:gdLst/>
            <a:ahLst/>
            <a:cxnLst/>
            <a:rect l="l" t="t" r="r" b="b"/>
            <a:pathLst>
              <a:path w="508000" h="508496">
                <a:moveTo>
                  <a:pt x="254000" y="0"/>
                </a:moveTo>
                <a:lnTo>
                  <a:pt x="254000" y="0"/>
                </a:lnTo>
                <a:arcTo hR="254000" wR="254000" stAng="16200000" swAng="5400000"/>
                <a:lnTo>
                  <a:pt x="508000" y="254496"/>
                </a:lnTo>
                <a:arcTo hR="254000" wR="254000" stAng="0" swAng="5400000"/>
                <a:lnTo>
                  <a:pt x="254000" y="508496"/>
                </a:lnTo>
                <a:arcTo hR="254000" wR="254000" stAng="5400000" swAng="5400000"/>
                <a:lnTo>
                  <a:pt x="0" y="254000"/>
                </a:lnTo>
                <a:arcTo hR="254000" wR="254000" stAng="10800000" swAng="5400000"/>
                <a:close/>
              </a:path>
            </a:pathLst>
          </a:custGeom>
          <a:solidFill>
            <a:srgbClr val="5E54C4"/>
          </a:solidFill>
          <a:ln/>
        </p:spPr>
        <p:txBody>
          <a:bodyPr wrap="square" lIns="0" tIns="0" rIns="0" bIns="0" rtlCol="0" anchor="t">
            <a:normAutofit/>
          </a:bodyPr>
          <a:lstStyle/>
          <a:p>
            <a:pPr algn="ctr" indent="0" marL="0">
              <a:lnSpc>
                <a:spcPts val="4004"/>
              </a:lnSpc>
              <a:buNone/>
            </a:pPr>
            <a:r>
              <a:rPr lang="en-US" sz="1400" b="1" dirty="0">
                <a:solidFill>
                  <a:srgbClr val="FDFDFF"/>
                </a:solidFill>
                <a:latin typeface="Inter" pitchFamily="34" charset="0"/>
                <a:ea typeface="Inter" pitchFamily="34" charset="-122"/>
                <a:cs typeface="Inter" pitchFamily="34" charset="-120"/>
              </a:rPr>
              <a:t>0</a:t>
            </a:r>
            <a:endParaRPr lang="en-US" sz="1400" dirty="0"/>
          </a:p>
        </p:txBody>
      </p:sp>
      <p:sp>
        <p:nvSpPr>
          <p:cNvPr id="12" name="Text 9"/>
          <p:cNvSpPr/>
          <p:nvPr/>
        </p:nvSpPr>
        <p:spPr>
          <a:xfrm>
            <a:off x="1835150" y="2946350"/>
            <a:ext cx="508000" cy="508496"/>
          </a:xfrm>
          <a:custGeom>
            <a:avLst/>
            <a:gdLst/>
            <a:ahLst/>
            <a:cxnLst/>
            <a:rect l="l" t="t" r="r" b="b"/>
            <a:pathLst>
              <a:path w="508000" h="508496">
                <a:moveTo>
                  <a:pt x="254000" y="0"/>
                </a:moveTo>
                <a:lnTo>
                  <a:pt x="254000" y="0"/>
                </a:lnTo>
                <a:arcTo hR="254000" wR="254000" stAng="16200000" swAng="5400000"/>
                <a:lnTo>
                  <a:pt x="508000" y="254496"/>
                </a:lnTo>
                <a:arcTo hR="254000" wR="254000" stAng="0" swAng="5400000"/>
                <a:lnTo>
                  <a:pt x="254000" y="508496"/>
                </a:lnTo>
                <a:arcTo hR="254000" wR="254000" stAng="5400000" swAng="5400000"/>
                <a:lnTo>
                  <a:pt x="0" y="254000"/>
                </a:lnTo>
                <a:arcTo hR="254000" wR="254000" stAng="10800000" swAng="5400000"/>
                <a:close/>
              </a:path>
            </a:pathLst>
          </a:custGeom>
          <a:solidFill>
            <a:srgbClr val="5E54C4"/>
          </a:solidFill>
          <a:ln/>
        </p:spPr>
        <p:txBody>
          <a:bodyPr wrap="square" lIns="0" tIns="0" rIns="0" bIns="0" rtlCol="0" anchor="t">
            <a:normAutofit/>
          </a:bodyPr>
          <a:lstStyle/>
          <a:p>
            <a:pPr algn="ctr" indent="0" marL="0">
              <a:lnSpc>
                <a:spcPts val="4004"/>
              </a:lnSpc>
              <a:buNone/>
            </a:pPr>
            <a:r>
              <a:rPr lang="en-US" sz="1400" b="1" dirty="0">
                <a:solidFill>
                  <a:srgbClr val="FDFDFF"/>
                </a:solidFill>
                <a:latin typeface="Inter" pitchFamily="34" charset="0"/>
                <a:ea typeface="Inter" pitchFamily="34" charset="-122"/>
                <a:cs typeface="Inter" pitchFamily="34" charset="-120"/>
              </a:rPr>
              <a:t>3</a:t>
            </a:r>
            <a:endParaRPr lang="en-US" sz="1400" dirty="0"/>
          </a:p>
        </p:txBody>
      </p:sp>
      <p:sp>
        <p:nvSpPr>
          <p:cNvPr id="13" name="Text 10"/>
          <p:cNvSpPr/>
          <p:nvPr/>
        </p:nvSpPr>
        <p:spPr>
          <a:xfrm>
            <a:off x="2670175" y="2955875"/>
            <a:ext cx="488950" cy="488404"/>
          </a:xfrm>
          <a:custGeom>
            <a:avLst/>
            <a:gdLst/>
            <a:ahLst/>
            <a:cxnLst/>
            <a:rect l="l" t="t" r="r" b="b"/>
            <a:pathLst>
              <a:path w="488950" h="488404">
                <a:moveTo>
                  <a:pt x="244202" y="0"/>
                </a:moveTo>
                <a:lnTo>
                  <a:pt x="244748" y="0"/>
                </a:lnTo>
                <a:arcTo hR="244202" wR="244202" stAng="16200000" swAng="5400000"/>
                <a:lnTo>
                  <a:pt x="488950" y="244202"/>
                </a:lnTo>
                <a:arcTo hR="244202" wR="244202" stAng="0" swAng="5400000"/>
                <a:lnTo>
                  <a:pt x="244202" y="488404"/>
                </a:lnTo>
                <a:arcTo hR="244202" wR="244202" stAng="5400000" swAng="5400000"/>
                <a:lnTo>
                  <a:pt x="0" y="244202"/>
                </a:lnTo>
                <a:arcTo hR="244202" wR="244202" stAng="10800000" swAng="5400000"/>
                <a:close/>
              </a:path>
            </a:pathLst>
          </a:custGeom>
          <a:solidFill>
            <a:srgbClr val="FDFDFF"/>
          </a:solidFill>
          <a:ln w="19050">
            <a:solidFill>
              <a:srgbClr val="5E54C4"/>
            </a:solidFill>
            <a:prstDash val="solid"/>
          </a:ln>
        </p:spPr>
        <p:txBody>
          <a:bodyPr wrap="square" lIns="0" tIns="9525" rIns="0" bIns="0" rtlCol="0" anchor="t">
            <a:normAutofit/>
          </a:bodyPr>
          <a:lstStyle/>
          <a:p>
            <a:pPr algn="ctr" indent="0" marL="0">
              <a:lnSpc>
                <a:spcPts val="3696"/>
              </a:lnSpc>
              <a:buNone/>
            </a:pPr>
            <a:r>
              <a:rPr lang="en-US" sz="1400" b="1" dirty="0">
                <a:solidFill>
                  <a:srgbClr val="5E54C4"/>
                </a:solidFill>
                <a:latin typeface="Inter" pitchFamily="34" charset="0"/>
                <a:ea typeface="Inter" pitchFamily="34" charset="-122"/>
                <a:cs typeface="Inter" pitchFamily="34" charset="-120"/>
              </a:rPr>
              <a:t>4</a:t>
            </a:r>
            <a:endParaRPr lang="en-US" sz="1400" dirty="0"/>
          </a:p>
        </p:txBody>
      </p:sp>
      <p:sp>
        <p:nvSpPr>
          <p:cNvPr id="14" name="Text 11"/>
          <p:cNvSpPr/>
          <p:nvPr/>
        </p:nvSpPr>
        <p:spPr>
          <a:xfrm>
            <a:off x="3495675" y="2955875"/>
            <a:ext cx="488950" cy="488404"/>
          </a:xfrm>
          <a:custGeom>
            <a:avLst/>
            <a:gdLst/>
            <a:ahLst/>
            <a:cxnLst/>
            <a:rect l="l" t="t" r="r" b="b"/>
            <a:pathLst>
              <a:path w="488950" h="488404">
                <a:moveTo>
                  <a:pt x="244202" y="0"/>
                </a:moveTo>
                <a:lnTo>
                  <a:pt x="244748" y="0"/>
                </a:lnTo>
                <a:arcTo hR="244202" wR="244202" stAng="16200000" swAng="5400000"/>
                <a:lnTo>
                  <a:pt x="488950" y="244202"/>
                </a:lnTo>
                <a:arcTo hR="244202" wR="244202" stAng="0" swAng="5400000"/>
                <a:lnTo>
                  <a:pt x="244202" y="488404"/>
                </a:lnTo>
                <a:arcTo hR="244202" wR="244202" stAng="5400000" swAng="5400000"/>
                <a:lnTo>
                  <a:pt x="0" y="244202"/>
                </a:lnTo>
                <a:arcTo hR="244202" wR="244202" stAng="10800000" swAng="5400000"/>
                <a:close/>
              </a:path>
            </a:pathLst>
          </a:custGeom>
          <a:solidFill>
            <a:srgbClr val="FDFDFF"/>
          </a:solidFill>
          <a:ln w="19050">
            <a:solidFill>
              <a:srgbClr val="5E54C4"/>
            </a:solidFill>
            <a:prstDash val="solid"/>
          </a:ln>
        </p:spPr>
        <p:txBody>
          <a:bodyPr wrap="square" lIns="0" tIns="9525" rIns="0" bIns="0" rtlCol="0" anchor="t">
            <a:normAutofit/>
          </a:bodyPr>
          <a:lstStyle/>
          <a:p>
            <a:pPr algn="ctr" indent="0" marL="0">
              <a:lnSpc>
                <a:spcPts val="3696"/>
              </a:lnSpc>
              <a:buNone/>
            </a:pPr>
            <a:r>
              <a:rPr lang="en-US" sz="1400" b="1" dirty="0">
                <a:solidFill>
                  <a:srgbClr val="5E54C4"/>
                </a:solidFill>
                <a:latin typeface="Inter" pitchFamily="34" charset="0"/>
                <a:ea typeface="Inter" pitchFamily="34" charset="-122"/>
                <a:cs typeface="Inter" pitchFamily="34" charset="-120"/>
              </a:rPr>
              <a:t>5</a:t>
            </a:r>
            <a:endParaRPr lang="en-US" sz="1400" dirty="0"/>
          </a:p>
        </p:txBody>
      </p:sp>
      <p:sp>
        <p:nvSpPr>
          <p:cNvPr id="15" name="Text 12"/>
          <p:cNvSpPr/>
          <p:nvPr/>
        </p:nvSpPr>
        <p:spPr>
          <a:xfrm>
            <a:off x="4311650" y="2946350"/>
            <a:ext cx="508000" cy="508496"/>
          </a:xfrm>
          <a:custGeom>
            <a:avLst/>
            <a:gdLst/>
            <a:ahLst/>
            <a:cxnLst/>
            <a:rect l="l" t="t" r="r" b="b"/>
            <a:pathLst>
              <a:path w="508000" h="508496">
                <a:moveTo>
                  <a:pt x="254000" y="0"/>
                </a:moveTo>
                <a:lnTo>
                  <a:pt x="254000" y="0"/>
                </a:lnTo>
                <a:arcTo hR="254000" wR="254000" stAng="16200000" swAng="5400000"/>
                <a:lnTo>
                  <a:pt x="508000" y="254496"/>
                </a:lnTo>
                <a:arcTo hR="254000" wR="254000" stAng="0" swAng="5400000"/>
                <a:lnTo>
                  <a:pt x="254000" y="508496"/>
                </a:lnTo>
                <a:arcTo hR="254000" wR="254000" stAng="5400000" swAng="5400000"/>
                <a:lnTo>
                  <a:pt x="0" y="254000"/>
                </a:lnTo>
                <a:arcTo hR="254000" wR="254000" stAng="10800000" swAng="5400000"/>
                <a:close/>
              </a:path>
            </a:pathLst>
          </a:custGeom>
          <a:solidFill>
            <a:srgbClr val="5E54C4"/>
          </a:solidFill>
          <a:ln/>
        </p:spPr>
        <p:txBody>
          <a:bodyPr wrap="square" lIns="0" tIns="0" rIns="0" bIns="0" rtlCol="0" anchor="t">
            <a:normAutofit/>
          </a:bodyPr>
          <a:lstStyle/>
          <a:p>
            <a:pPr algn="ctr" indent="0" marL="0">
              <a:lnSpc>
                <a:spcPts val="4004"/>
              </a:lnSpc>
              <a:buNone/>
            </a:pPr>
            <a:r>
              <a:rPr lang="en-US" sz="1400" b="1" dirty="0">
                <a:solidFill>
                  <a:srgbClr val="FDFDFF"/>
                </a:solidFill>
                <a:latin typeface="Inter" pitchFamily="34" charset="0"/>
                <a:ea typeface="Inter" pitchFamily="34" charset="-122"/>
                <a:cs typeface="Inter" pitchFamily="34" charset="-120"/>
              </a:rPr>
              <a:t>3</a:t>
            </a:r>
            <a:endParaRPr lang="en-US" sz="1400" dirty="0"/>
          </a:p>
        </p:txBody>
      </p:sp>
      <p:sp>
        <p:nvSpPr>
          <p:cNvPr id="16" name="Text 13"/>
          <p:cNvSpPr/>
          <p:nvPr/>
        </p:nvSpPr>
        <p:spPr>
          <a:xfrm>
            <a:off x="1835150" y="3771850"/>
            <a:ext cx="508000" cy="508496"/>
          </a:xfrm>
          <a:custGeom>
            <a:avLst/>
            <a:gdLst/>
            <a:ahLst/>
            <a:cxnLst/>
            <a:rect l="l" t="t" r="r" b="b"/>
            <a:pathLst>
              <a:path w="508000" h="508496">
                <a:moveTo>
                  <a:pt x="254000" y="0"/>
                </a:moveTo>
                <a:lnTo>
                  <a:pt x="254000" y="0"/>
                </a:lnTo>
                <a:arcTo hR="254000" wR="254000" stAng="16200000" swAng="5400000"/>
                <a:lnTo>
                  <a:pt x="508000" y="254496"/>
                </a:lnTo>
                <a:arcTo hR="254000" wR="254000" stAng="0" swAng="5400000"/>
                <a:lnTo>
                  <a:pt x="254000" y="508496"/>
                </a:lnTo>
                <a:arcTo hR="254000" wR="254000" stAng="5400000" swAng="5400000"/>
                <a:lnTo>
                  <a:pt x="0" y="254000"/>
                </a:lnTo>
                <a:arcTo hR="254000" wR="254000" stAng="10800000" swAng="5400000"/>
                <a:close/>
              </a:path>
            </a:pathLst>
          </a:custGeom>
          <a:solidFill>
            <a:srgbClr val="5E54C4"/>
          </a:solidFill>
          <a:ln/>
        </p:spPr>
        <p:txBody>
          <a:bodyPr wrap="square" lIns="0" tIns="0" rIns="0" bIns="0" rtlCol="0" anchor="t">
            <a:normAutofit/>
          </a:bodyPr>
          <a:lstStyle/>
          <a:p>
            <a:pPr algn="ctr" indent="0" marL="0">
              <a:lnSpc>
                <a:spcPts val="4004"/>
              </a:lnSpc>
              <a:buNone/>
            </a:pPr>
            <a:r>
              <a:rPr lang="en-US" sz="1400" b="1" dirty="0">
                <a:solidFill>
                  <a:srgbClr val="FDFDFF"/>
                </a:solidFill>
                <a:latin typeface="Inter" pitchFamily="34" charset="0"/>
                <a:ea typeface="Inter" pitchFamily="34" charset="-122"/>
                <a:cs typeface="Inter" pitchFamily="34" charset="-120"/>
              </a:rPr>
              <a:t>6</a:t>
            </a:r>
            <a:endParaRPr lang="en-US" sz="1400" dirty="0"/>
          </a:p>
        </p:txBody>
      </p:sp>
      <p:sp>
        <p:nvSpPr>
          <p:cNvPr id="17" name="Text 14"/>
          <p:cNvSpPr/>
          <p:nvPr/>
        </p:nvSpPr>
        <p:spPr>
          <a:xfrm>
            <a:off x="2670175" y="3781375"/>
            <a:ext cx="488950" cy="488404"/>
          </a:xfrm>
          <a:custGeom>
            <a:avLst/>
            <a:gdLst/>
            <a:ahLst/>
            <a:cxnLst/>
            <a:rect l="l" t="t" r="r" b="b"/>
            <a:pathLst>
              <a:path w="488950" h="488404">
                <a:moveTo>
                  <a:pt x="244202" y="0"/>
                </a:moveTo>
                <a:lnTo>
                  <a:pt x="244748" y="0"/>
                </a:lnTo>
                <a:arcTo hR="244202" wR="244202" stAng="16200000" swAng="5400000"/>
                <a:lnTo>
                  <a:pt x="488950" y="244202"/>
                </a:lnTo>
                <a:arcTo hR="244202" wR="244202" stAng="0" swAng="5400000"/>
                <a:lnTo>
                  <a:pt x="244202" y="488404"/>
                </a:lnTo>
                <a:arcTo hR="244202" wR="244202" stAng="5400000" swAng="5400000"/>
                <a:lnTo>
                  <a:pt x="0" y="244202"/>
                </a:lnTo>
                <a:arcTo hR="244202" wR="244202" stAng="10800000" swAng="5400000"/>
                <a:close/>
              </a:path>
            </a:pathLst>
          </a:custGeom>
          <a:solidFill>
            <a:srgbClr val="FDFDFF"/>
          </a:solidFill>
          <a:ln w="19050">
            <a:solidFill>
              <a:srgbClr val="5E54C4"/>
            </a:solidFill>
            <a:prstDash val="solid"/>
          </a:ln>
        </p:spPr>
        <p:txBody>
          <a:bodyPr wrap="square" lIns="0" tIns="9525" rIns="0" bIns="0" rtlCol="0" anchor="t">
            <a:normAutofit/>
          </a:bodyPr>
          <a:lstStyle/>
          <a:p>
            <a:pPr algn="ctr" indent="0" marL="0">
              <a:lnSpc>
                <a:spcPts val="3696"/>
              </a:lnSpc>
              <a:buNone/>
            </a:pPr>
            <a:r>
              <a:rPr lang="en-US" sz="1400" b="1" dirty="0">
                <a:solidFill>
                  <a:srgbClr val="5E54C4"/>
                </a:solidFill>
                <a:latin typeface="Inter" pitchFamily="34" charset="0"/>
                <a:ea typeface="Inter" pitchFamily="34" charset="-122"/>
                <a:cs typeface="Inter" pitchFamily="34" charset="-120"/>
              </a:rPr>
              <a:t>7</a:t>
            </a:r>
            <a:endParaRPr lang="en-US" sz="1400" dirty="0"/>
          </a:p>
        </p:txBody>
      </p:sp>
      <p:sp>
        <p:nvSpPr>
          <p:cNvPr id="18" name="Text 15"/>
          <p:cNvSpPr/>
          <p:nvPr/>
        </p:nvSpPr>
        <p:spPr>
          <a:xfrm>
            <a:off x="3495675" y="3781375"/>
            <a:ext cx="488950" cy="488404"/>
          </a:xfrm>
          <a:custGeom>
            <a:avLst/>
            <a:gdLst/>
            <a:ahLst/>
            <a:cxnLst/>
            <a:rect l="l" t="t" r="r" b="b"/>
            <a:pathLst>
              <a:path w="488950" h="488404">
                <a:moveTo>
                  <a:pt x="244202" y="0"/>
                </a:moveTo>
                <a:lnTo>
                  <a:pt x="244748" y="0"/>
                </a:lnTo>
                <a:arcTo hR="244202" wR="244202" stAng="16200000" swAng="5400000"/>
                <a:lnTo>
                  <a:pt x="488950" y="244202"/>
                </a:lnTo>
                <a:arcTo hR="244202" wR="244202" stAng="0" swAng="5400000"/>
                <a:lnTo>
                  <a:pt x="244202" y="488404"/>
                </a:lnTo>
                <a:arcTo hR="244202" wR="244202" stAng="5400000" swAng="5400000"/>
                <a:lnTo>
                  <a:pt x="0" y="244202"/>
                </a:lnTo>
                <a:arcTo hR="244202" wR="244202" stAng="10800000" swAng="5400000"/>
                <a:close/>
              </a:path>
            </a:pathLst>
          </a:custGeom>
          <a:solidFill>
            <a:srgbClr val="FDFDFF"/>
          </a:solidFill>
          <a:ln w="19050">
            <a:solidFill>
              <a:srgbClr val="5E54C4"/>
            </a:solidFill>
            <a:prstDash val="solid"/>
          </a:ln>
        </p:spPr>
        <p:txBody>
          <a:bodyPr wrap="square" lIns="0" tIns="9525" rIns="0" bIns="0" rtlCol="0" anchor="t">
            <a:normAutofit/>
          </a:bodyPr>
          <a:lstStyle/>
          <a:p>
            <a:pPr algn="ctr" indent="0" marL="0">
              <a:lnSpc>
                <a:spcPts val="3696"/>
              </a:lnSpc>
              <a:buNone/>
            </a:pPr>
            <a:r>
              <a:rPr lang="en-US" sz="1400" b="1" dirty="0">
                <a:solidFill>
                  <a:srgbClr val="5E54C4"/>
                </a:solidFill>
                <a:latin typeface="Inter" pitchFamily="34" charset="0"/>
                <a:ea typeface="Inter" pitchFamily="34" charset="-122"/>
                <a:cs typeface="Inter" pitchFamily="34" charset="-120"/>
              </a:rPr>
              <a:t>8</a:t>
            </a:r>
            <a:endParaRPr lang="en-US" sz="1400" dirty="0"/>
          </a:p>
        </p:txBody>
      </p:sp>
      <p:sp>
        <p:nvSpPr>
          <p:cNvPr id="19" name="Text 16"/>
          <p:cNvSpPr/>
          <p:nvPr/>
        </p:nvSpPr>
        <p:spPr>
          <a:xfrm>
            <a:off x="4311650" y="3771850"/>
            <a:ext cx="508000" cy="508496"/>
          </a:xfrm>
          <a:custGeom>
            <a:avLst/>
            <a:gdLst/>
            <a:ahLst/>
            <a:cxnLst/>
            <a:rect l="l" t="t" r="r" b="b"/>
            <a:pathLst>
              <a:path w="508000" h="508496">
                <a:moveTo>
                  <a:pt x="254000" y="0"/>
                </a:moveTo>
                <a:lnTo>
                  <a:pt x="254000" y="0"/>
                </a:lnTo>
                <a:arcTo hR="254000" wR="254000" stAng="16200000" swAng="5400000"/>
                <a:lnTo>
                  <a:pt x="508000" y="254496"/>
                </a:lnTo>
                <a:arcTo hR="254000" wR="254000" stAng="0" swAng="5400000"/>
                <a:lnTo>
                  <a:pt x="254000" y="508496"/>
                </a:lnTo>
                <a:arcTo hR="254000" wR="254000" stAng="5400000" swAng="5400000"/>
                <a:lnTo>
                  <a:pt x="0" y="254000"/>
                </a:lnTo>
                <a:arcTo hR="254000" wR="254000" stAng="10800000" swAng="5400000"/>
                <a:close/>
              </a:path>
            </a:pathLst>
          </a:custGeom>
          <a:solidFill>
            <a:srgbClr val="5E54C4"/>
          </a:solidFill>
          <a:ln/>
        </p:spPr>
        <p:txBody>
          <a:bodyPr wrap="square" lIns="0" tIns="0" rIns="0" bIns="0" rtlCol="0" anchor="t">
            <a:normAutofit/>
          </a:bodyPr>
          <a:lstStyle/>
          <a:p>
            <a:pPr algn="ctr" indent="0" marL="0">
              <a:lnSpc>
                <a:spcPts val="4004"/>
              </a:lnSpc>
              <a:buNone/>
            </a:pPr>
            <a:r>
              <a:rPr lang="en-US" sz="1400" b="1" dirty="0">
                <a:solidFill>
                  <a:srgbClr val="FDFDFF"/>
                </a:solidFill>
                <a:latin typeface="Inter" pitchFamily="34" charset="0"/>
                <a:ea typeface="Inter" pitchFamily="34" charset="-122"/>
                <a:cs typeface="Inter" pitchFamily="34" charset="-120"/>
              </a:rPr>
              <a:t>6</a:t>
            </a:r>
            <a:endParaRPr lang="en-US" sz="1400" dirty="0"/>
          </a:p>
        </p:txBody>
      </p:sp>
      <p:sp>
        <p:nvSpPr>
          <p:cNvPr id="20" name="Text 17"/>
          <p:cNvSpPr/>
          <p:nvPr/>
        </p:nvSpPr>
        <p:spPr>
          <a:xfrm>
            <a:off x="1835150" y="4597350"/>
            <a:ext cx="508000" cy="508496"/>
          </a:xfrm>
          <a:custGeom>
            <a:avLst/>
            <a:gdLst/>
            <a:ahLst/>
            <a:cxnLst/>
            <a:rect l="l" t="t" r="r" b="b"/>
            <a:pathLst>
              <a:path w="508000" h="508496">
                <a:moveTo>
                  <a:pt x="254000" y="0"/>
                </a:moveTo>
                <a:lnTo>
                  <a:pt x="254000" y="0"/>
                </a:lnTo>
                <a:arcTo hR="254000" wR="254000" stAng="16200000" swAng="5400000"/>
                <a:lnTo>
                  <a:pt x="508000" y="254496"/>
                </a:lnTo>
                <a:arcTo hR="254000" wR="254000" stAng="0" swAng="5400000"/>
                <a:lnTo>
                  <a:pt x="254000" y="508496"/>
                </a:lnTo>
                <a:arcTo hR="254000" wR="254000" stAng="5400000" swAng="5400000"/>
                <a:lnTo>
                  <a:pt x="0" y="254000"/>
                </a:lnTo>
                <a:arcTo hR="254000" wR="254000" stAng="10800000" swAng="5400000"/>
                <a:close/>
              </a:path>
            </a:pathLst>
          </a:custGeom>
          <a:solidFill>
            <a:srgbClr val="5E54C4"/>
          </a:solidFill>
          <a:ln/>
        </p:spPr>
        <p:txBody>
          <a:bodyPr wrap="square" lIns="0" tIns="0" rIns="0" bIns="0" rtlCol="0" anchor="t">
            <a:normAutofit/>
          </a:bodyPr>
          <a:lstStyle/>
          <a:p>
            <a:pPr algn="ctr" indent="0" marL="0">
              <a:lnSpc>
                <a:spcPts val="4004"/>
              </a:lnSpc>
              <a:buNone/>
            </a:pPr>
            <a:r>
              <a:rPr lang="en-US" sz="1400" b="1" dirty="0">
                <a:solidFill>
                  <a:srgbClr val="FDFDFF"/>
                </a:solidFill>
                <a:latin typeface="Inter" pitchFamily="34" charset="0"/>
                <a:ea typeface="Inter" pitchFamily="34" charset="-122"/>
                <a:cs typeface="Inter" pitchFamily="34" charset="-120"/>
              </a:rPr>
              <a:t>0</a:t>
            </a:r>
            <a:endParaRPr lang="en-US" sz="1400" dirty="0"/>
          </a:p>
        </p:txBody>
      </p:sp>
      <p:sp>
        <p:nvSpPr>
          <p:cNvPr id="21" name="Text 18"/>
          <p:cNvSpPr/>
          <p:nvPr/>
        </p:nvSpPr>
        <p:spPr>
          <a:xfrm>
            <a:off x="2660650" y="4597350"/>
            <a:ext cx="508000" cy="508496"/>
          </a:xfrm>
          <a:custGeom>
            <a:avLst/>
            <a:gdLst/>
            <a:ahLst/>
            <a:cxnLst/>
            <a:rect l="l" t="t" r="r" b="b"/>
            <a:pathLst>
              <a:path w="508000" h="508496">
                <a:moveTo>
                  <a:pt x="254000" y="0"/>
                </a:moveTo>
                <a:lnTo>
                  <a:pt x="254000" y="0"/>
                </a:lnTo>
                <a:arcTo hR="254000" wR="254000" stAng="16200000" swAng="5400000"/>
                <a:lnTo>
                  <a:pt x="508000" y="254496"/>
                </a:lnTo>
                <a:arcTo hR="254000" wR="254000" stAng="0" swAng="5400000"/>
                <a:lnTo>
                  <a:pt x="254000" y="508496"/>
                </a:lnTo>
                <a:arcTo hR="254000" wR="254000" stAng="5400000" swAng="5400000"/>
                <a:lnTo>
                  <a:pt x="0" y="254000"/>
                </a:lnTo>
                <a:arcTo hR="254000" wR="254000" stAng="10800000" swAng="5400000"/>
                <a:close/>
              </a:path>
            </a:pathLst>
          </a:custGeom>
          <a:solidFill>
            <a:srgbClr val="5E54C4"/>
          </a:solidFill>
          <a:ln/>
        </p:spPr>
        <p:txBody>
          <a:bodyPr wrap="square" lIns="0" tIns="0" rIns="0" bIns="0" rtlCol="0" anchor="t">
            <a:normAutofit/>
          </a:bodyPr>
          <a:lstStyle/>
          <a:p>
            <a:pPr algn="ctr" indent="0" marL="0">
              <a:lnSpc>
                <a:spcPts val="4004"/>
              </a:lnSpc>
              <a:buNone/>
            </a:pPr>
            <a:r>
              <a:rPr lang="en-US" sz="1400" b="1" dirty="0">
                <a:solidFill>
                  <a:srgbClr val="FDFDFF"/>
                </a:solidFill>
                <a:latin typeface="Inter" pitchFamily="34" charset="0"/>
                <a:ea typeface="Inter" pitchFamily="34" charset="-122"/>
                <a:cs typeface="Inter" pitchFamily="34" charset="-120"/>
              </a:rPr>
              <a:t>1</a:t>
            </a:r>
            <a:endParaRPr lang="en-US" sz="1400" dirty="0"/>
          </a:p>
        </p:txBody>
      </p:sp>
      <p:sp>
        <p:nvSpPr>
          <p:cNvPr id="22" name="Text 19"/>
          <p:cNvSpPr/>
          <p:nvPr/>
        </p:nvSpPr>
        <p:spPr>
          <a:xfrm>
            <a:off x="3486150" y="4597350"/>
            <a:ext cx="508000" cy="508496"/>
          </a:xfrm>
          <a:custGeom>
            <a:avLst/>
            <a:gdLst/>
            <a:ahLst/>
            <a:cxnLst/>
            <a:rect l="l" t="t" r="r" b="b"/>
            <a:pathLst>
              <a:path w="508000" h="508496">
                <a:moveTo>
                  <a:pt x="254000" y="0"/>
                </a:moveTo>
                <a:lnTo>
                  <a:pt x="254000" y="0"/>
                </a:lnTo>
                <a:arcTo hR="254000" wR="254000" stAng="16200000" swAng="5400000"/>
                <a:lnTo>
                  <a:pt x="508000" y="254496"/>
                </a:lnTo>
                <a:arcTo hR="254000" wR="254000" stAng="0" swAng="5400000"/>
                <a:lnTo>
                  <a:pt x="254000" y="508496"/>
                </a:lnTo>
                <a:arcTo hR="254000" wR="254000" stAng="5400000" swAng="5400000"/>
                <a:lnTo>
                  <a:pt x="0" y="254000"/>
                </a:lnTo>
                <a:arcTo hR="254000" wR="254000" stAng="10800000" swAng="5400000"/>
                <a:close/>
              </a:path>
            </a:pathLst>
          </a:custGeom>
          <a:solidFill>
            <a:srgbClr val="5E54C4"/>
          </a:solidFill>
          <a:ln/>
        </p:spPr>
        <p:txBody>
          <a:bodyPr wrap="square" lIns="0" tIns="0" rIns="0" bIns="0" rtlCol="0" anchor="t">
            <a:normAutofit/>
          </a:bodyPr>
          <a:lstStyle/>
          <a:p>
            <a:pPr algn="ctr" indent="0" marL="0">
              <a:lnSpc>
                <a:spcPts val="4004"/>
              </a:lnSpc>
              <a:buNone/>
            </a:pPr>
            <a:r>
              <a:rPr lang="en-US" sz="1400" b="1" dirty="0">
                <a:solidFill>
                  <a:srgbClr val="FDFDFF"/>
                </a:solidFill>
                <a:latin typeface="Inter" pitchFamily="34" charset="0"/>
                <a:ea typeface="Inter" pitchFamily="34" charset="-122"/>
                <a:cs typeface="Inter" pitchFamily="34" charset="-120"/>
              </a:rPr>
              <a:t>2</a:t>
            </a:r>
            <a:endParaRPr lang="en-US" sz="1400" dirty="0"/>
          </a:p>
        </p:txBody>
      </p:sp>
      <p:sp>
        <p:nvSpPr>
          <p:cNvPr id="23" name="Text 20"/>
          <p:cNvSpPr/>
          <p:nvPr/>
        </p:nvSpPr>
        <p:spPr>
          <a:xfrm>
            <a:off x="4311650" y="4597350"/>
            <a:ext cx="508000" cy="508496"/>
          </a:xfrm>
          <a:custGeom>
            <a:avLst/>
            <a:gdLst/>
            <a:ahLst/>
            <a:cxnLst/>
            <a:rect l="l" t="t" r="r" b="b"/>
            <a:pathLst>
              <a:path w="508000" h="508496">
                <a:moveTo>
                  <a:pt x="254000" y="0"/>
                </a:moveTo>
                <a:lnTo>
                  <a:pt x="254000" y="0"/>
                </a:lnTo>
                <a:arcTo hR="254000" wR="254000" stAng="16200000" swAng="5400000"/>
                <a:lnTo>
                  <a:pt x="508000" y="254496"/>
                </a:lnTo>
                <a:arcTo hR="254000" wR="254000" stAng="0" swAng="5400000"/>
                <a:lnTo>
                  <a:pt x="254000" y="508496"/>
                </a:lnTo>
                <a:arcTo hR="254000" wR="254000" stAng="5400000" swAng="5400000"/>
                <a:lnTo>
                  <a:pt x="0" y="254000"/>
                </a:lnTo>
                <a:arcTo hR="254000" wR="254000" stAng="10800000" swAng="5400000"/>
                <a:close/>
              </a:path>
            </a:pathLst>
          </a:custGeom>
          <a:solidFill>
            <a:srgbClr val="5E54C4"/>
          </a:solidFill>
          <a:ln/>
        </p:spPr>
        <p:txBody>
          <a:bodyPr wrap="square" lIns="0" tIns="0" rIns="0" bIns="0" rtlCol="0" anchor="t">
            <a:normAutofit/>
          </a:bodyPr>
          <a:lstStyle/>
          <a:p>
            <a:pPr algn="ctr" indent="0" marL="0">
              <a:lnSpc>
                <a:spcPts val="4004"/>
              </a:lnSpc>
              <a:buNone/>
            </a:pPr>
            <a:r>
              <a:rPr lang="en-US" sz="1400" b="1" dirty="0">
                <a:solidFill>
                  <a:srgbClr val="FDFDFF"/>
                </a:solidFill>
                <a:latin typeface="Inter" pitchFamily="34" charset="0"/>
                <a:ea typeface="Inter" pitchFamily="34" charset="-122"/>
                <a:cs typeface="Inter" pitchFamily="34" charset="-120"/>
              </a:rPr>
              <a:t>0</a:t>
            </a:r>
            <a:endParaRPr lang="en-US" sz="1400" dirty="0"/>
          </a:p>
        </p:txBody>
      </p:sp>
      <p:sp>
        <p:nvSpPr>
          <p:cNvPr id="24" name="Shape 21"/>
          <p:cNvSpPr/>
          <p:nvPr/>
        </p:nvSpPr>
        <p:spPr>
          <a:xfrm>
            <a:off x="1168400" y="5250111"/>
            <a:ext cx="177800" cy="177800"/>
          </a:xfrm>
          <a:prstGeom prst="roundRect">
            <a:avLst>
              <a:gd name="adj" fmla="val 50000"/>
            </a:avLst>
          </a:prstGeom>
          <a:solidFill>
            <a:srgbClr val="5E54C4"/>
          </a:solidFill>
          <a:ln/>
        </p:spPr>
      </p:sp>
      <p:sp>
        <p:nvSpPr>
          <p:cNvPr id="25" name="Text 22"/>
          <p:cNvSpPr/>
          <p:nvPr/>
        </p:nvSpPr>
        <p:spPr>
          <a:xfrm>
            <a:off x="1422400" y="5232350"/>
            <a:ext cx="20661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shared slot (spatial reuse)</a:t>
            </a:r>
            <a:endParaRPr lang="en-US" sz="1200" dirty="0"/>
          </a:p>
        </p:txBody>
      </p:sp>
      <p:sp>
        <p:nvSpPr>
          <p:cNvPr id="26" name="Shape 23"/>
          <p:cNvSpPr/>
          <p:nvPr/>
        </p:nvSpPr>
        <p:spPr>
          <a:xfrm>
            <a:off x="3498106" y="5259636"/>
            <a:ext cx="158750" cy="158750"/>
          </a:xfrm>
          <a:prstGeom prst="roundRect">
            <a:avLst>
              <a:gd name="adj" fmla="val 50000"/>
            </a:avLst>
          </a:prstGeom>
          <a:solidFill>
            <a:srgbClr val="FDFDFF"/>
          </a:solidFill>
          <a:ln w="19050">
            <a:solidFill>
              <a:srgbClr val="5E54C4"/>
            </a:solidFill>
            <a:prstDash val="solid"/>
          </a:ln>
        </p:spPr>
      </p:sp>
      <p:sp>
        <p:nvSpPr>
          <p:cNvPr id="27" name="Text 24"/>
          <p:cNvSpPr/>
          <p:nvPr/>
        </p:nvSpPr>
        <p:spPr>
          <a:xfrm>
            <a:off x="3742581" y="5232350"/>
            <a:ext cx="15505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used by one radio</a:t>
            </a:r>
            <a:endParaRPr lang="en-US" sz="1200" dirty="0"/>
          </a:p>
        </p:txBody>
      </p:sp>
      <p:sp>
        <p:nvSpPr>
          <p:cNvPr id="28" name="Shape 25"/>
          <p:cNvSpPr/>
          <p:nvPr/>
        </p:nvSpPr>
        <p:spPr>
          <a:xfrm>
            <a:off x="6045200" y="1854150"/>
            <a:ext cx="5232400" cy="1056531"/>
          </a:xfrm>
          <a:prstGeom prst="roundRect">
            <a:avLst>
              <a:gd name="adj" fmla="val 14425"/>
            </a:avLst>
          </a:prstGeom>
          <a:solidFill>
            <a:srgbClr val="F4F3FB"/>
          </a:solidFill>
          <a:ln/>
        </p:spPr>
      </p:sp>
      <p:sp>
        <p:nvSpPr>
          <p:cNvPr id="29" name="Text 26"/>
          <p:cNvSpPr/>
          <p:nvPr/>
        </p:nvSpPr>
        <p:spPr>
          <a:xfrm>
            <a:off x="6273800" y="2169071"/>
            <a:ext cx="812800"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5E54C4"/>
                </a:solidFill>
                <a:latin typeface="Plus Jakarta Sans" pitchFamily="34" charset="0"/>
                <a:ea typeface="Plus Jakarta Sans" pitchFamily="34" charset="-122"/>
                <a:cs typeface="Plus Jakarta Sans" pitchFamily="34" charset="-120"/>
              </a:rPr>
              <a:t>9</a:t>
            </a:r>
            <a:endParaRPr lang="en-US" sz="3200" dirty="0"/>
          </a:p>
        </p:txBody>
      </p:sp>
      <p:sp>
        <p:nvSpPr>
          <p:cNvPr id="30" name="Text 27"/>
          <p:cNvSpPr/>
          <p:nvPr/>
        </p:nvSpPr>
        <p:spPr>
          <a:xfrm>
            <a:off x="7239000" y="2031950"/>
            <a:ext cx="3924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slots per frame</a:t>
            </a:r>
            <a:endParaRPr lang="en-US" sz="1400" dirty="0"/>
          </a:p>
        </p:txBody>
      </p:sp>
      <p:sp>
        <p:nvSpPr>
          <p:cNvPr id="31" name="Text 28"/>
          <p:cNvSpPr/>
          <p:nvPr/>
        </p:nvSpPr>
        <p:spPr>
          <a:xfrm>
            <a:off x="7239000" y="2306241"/>
            <a:ext cx="39243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DSATUR and largest-first agree on the same frame length.</a:t>
            </a:r>
            <a:endParaRPr lang="en-US" sz="1200" dirty="0"/>
          </a:p>
        </p:txBody>
      </p:sp>
      <p:sp>
        <p:nvSpPr>
          <p:cNvPr id="32" name="Shape 29"/>
          <p:cNvSpPr/>
          <p:nvPr/>
        </p:nvSpPr>
        <p:spPr>
          <a:xfrm>
            <a:off x="6045200" y="3063081"/>
            <a:ext cx="5232400" cy="1056531"/>
          </a:xfrm>
          <a:prstGeom prst="roundRect">
            <a:avLst>
              <a:gd name="adj" fmla="val 14425"/>
            </a:avLst>
          </a:prstGeom>
          <a:solidFill>
            <a:srgbClr val="F4F3FB"/>
          </a:solidFill>
          <a:ln/>
        </p:spPr>
      </p:sp>
      <p:sp>
        <p:nvSpPr>
          <p:cNvPr id="33" name="Text 30"/>
          <p:cNvSpPr/>
          <p:nvPr/>
        </p:nvSpPr>
        <p:spPr>
          <a:xfrm>
            <a:off x="6273800" y="3378002"/>
            <a:ext cx="812800"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5E54C4"/>
                </a:solidFill>
                <a:latin typeface="Plus Jakarta Sans" pitchFamily="34" charset="0"/>
                <a:ea typeface="Plus Jakarta Sans" pitchFamily="34" charset="-122"/>
                <a:cs typeface="Plus Jakarta Sans" pitchFamily="34" charset="-120"/>
              </a:rPr>
              <a:t>0</a:t>
            </a:r>
            <a:endParaRPr lang="en-US" sz="3200" dirty="0"/>
          </a:p>
        </p:txBody>
      </p:sp>
      <p:sp>
        <p:nvSpPr>
          <p:cNvPr id="34" name="Text 31"/>
          <p:cNvSpPr/>
          <p:nvPr/>
        </p:nvSpPr>
        <p:spPr>
          <a:xfrm>
            <a:off x="7239000" y="3240881"/>
            <a:ext cx="3924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collisions</a:t>
            </a:r>
            <a:endParaRPr lang="en-US" sz="1400" dirty="0"/>
          </a:p>
        </p:txBody>
      </p:sp>
      <p:sp>
        <p:nvSpPr>
          <p:cNvPr id="35" name="Text 32"/>
          <p:cNvSpPr/>
          <p:nvPr/>
        </p:nvSpPr>
        <p:spPr>
          <a:xfrm>
            <a:off x="7239000" y="3515171"/>
            <a:ext cx="39243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Confirmed by the independent check from the raw coordinates.</a:t>
            </a:r>
            <a:endParaRPr lang="en-US" sz="1200" dirty="0"/>
          </a:p>
        </p:txBody>
      </p:sp>
      <p:sp>
        <p:nvSpPr>
          <p:cNvPr id="36" name="Shape 33"/>
          <p:cNvSpPr/>
          <p:nvPr/>
        </p:nvSpPr>
        <p:spPr>
          <a:xfrm>
            <a:off x="6045200" y="4272012"/>
            <a:ext cx="5232400" cy="1056531"/>
          </a:xfrm>
          <a:prstGeom prst="roundRect">
            <a:avLst>
              <a:gd name="adj" fmla="val 14425"/>
            </a:avLst>
          </a:prstGeom>
          <a:solidFill>
            <a:srgbClr val="F4F3FB"/>
          </a:solidFill>
          <a:ln/>
        </p:spPr>
      </p:sp>
      <p:sp>
        <p:nvSpPr>
          <p:cNvPr id="37" name="Text 34"/>
          <p:cNvSpPr/>
          <p:nvPr/>
        </p:nvSpPr>
        <p:spPr>
          <a:xfrm>
            <a:off x="6273800" y="4586932"/>
            <a:ext cx="812800"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5E54C4"/>
                </a:solidFill>
                <a:latin typeface="Plus Jakarta Sans" pitchFamily="34" charset="0"/>
                <a:ea typeface="Plus Jakarta Sans" pitchFamily="34" charset="-122"/>
                <a:cs typeface="Plus Jakarta Sans" pitchFamily="34" charset="-120"/>
              </a:rPr>
              <a:t>12</a:t>
            </a:r>
            <a:endParaRPr lang="en-US" sz="3200" dirty="0"/>
          </a:p>
        </p:txBody>
      </p:sp>
      <p:sp>
        <p:nvSpPr>
          <p:cNvPr id="38" name="Text 35"/>
          <p:cNvSpPr/>
          <p:nvPr/>
        </p:nvSpPr>
        <p:spPr>
          <a:xfrm>
            <a:off x="7239000" y="4449812"/>
            <a:ext cx="3924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radios share a slot</a:t>
            </a:r>
            <a:endParaRPr lang="en-US" sz="1400" dirty="0"/>
          </a:p>
        </p:txBody>
      </p:sp>
      <p:sp>
        <p:nvSpPr>
          <p:cNvPr id="39" name="Text 36"/>
          <p:cNvSpPr/>
          <p:nvPr/>
        </p:nvSpPr>
        <p:spPr>
          <a:xfrm>
            <a:off x="7239000" y="4724102"/>
            <a:ext cx="39243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Corners share slot 0; opposite edges share slots 1, 2, 3 and 6.</a:t>
            </a:r>
            <a:endParaRPr lang="en-US" sz="1200" dirty="0"/>
          </a:p>
        </p:txBody>
      </p:sp>
      <p:pic>
        <p:nvPicPr>
          <p:cNvPr id="40" name="Image 1" descr="Vaan Megam Networks">    </p:cNvPr>
          <p:cNvPicPr>
            <a:picLocks noChangeAspect="1"/>
          </p:cNvPicPr>
          <p:nvPr/>
        </p:nvPicPr>
        <p:blipFill>
          <a:blip r:embed="rId2"/>
          <a:srcRect l="0" r="0" t="-56" b="-56"/>
          <a:stretch/>
        </p:blipFill>
        <p:spPr>
          <a:xfrm>
            <a:off x="914400" y="6273800"/>
            <a:ext cx="628650" cy="177800"/>
          </a:xfrm>
          <a:prstGeom prst="rect">
            <a:avLst/>
          </a:prstGeom>
        </p:spPr>
      </p:pic>
      <p:sp>
        <p:nvSpPr>
          <p:cNvPr id="41" name="Text 37"/>
          <p:cNvSpPr/>
          <p:nvPr/>
        </p:nvSpPr>
        <p:spPr>
          <a:xfrm>
            <a:off x="1670050" y="6276380"/>
            <a:ext cx="5232400" cy="200620"/>
          </a:xfrm>
          <a:prstGeom prst="rect">
            <a:avLst/>
          </a:prstGeom>
          <a:noFill/>
          <a:ln/>
        </p:spPr>
        <p:txBody>
          <a:bodyPr wrap="square" lIns="0" tIns="0" rIns="0" bIns="0" rtlCol="0" anchor="t">
            <a:normAutofit/>
          </a:bodyPr>
          <a:lstStyle/>
          <a:p>
            <a:pPr algn="l" indent="0" marL="0">
              <a:lnSpc>
                <a:spcPts val="1380"/>
              </a:lnSpc>
              <a:buNone/>
            </a:pPr>
            <a:r>
              <a:rPr lang="en-US" sz="1200" dirty="0">
                <a:solidFill>
                  <a:srgbClr val="6D6A8C"/>
                </a:solidFill>
                <a:latin typeface="Inter" pitchFamily="34" charset="0"/>
                <a:ea typeface="Inter" pitchFamily="34" charset="-122"/>
                <a:cs typeface="Inter" pitchFamily="34" charset="-120"/>
              </a:rPr>
              <a:t>TDMA Schedule Optimizer</a:t>
            </a:r>
            <a:endParaRPr lang="en-US" sz="1200" dirty="0"/>
          </a:p>
        </p:txBody>
      </p:sp>
      <p:sp>
        <p:nvSpPr>
          <p:cNvPr id="42" name="Text 38"/>
          <p:cNvSpPr/>
          <p:nvPr/>
        </p:nvSpPr>
        <p:spPr>
          <a:xfrm>
            <a:off x="10464800" y="6276380"/>
            <a:ext cx="812800" cy="200620"/>
          </a:xfrm>
          <a:prstGeom prst="rect">
            <a:avLst/>
          </a:prstGeom>
          <a:noFill/>
          <a:ln/>
        </p:spPr>
        <p:txBody>
          <a:bodyPr wrap="square" lIns="0" tIns="0" rIns="0" bIns="0" rtlCol="0" anchor="t">
            <a:normAutofit/>
          </a:bodyPr>
          <a:lstStyle/>
          <a:p>
            <a:pPr algn="r" indent="0" marL="0">
              <a:lnSpc>
                <a:spcPts val="1380"/>
              </a:lnSpc>
              <a:buNone/>
            </a:pPr>
            <a:r>
              <a:rPr lang="en-US" sz="1200" dirty="0">
                <a:solidFill>
                  <a:srgbClr val="6D6A8C"/>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5E54C4"/>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5E54C4"/>
              </a:gs>
              <a:gs pos="100000">
                <a:srgbClr val="3A3192"/>
              </a:gs>
            </a:gsLst>
            <a:lin ang="2700000" scaled="0"/>
          </a:gradFill>
          <a:ln/>
        </p:spPr>
      </p:sp>
      <p:pic>
        <p:nvPicPr>
          <p:cNvPr id="3"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4" name="Text 1"/>
          <p:cNvSpPr/>
          <p:nvPr/>
        </p:nvSpPr>
        <p:spPr>
          <a:xfrm>
            <a:off x="812800" y="19050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D5FF"/>
                </a:solidFill>
                <a:latin typeface="Inter" pitchFamily="34" charset="0"/>
                <a:ea typeface="Inter" pitchFamily="34" charset="-122"/>
                <a:cs typeface="Inter" pitchFamily="34" charset="-120"/>
              </a:rPr>
              <a:t>PART 1 · OPTIMALITY</a:t>
            </a:r>
            <a:endParaRPr lang="en-US" sz="1200" dirty="0"/>
          </a:p>
        </p:txBody>
      </p:sp>
      <p:sp>
        <p:nvSpPr>
          <p:cNvPr id="5" name="Text 2"/>
          <p:cNvSpPr/>
          <p:nvPr>
            <p:ph type="title"/>
          </p:nvPr>
        </p:nvSpPr>
        <p:spPr>
          <a:xfrm>
            <a:off x="812800" y="232157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50" kern="0" dirty="0">
                <a:solidFill>
                  <a:srgbClr val="FDFDFF"/>
                </a:solidFill>
                <a:latin typeface="Plus Jakarta Sans" pitchFamily="34" charset="0"/>
                <a:ea typeface="Plus Jakarta Sans" pitchFamily="34" charset="-122"/>
                <a:cs typeface="Plus Jakarta Sans" pitchFamily="34" charset="-120"/>
              </a:rPr>
              <a:t>9 is the minimum.</a:t>
            </a:r>
            <a:endParaRPr lang="en-US" sz="6000" dirty="0"/>
          </a:p>
        </p:txBody>
      </p:sp>
      <p:sp>
        <p:nvSpPr>
          <p:cNvPr id="6" name="Text 3"/>
          <p:cNvSpPr/>
          <p:nvPr/>
        </p:nvSpPr>
        <p:spPr>
          <a:xfrm>
            <a:off x="812800" y="3324870"/>
            <a:ext cx="8502650" cy="98549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4E1FF"/>
                </a:solidFill>
                <a:latin typeface="Inter" pitchFamily="34" charset="0"/>
                <a:ea typeface="Inter" pitchFamily="34" charset="-122"/>
                <a:cs typeface="Inter" pitchFamily="34" charset="-120"/>
              </a:rPr>
              <a:t>Node_06 and its 8 neighbours are all within two hops of each other, so those 9 radios need 9 different slots. No valid schedule for this grid can be shorter, and ours reaches that bound.</a:t>
            </a:r>
            <a:endParaRPr lang="en-US" sz="1800" dirty="0"/>
          </a:p>
        </p:txBody>
      </p:sp>
      <p:sp>
        <p:nvSpPr>
          <p:cNvPr id="7" name="Text 4"/>
          <p:cNvSpPr/>
          <p:nvPr/>
        </p:nvSpPr>
        <p:spPr>
          <a:xfrm>
            <a:off x="815975" y="4491335"/>
            <a:ext cx="5055890" cy="458440"/>
          </a:xfrm>
          <a:prstGeom prst="roundRect">
            <a:avLst>
              <a:gd name="adj" fmla="val 21470"/>
            </a:avLst>
          </a:prstGeom>
          <a:solidFill>
            <a:srgbClr val="FFFFFF">
              <a:alpha val="12000"/>
            </a:srgbClr>
          </a:solidFill>
          <a:ln w="6350">
            <a:solidFill>
              <a:srgbClr val="FFFFFF">
                <a:alpha val="22000"/>
              </a:srgbClr>
            </a:solidFill>
            <a:prstDash val="solid"/>
          </a:ln>
        </p:spPr>
        <p:txBody>
          <a:bodyPr wrap="none" lIns="0" tIns="0" rIns="0" bIns="0" rtlCol="0" anchor="ctr">
            <a:normAutofit/>
          </a:bodyPr>
          <a:lstStyle/>
          <a:p>
            <a:pPr algn="ctr" indent="0" marL="0">
              <a:lnSpc>
                <a:spcPts val="1960"/>
              </a:lnSpc>
              <a:buNone/>
            </a:pPr>
            <a:r>
              <a:rPr lang="en-US" sz="1400" dirty="0">
                <a:solidFill>
                  <a:srgbClr val="FDFDFF"/>
                </a:solidFill>
                <a:latin typeface="JetBrains Mono" pitchFamily="49" charset="0"/>
                <a:ea typeface="JetBrains Mono" pitchFamily="49" charset="-122"/>
                <a:cs typeface="JetBrains Mono" pitchFamily="49" charset="-120"/>
              </a:rPr>
              <a:t>lower bound = max neighbours + 1 = 8 + 1 = 9</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9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CE9FA"/>
              </a:gs>
              <a:gs pos="100000">
                <a:srgbClr val="E4F2FB"/>
              </a:gs>
            </a:gsLst>
            <a:lin ang="2700000" scaled="0"/>
          </a:gradFill>
          <a:ln/>
        </p:spPr>
      </p:sp>
      <p:sp>
        <p:nvSpPr>
          <p:cNvPr id="3" name="Shape 1"/>
          <p:cNvSpPr/>
          <p:nvPr/>
        </p:nvSpPr>
        <p:spPr>
          <a:xfrm>
            <a:off x="304800" y="304800"/>
            <a:ext cx="11582400" cy="6248400"/>
          </a:xfrm>
          <a:prstGeom prst="roundRect">
            <a:avLst>
              <a:gd name="adj" fmla="val 3659"/>
            </a:avLst>
          </a:prstGeom>
          <a:solidFill>
            <a:srgbClr val="FDFDFF"/>
          </a:solidFill>
          <a:ln/>
          <a:effectLst>
            <a:outerShdw sx="100000" sy="100000" kx="0" ky="0" algn="bl" rotWithShape="0" blurRad="355600" dist="101600" dir="5400000">
              <a:srgbClr val="281E6E">
                <a:alpha val="10000"/>
              </a:srgbClr>
            </a:outerShdw>
          </a:effectLst>
        </p:spPr>
      </p:sp>
      <p:sp>
        <p:nvSpPr>
          <p:cNvPr id="4" name="Text 2"/>
          <p:cNvSpPr/>
          <p:nvPr/>
        </p:nvSpPr>
        <p:spPr>
          <a:xfrm>
            <a:off x="914400" y="81280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54C4"/>
                </a:solidFill>
                <a:latin typeface="Inter" pitchFamily="34" charset="0"/>
                <a:ea typeface="Inter" pitchFamily="34" charset="-122"/>
                <a:cs typeface="Inter" pitchFamily="34" charset="-120"/>
              </a:rPr>
              <a:t>PART 1 · RESULT</a:t>
            </a:r>
            <a:endParaRPr lang="en-US" sz="1200" dirty="0"/>
          </a:p>
        </p:txBody>
      </p:sp>
      <p:sp>
        <p:nvSpPr>
          <p:cNvPr id="5" name="Text 3"/>
          <p:cNvSpPr/>
          <p:nvPr>
            <p:ph type="title"/>
          </p:nvPr>
        </p:nvSpPr>
        <p:spPr>
          <a:xfrm>
            <a:off x="914400" y="1102320"/>
            <a:ext cx="10674096" cy="47243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40"/>
                </a:solidFill>
                <a:latin typeface="Plus Jakarta Sans" pitchFamily="34" charset="0"/>
                <a:ea typeface="Plus Jakarta Sans" pitchFamily="34" charset="-122"/>
                <a:cs typeface="Plus Jakarta Sans" pitchFamily="34" charset="-120"/>
              </a:rPr>
              <a:t>Why 9 slots, not the sample's 5</a:t>
            </a:r>
            <a:endParaRPr lang="en-US" sz="3200" dirty="0"/>
          </a:p>
        </p:txBody>
      </p:sp>
      <p:sp>
        <p:nvSpPr>
          <p:cNvPr id="6" name="Shape 4"/>
          <p:cNvSpPr/>
          <p:nvPr/>
        </p:nvSpPr>
        <p:spPr>
          <a:xfrm>
            <a:off x="914400" y="1854150"/>
            <a:ext cx="4826000" cy="3903861"/>
          </a:xfrm>
          <a:prstGeom prst="roundRect">
            <a:avLst>
              <a:gd name="adj" fmla="val 4554"/>
            </a:avLst>
          </a:prstGeom>
          <a:solidFill>
            <a:srgbClr val="F4F3FB"/>
          </a:solidFill>
          <a:ln/>
        </p:spPr>
      </p:sp>
      <p:sp>
        <p:nvSpPr>
          <p:cNvPr id="7" name="Text 5"/>
          <p:cNvSpPr/>
          <p:nvPr/>
        </p:nvSpPr>
        <p:spPr>
          <a:xfrm>
            <a:off x="1168400" y="2057350"/>
            <a:ext cx="44475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840"/>
                </a:solidFill>
                <a:latin typeface="Inter" pitchFamily="34" charset="0"/>
                <a:ea typeface="Inter" pitchFamily="34" charset="-122"/>
                <a:cs typeface="Inter" pitchFamily="34" charset="-120"/>
              </a:rPr>
              <a:t>The task's 5-slot sample, applied to this grid</a:t>
            </a:r>
            <a:endParaRPr lang="en-US" sz="1200" dirty="0"/>
          </a:p>
        </p:txBody>
      </p:sp>
      <p:pic>
        <p:nvPicPr>
          <p:cNvPr id="8" name="Image 0" descr="preencoded.png">    </p:cNvPr>
          <p:cNvPicPr>
            <a:picLocks noChangeAspect="1"/>
          </p:cNvPicPr>
          <p:nvPr/>
        </p:nvPicPr>
        <p:blipFill>
          <a:blip r:embed="rId1"/>
          <a:srcRect l="0" r="0" t="0" b="0"/>
          <a:stretch/>
        </p:blipFill>
        <p:spPr>
          <a:xfrm>
            <a:off x="1168400" y="2346871"/>
            <a:ext cx="4318000" cy="2705100"/>
          </a:xfrm>
          <a:prstGeom prst="rect">
            <a:avLst/>
          </a:prstGeom>
        </p:spPr>
      </p:pic>
      <p:sp>
        <p:nvSpPr>
          <p:cNvPr id="9" name="Text 6"/>
          <p:cNvSpPr/>
          <p:nvPr/>
        </p:nvSpPr>
        <p:spPr>
          <a:xfrm>
            <a:off x="2101850" y="2346871"/>
            <a:ext cx="431800"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B4441E"/>
                </a:solidFill>
                <a:latin typeface="Inter" pitchFamily="34" charset="0"/>
                <a:ea typeface="Inter" pitchFamily="34" charset="-122"/>
                <a:cs typeface="Inter" pitchFamily="34" charset="-120"/>
              </a:rPr>
              <a:t>01</a:t>
            </a:r>
            <a:endParaRPr lang="en-US" sz="1200" dirty="0"/>
          </a:p>
        </p:txBody>
      </p:sp>
      <p:sp>
        <p:nvSpPr>
          <p:cNvPr id="10" name="Text 7"/>
          <p:cNvSpPr/>
          <p:nvPr/>
        </p:nvSpPr>
        <p:spPr>
          <a:xfrm>
            <a:off x="2774950" y="2346871"/>
            <a:ext cx="431800"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B4441E"/>
                </a:solidFill>
                <a:latin typeface="Inter" pitchFamily="34" charset="0"/>
                <a:ea typeface="Inter" pitchFamily="34" charset="-122"/>
                <a:cs typeface="Inter" pitchFamily="34" charset="-120"/>
              </a:rPr>
              <a:t>02</a:t>
            </a:r>
            <a:endParaRPr lang="en-US" sz="1200" dirty="0"/>
          </a:p>
        </p:txBody>
      </p:sp>
      <p:sp>
        <p:nvSpPr>
          <p:cNvPr id="11" name="Text 8"/>
          <p:cNvSpPr/>
          <p:nvPr/>
        </p:nvSpPr>
        <p:spPr>
          <a:xfrm>
            <a:off x="3448050" y="2346871"/>
            <a:ext cx="431800"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B4441E"/>
                </a:solidFill>
                <a:latin typeface="Inter" pitchFamily="34" charset="0"/>
                <a:ea typeface="Inter" pitchFamily="34" charset="-122"/>
                <a:cs typeface="Inter" pitchFamily="34" charset="-120"/>
              </a:rPr>
              <a:t>03</a:t>
            </a:r>
            <a:endParaRPr lang="en-US" sz="1200" dirty="0"/>
          </a:p>
        </p:txBody>
      </p:sp>
      <p:sp>
        <p:nvSpPr>
          <p:cNvPr id="12" name="Text 9"/>
          <p:cNvSpPr/>
          <p:nvPr/>
        </p:nvSpPr>
        <p:spPr>
          <a:xfrm>
            <a:off x="4121150" y="2346871"/>
            <a:ext cx="43180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6D6A8C"/>
                </a:solidFill>
                <a:latin typeface="Inter" pitchFamily="34" charset="0"/>
                <a:ea typeface="Inter" pitchFamily="34" charset="-122"/>
                <a:cs typeface="Inter" pitchFamily="34" charset="-120"/>
              </a:rPr>
              <a:t>04</a:t>
            </a:r>
            <a:endParaRPr lang="en-US" sz="1200" dirty="0"/>
          </a:p>
        </p:txBody>
      </p:sp>
      <p:sp>
        <p:nvSpPr>
          <p:cNvPr id="13" name="Text 10"/>
          <p:cNvSpPr/>
          <p:nvPr/>
        </p:nvSpPr>
        <p:spPr>
          <a:xfrm>
            <a:off x="2095500" y="2575471"/>
            <a:ext cx="444500" cy="444500"/>
          </a:xfrm>
          <a:custGeom>
            <a:avLst/>
            <a:gdLst/>
            <a:ahLst/>
            <a:cxnLst/>
            <a:rect l="l" t="t" r="r" b="b"/>
            <a:pathLst>
              <a:path w="444500" h="444500">
                <a:moveTo>
                  <a:pt x="222250" y="0"/>
                </a:moveTo>
                <a:lnTo>
                  <a:pt x="222250" y="0"/>
                </a:lnTo>
                <a:arcTo hR="222250" wR="222250" stAng="16200000" swAng="5400000"/>
                <a:lnTo>
                  <a:pt x="444500" y="222250"/>
                </a:lnTo>
                <a:arcTo hR="222250" wR="222250" stAng="0" swAng="5400000"/>
                <a:lnTo>
                  <a:pt x="222250" y="444500"/>
                </a:lnTo>
                <a:arcTo hR="222250" wR="222250" stAng="5400000" swAng="5400000"/>
                <a:lnTo>
                  <a:pt x="0" y="222250"/>
                </a:lnTo>
                <a:arcTo hR="222250" wR="222250" stAng="10800000" swAng="5400000"/>
                <a:close/>
              </a:path>
            </a:pathLst>
          </a:custGeom>
          <a:solidFill>
            <a:srgbClr val="D9572B"/>
          </a:solidFill>
          <a:ln/>
        </p:spPr>
        <p:txBody>
          <a:bodyPr wrap="square" lIns="0" tIns="0" rIns="0" bIns="0" rtlCol="0" anchor="t">
            <a:normAutofit/>
          </a:bodyPr>
          <a:lstStyle/>
          <a:p>
            <a:pPr algn="ctr" indent="0" marL="0">
              <a:lnSpc>
                <a:spcPts val="3500"/>
              </a:lnSpc>
              <a:buNone/>
            </a:pPr>
            <a:r>
              <a:rPr lang="en-US" sz="1400" b="1" dirty="0">
                <a:solidFill>
                  <a:srgbClr val="FDFDFF"/>
                </a:solidFill>
                <a:latin typeface="Inter" pitchFamily="34" charset="0"/>
                <a:ea typeface="Inter" pitchFamily="34" charset="-122"/>
                <a:cs typeface="Inter" pitchFamily="34" charset="-120"/>
              </a:rPr>
              <a:t>0</a:t>
            </a:r>
            <a:endParaRPr lang="en-US" sz="1400" dirty="0"/>
          </a:p>
        </p:txBody>
      </p:sp>
      <p:sp>
        <p:nvSpPr>
          <p:cNvPr id="14" name="Text 11"/>
          <p:cNvSpPr/>
          <p:nvPr/>
        </p:nvSpPr>
        <p:spPr>
          <a:xfrm>
            <a:off x="2781300" y="2588171"/>
            <a:ext cx="419100" cy="418306"/>
          </a:xfrm>
          <a:custGeom>
            <a:avLst/>
            <a:gdLst/>
            <a:ahLst/>
            <a:cxnLst/>
            <a:rect l="l" t="t" r="r" b="b"/>
            <a:pathLst>
              <a:path w="419100" h="418306">
                <a:moveTo>
                  <a:pt x="209153" y="0"/>
                </a:moveTo>
                <a:lnTo>
                  <a:pt x="209947" y="0"/>
                </a:lnTo>
                <a:arcTo hR="209153" wR="209153" stAng="16200000" swAng="5400000"/>
                <a:lnTo>
                  <a:pt x="419100" y="209153"/>
                </a:lnTo>
                <a:arcTo hR="209153" wR="209153" stAng="0" swAng="5400000"/>
                <a:lnTo>
                  <a:pt x="209153" y="418306"/>
                </a:lnTo>
                <a:arcTo hR="209153" wR="209153" stAng="5400000" swAng="5400000"/>
                <a:lnTo>
                  <a:pt x="0" y="209153"/>
                </a:lnTo>
                <a:arcTo hR="209153" wR="209153" stAng="10800000" swAng="5400000"/>
                <a:close/>
              </a:path>
            </a:pathLst>
          </a:custGeom>
          <a:solidFill>
            <a:srgbClr val="FDFDFF"/>
          </a:solidFill>
          <a:ln w="25400">
            <a:solidFill>
              <a:srgbClr val="D9572B"/>
            </a:solidFill>
            <a:prstDash val="solid"/>
          </a:ln>
        </p:spPr>
        <p:txBody>
          <a:bodyPr wrap="square" lIns="0" tIns="12700" rIns="0" bIns="0" rtlCol="0" anchor="t">
            <a:normAutofit/>
          </a:bodyPr>
          <a:lstStyle/>
          <a:p>
            <a:pPr algn="ctr" indent="0" marL="0">
              <a:lnSpc>
                <a:spcPts val="3094"/>
              </a:lnSpc>
              <a:buNone/>
            </a:pPr>
            <a:r>
              <a:rPr lang="en-US" sz="1400" b="1" dirty="0">
                <a:solidFill>
                  <a:srgbClr val="B4441E"/>
                </a:solidFill>
                <a:latin typeface="Inter" pitchFamily="34" charset="0"/>
                <a:ea typeface="Inter" pitchFamily="34" charset="-122"/>
                <a:cs typeface="Inter" pitchFamily="34" charset="-120"/>
              </a:rPr>
              <a:t>1</a:t>
            </a:r>
            <a:endParaRPr lang="en-US" sz="1400" dirty="0"/>
          </a:p>
        </p:txBody>
      </p:sp>
      <p:sp>
        <p:nvSpPr>
          <p:cNvPr id="15" name="Text 12"/>
          <p:cNvSpPr/>
          <p:nvPr/>
        </p:nvSpPr>
        <p:spPr>
          <a:xfrm>
            <a:off x="3441700" y="2575471"/>
            <a:ext cx="444500" cy="444500"/>
          </a:xfrm>
          <a:custGeom>
            <a:avLst/>
            <a:gdLst/>
            <a:ahLst/>
            <a:cxnLst/>
            <a:rect l="l" t="t" r="r" b="b"/>
            <a:pathLst>
              <a:path w="444500" h="444500">
                <a:moveTo>
                  <a:pt x="222250" y="0"/>
                </a:moveTo>
                <a:lnTo>
                  <a:pt x="222250" y="0"/>
                </a:lnTo>
                <a:arcTo hR="222250" wR="222250" stAng="16200000" swAng="5400000"/>
                <a:lnTo>
                  <a:pt x="444500" y="222250"/>
                </a:lnTo>
                <a:arcTo hR="222250" wR="222250" stAng="0" swAng="5400000"/>
                <a:lnTo>
                  <a:pt x="222250" y="444500"/>
                </a:lnTo>
                <a:arcTo hR="222250" wR="222250" stAng="5400000" swAng="5400000"/>
                <a:lnTo>
                  <a:pt x="0" y="222250"/>
                </a:lnTo>
                <a:arcTo hR="222250" wR="222250" stAng="10800000" swAng="5400000"/>
                <a:close/>
              </a:path>
            </a:pathLst>
          </a:custGeom>
          <a:solidFill>
            <a:srgbClr val="D9572B"/>
          </a:solidFill>
          <a:ln/>
        </p:spPr>
        <p:txBody>
          <a:bodyPr wrap="square" lIns="0" tIns="0" rIns="0" bIns="0" rtlCol="0" anchor="t">
            <a:normAutofit/>
          </a:bodyPr>
          <a:lstStyle/>
          <a:p>
            <a:pPr algn="ctr" indent="0" marL="0">
              <a:lnSpc>
                <a:spcPts val="3500"/>
              </a:lnSpc>
              <a:buNone/>
            </a:pPr>
            <a:r>
              <a:rPr lang="en-US" sz="1400" b="1" dirty="0">
                <a:solidFill>
                  <a:srgbClr val="FDFDFF"/>
                </a:solidFill>
                <a:latin typeface="Inter" pitchFamily="34" charset="0"/>
                <a:ea typeface="Inter" pitchFamily="34" charset="-122"/>
                <a:cs typeface="Inter" pitchFamily="34" charset="-120"/>
              </a:rPr>
              <a:t>0</a:t>
            </a:r>
            <a:endParaRPr lang="en-US" sz="1400" dirty="0"/>
          </a:p>
        </p:txBody>
      </p:sp>
      <p:sp>
        <p:nvSpPr>
          <p:cNvPr id="16" name="Text 13"/>
          <p:cNvSpPr/>
          <p:nvPr/>
        </p:nvSpPr>
        <p:spPr>
          <a:xfrm>
            <a:off x="4114800" y="2575471"/>
            <a:ext cx="444500" cy="444500"/>
          </a:xfrm>
          <a:custGeom>
            <a:avLst/>
            <a:gdLst/>
            <a:ahLst/>
            <a:cxnLst/>
            <a:rect l="l" t="t" r="r" b="b"/>
            <a:pathLst>
              <a:path w="444500" h="444500">
                <a:moveTo>
                  <a:pt x="222250" y="0"/>
                </a:moveTo>
                <a:lnTo>
                  <a:pt x="222250" y="0"/>
                </a:lnTo>
                <a:arcTo hR="222250" wR="222250" stAng="16200000" swAng="5400000"/>
                <a:lnTo>
                  <a:pt x="444500" y="222250"/>
                </a:lnTo>
                <a:arcTo hR="222250" wR="222250" stAng="0" swAng="5400000"/>
                <a:lnTo>
                  <a:pt x="222250" y="444500"/>
                </a:lnTo>
                <a:arcTo hR="222250" wR="222250" stAng="5400000" swAng="5400000"/>
                <a:lnTo>
                  <a:pt x="0" y="222250"/>
                </a:lnTo>
                <a:arcTo hR="222250" wR="222250" stAng="10800000" swAng="5400000"/>
                <a:close/>
              </a:path>
            </a:pathLst>
          </a:custGeom>
          <a:solidFill>
            <a:srgbClr val="E9E6FA"/>
          </a:solidFill>
          <a:ln/>
        </p:spPr>
        <p:txBody>
          <a:bodyPr wrap="square" lIns="0" tIns="0" rIns="0" bIns="0" rtlCol="0" anchor="t">
            <a:normAutofit/>
          </a:bodyPr>
          <a:lstStyle/>
          <a:p>
            <a:pPr algn="ctr" indent="0" marL="0">
              <a:lnSpc>
                <a:spcPts val="3500"/>
              </a:lnSpc>
              <a:buNone/>
            </a:pPr>
            <a:r>
              <a:rPr lang="en-US" sz="1400" b="1" dirty="0">
                <a:solidFill>
                  <a:srgbClr val="1B1840"/>
                </a:solidFill>
                <a:latin typeface="Inter" pitchFamily="34" charset="0"/>
                <a:ea typeface="Inter" pitchFamily="34" charset="-122"/>
                <a:cs typeface="Inter" pitchFamily="34" charset="-120"/>
              </a:rPr>
              <a:t>1</a:t>
            </a:r>
            <a:endParaRPr lang="en-US" sz="1400" dirty="0"/>
          </a:p>
        </p:txBody>
      </p:sp>
      <p:sp>
        <p:nvSpPr>
          <p:cNvPr id="17" name="Text 14"/>
          <p:cNvSpPr/>
          <p:nvPr/>
        </p:nvSpPr>
        <p:spPr>
          <a:xfrm>
            <a:off x="2095500" y="3248571"/>
            <a:ext cx="444500" cy="444500"/>
          </a:xfrm>
          <a:custGeom>
            <a:avLst/>
            <a:gdLst/>
            <a:ahLst/>
            <a:cxnLst/>
            <a:rect l="l" t="t" r="r" b="b"/>
            <a:pathLst>
              <a:path w="444500" h="444500">
                <a:moveTo>
                  <a:pt x="222250" y="0"/>
                </a:moveTo>
                <a:lnTo>
                  <a:pt x="222250" y="0"/>
                </a:lnTo>
                <a:arcTo hR="222250" wR="222250" stAng="16200000" swAng="5400000"/>
                <a:lnTo>
                  <a:pt x="444500" y="222250"/>
                </a:lnTo>
                <a:arcTo hR="222250" wR="222250" stAng="0" swAng="5400000"/>
                <a:lnTo>
                  <a:pt x="222250" y="444500"/>
                </a:lnTo>
                <a:arcTo hR="222250" wR="222250" stAng="5400000" swAng="5400000"/>
                <a:lnTo>
                  <a:pt x="0" y="222250"/>
                </a:lnTo>
                <a:arcTo hR="222250" wR="222250" stAng="10800000" swAng="5400000"/>
                <a:close/>
              </a:path>
            </a:pathLst>
          </a:custGeom>
          <a:solidFill>
            <a:srgbClr val="E9E6FA"/>
          </a:solidFill>
          <a:ln/>
        </p:spPr>
        <p:txBody>
          <a:bodyPr wrap="square" lIns="0" tIns="0" rIns="0" bIns="0" rtlCol="0" anchor="t">
            <a:normAutofit/>
          </a:bodyPr>
          <a:lstStyle/>
          <a:p>
            <a:pPr algn="ctr" indent="0" marL="0">
              <a:lnSpc>
                <a:spcPts val="3500"/>
              </a:lnSpc>
              <a:buNone/>
            </a:pPr>
            <a:r>
              <a:rPr lang="en-US" sz="1400" b="1" dirty="0">
                <a:solidFill>
                  <a:srgbClr val="1B1840"/>
                </a:solidFill>
                <a:latin typeface="Inter" pitchFamily="34" charset="0"/>
                <a:ea typeface="Inter" pitchFamily="34" charset="-122"/>
                <a:cs typeface="Inter" pitchFamily="34" charset="-120"/>
              </a:rPr>
              <a:t>2</a:t>
            </a:r>
            <a:endParaRPr lang="en-US" sz="1400" dirty="0"/>
          </a:p>
        </p:txBody>
      </p:sp>
      <p:sp>
        <p:nvSpPr>
          <p:cNvPr id="18" name="Text 15"/>
          <p:cNvSpPr/>
          <p:nvPr/>
        </p:nvSpPr>
        <p:spPr>
          <a:xfrm>
            <a:off x="2768600" y="3248571"/>
            <a:ext cx="444500" cy="444500"/>
          </a:xfrm>
          <a:custGeom>
            <a:avLst/>
            <a:gdLst/>
            <a:ahLst/>
            <a:cxnLst/>
            <a:rect l="l" t="t" r="r" b="b"/>
            <a:pathLst>
              <a:path w="444500" h="444500">
                <a:moveTo>
                  <a:pt x="222250" y="0"/>
                </a:moveTo>
                <a:lnTo>
                  <a:pt x="222250" y="0"/>
                </a:lnTo>
                <a:arcTo hR="222250" wR="222250" stAng="16200000" swAng="5400000"/>
                <a:lnTo>
                  <a:pt x="444500" y="222250"/>
                </a:lnTo>
                <a:arcTo hR="222250" wR="222250" stAng="0" swAng="5400000"/>
                <a:lnTo>
                  <a:pt x="222250" y="444500"/>
                </a:lnTo>
                <a:arcTo hR="222250" wR="222250" stAng="5400000" swAng="5400000"/>
                <a:lnTo>
                  <a:pt x="0" y="222250"/>
                </a:lnTo>
                <a:arcTo hR="222250" wR="222250" stAng="10800000" swAng="5400000"/>
                <a:close/>
              </a:path>
            </a:pathLst>
          </a:custGeom>
          <a:solidFill>
            <a:srgbClr val="E9E6FA"/>
          </a:solidFill>
          <a:ln/>
        </p:spPr>
        <p:txBody>
          <a:bodyPr wrap="square" lIns="0" tIns="0" rIns="0" bIns="0" rtlCol="0" anchor="t">
            <a:normAutofit/>
          </a:bodyPr>
          <a:lstStyle/>
          <a:p>
            <a:pPr algn="ctr" indent="0" marL="0">
              <a:lnSpc>
                <a:spcPts val="3500"/>
              </a:lnSpc>
              <a:buNone/>
            </a:pPr>
            <a:r>
              <a:rPr lang="en-US" sz="1400" b="1" dirty="0">
                <a:solidFill>
                  <a:srgbClr val="1B1840"/>
                </a:solidFill>
                <a:latin typeface="Inter" pitchFamily="34" charset="0"/>
                <a:ea typeface="Inter" pitchFamily="34" charset="-122"/>
                <a:cs typeface="Inter" pitchFamily="34" charset="-120"/>
              </a:rPr>
              <a:t>3</a:t>
            </a:r>
            <a:endParaRPr lang="en-US" sz="1400" dirty="0"/>
          </a:p>
        </p:txBody>
      </p:sp>
      <p:sp>
        <p:nvSpPr>
          <p:cNvPr id="19" name="Text 16"/>
          <p:cNvSpPr/>
          <p:nvPr/>
        </p:nvSpPr>
        <p:spPr>
          <a:xfrm>
            <a:off x="3441700" y="3248571"/>
            <a:ext cx="444500" cy="444500"/>
          </a:xfrm>
          <a:custGeom>
            <a:avLst/>
            <a:gdLst/>
            <a:ahLst/>
            <a:cxnLst/>
            <a:rect l="l" t="t" r="r" b="b"/>
            <a:pathLst>
              <a:path w="444500" h="444500">
                <a:moveTo>
                  <a:pt x="222250" y="0"/>
                </a:moveTo>
                <a:lnTo>
                  <a:pt x="222250" y="0"/>
                </a:lnTo>
                <a:arcTo hR="222250" wR="222250" stAng="16200000" swAng="5400000"/>
                <a:lnTo>
                  <a:pt x="444500" y="222250"/>
                </a:lnTo>
                <a:arcTo hR="222250" wR="222250" stAng="0" swAng="5400000"/>
                <a:lnTo>
                  <a:pt x="222250" y="444500"/>
                </a:lnTo>
                <a:arcTo hR="222250" wR="222250" stAng="5400000" swAng="5400000"/>
                <a:lnTo>
                  <a:pt x="0" y="222250"/>
                </a:lnTo>
                <a:arcTo hR="222250" wR="222250" stAng="10800000" swAng="5400000"/>
                <a:close/>
              </a:path>
            </a:pathLst>
          </a:custGeom>
          <a:solidFill>
            <a:srgbClr val="E9E6FA"/>
          </a:solidFill>
          <a:ln/>
        </p:spPr>
        <p:txBody>
          <a:bodyPr wrap="square" lIns="0" tIns="0" rIns="0" bIns="0" rtlCol="0" anchor="t">
            <a:normAutofit/>
          </a:bodyPr>
          <a:lstStyle/>
          <a:p>
            <a:pPr algn="ctr" indent="0" marL="0">
              <a:lnSpc>
                <a:spcPts val="3500"/>
              </a:lnSpc>
              <a:buNone/>
            </a:pPr>
            <a:r>
              <a:rPr lang="en-US" sz="1400" b="1" dirty="0">
                <a:solidFill>
                  <a:srgbClr val="1B1840"/>
                </a:solidFill>
                <a:latin typeface="Inter" pitchFamily="34" charset="0"/>
                <a:ea typeface="Inter" pitchFamily="34" charset="-122"/>
                <a:cs typeface="Inter" pitchFamily="34" charset="-120"/>
              </a:rPr>
              <a:t>2</a:t>
            </a:r>
            <a:endParaRPr lang="en-US" sz="1400" dirty="0"/>
          </a:p>
        </p:txBody>
      </p:sp>
      <p:sp>
        <p:nvSpPr>
          <p:cNvPr id="20" name="Text 17"/>
          <p:cNvSpPr/>
          <p:nvPr/>
        </p:nvSpPr>
        <p:spPr>
          <a:xfrm>
            <a:off x="4114800" y="3248571"/>
            <a:ext cx="444500" cy="444500"/>
          </a:xfrm>
          <a:custGeom>
            <a:avLst/>
            <a:gdLst/>
            <a:ahLst/>
            <a:cxnLst/>
            <a:rect l="l" t="t" r="r" b="b"/>
            <a:pathLst>
              <a:path w="444500" h="444500">
                <a:moveTo>
                  <a:pt x="222250" y="0"/>
                </a:moveTo>
                <a:lnTo>
                  <a:pt x="222250" y="0"/>
                </a:lnTo>
                <a:arcTo hR="222250" wR="222250" stAng="16200000" swAng="5400000"/>
                <a:lnTo>
                  <a:pt x="444500" y="222250"/>
                </a:lnTo>
                <a:arcTo hR="222250" wR="222250" stAng="0" swAng="5400000"/>
                <a:lnTo>
                  <a:pt x="222250" y="444500"/>
                </a:lnTo>
                <a:arcTo hR="222250" wR="222250" stAng="5400000" swAng="5400000"/>
                <a:lnTo>
                  <a:pt x="0" y="222250"/>
                </a:lnTo>
                <a:arcTo hR="222250" wR="222250" stAng="10800000" swAng="5400000"/>
                <a:close/>
              </a:path>
            </a:pathLst>
          </a:custGeom>
          <a:solidFill>
            <a:srgbClr val="E9E6FA"/>
          </a:solidFill>
          <a:ln/>
        </p:spPr>
        <p:txBody>
          <a:bodyPr wrap="square" lIns="0" tIns="0" rIns="0" bIns="0" rtlCol="0" anchor="t">
            <a:normAutofit/>
          </a:bodyPr>
          <a:lstStyle/>
          <a:p>
            <a:pPr algn="ctr" indent="0" marL="0">
              <a:lnSpc>
                <a:spcPts val="3500"/>
              </a:lnSpc>
              <a:buNone/>
            </a:pPr>
            <a:r>
              <a:rPr lang="en-US" sz="1400" b="1" dirty="0">
                <a:solidFill>
                  <a:srgbClr val="1B1840"/>
                </a:solidFill>
                <a:latin typeface="Inter" pitchFamily="34" charset="0"/>
                <a:ea typeface="Inter" pitchFamily="34" charset="-122"/>
                <a:cs typeface="Inter" pitchFamily="34" charset="-120"/>
              </a:rPr>
              <a:t>3</a:t>
            </a:r>
            <a:endParaRPr lang="en-US" sz="1400" dirty="0"/>
          </a:p>
        </p:txBody>
      </p:sp>
      <p:sp>
        <p:nvSpPr>
          <p:cNvPr id="21" name="Text 18"/>
          <p:cNvSpPr/>
          <p:nvPr/>
        </p:nvSpPr>
        <p:spPr>
          <a:xfrm>
            <a:off x="2095500" y="3921671"/>
            <a:ext cx="444500" cy="444500"/>
          </a:xfrm>
          <a:custGeom>
            <a:avLst/>
            <a:gdLst/>
            <a:ahLst/>
            <a:cxnLst/>
            <a:rect l="l" t="t" r="r" b="b"/>
            <a:pathLst>
              <a:path w="444500" h="444500">
                <a:moveTo>
                  <a:pt x="222250" y="0"/>
                </a:moveTo>
                <a:lnTo>
                  <a:pt x="222250" y="0"/>
                </a:lnTo>
                <a:arcTo hR="222250" wR="222250" stAng="16200000" swAng="5400000"/>
                <a:lnTo>
                  <a:pt x="444500" y="222250"/>
                </a:lnTo>
                <a:arcTo hR="222250" wR="222250" stAng="0" swAng="5400000"/>
                <a:lnTo>
                  <a:pt x="222250" y="444500"/>
                </a:lnTo>
                <a:arcTo hR="222250" wR="222250" stAng="5400000" swAng="5400000"/>
                <a:lnTo>
                  <a:pt x="0" y="222250"/>
                </a:lnTo>
                <a:arcTo hR="222250" wR="222250" stAng="10800000" swAng="5400000"/>
                <a:close/>
              </a:path>
            </a:pathLst>
          </a:custGeom>
          <a:solidFill>
            <a:srgbClr val="E9E6FA"/>
          </a:solidFill>
          <a:ln/>
        </p:spPr>
        <p:txBody>
          <a:bodyPr wrap="square" lIns="0" tIns="0" rIns="0" bIns="0" rtlCol="0" anchor="t">
            <a:normAutofit/>
          </a:bodyPr>
          <a:lstStyle/>
          <a:p>
            <a:pPr algn="ctr" indent="0" marL="0">
              <a:lnSpc>
                <a:spcPts val="3500"/>
              </a:lnSpc>
              <a:buNone/>
            </a:pPr>
            <a:r>
              <a:rPr lang="en-US" sz="1400" b="1" dirty="0">
                <a:solidFill>
                  <a:srgbClr val="1B1840"/>
                </a:solidFill>
                <a:latin typeface="Inter" pitchFamily="34" charset="0"/>
                <a:ea typeface="Inter" pitchFamily="34" charset="-122"/>
                <a:cs typeface="Inter" pitchFamily="34" charset="-120"/>
              </a:rPr>
              <a:t>0</a:t>
            </a:r>
            <a:endParaRPr lang="en-US" sz="1400" dirty="0"/>
          </a:p>
        </p:txBody>
      </p:sp>
      <p:sp>
        <p:nvSpPr>
          <p:cNvPr id="22" name="Text 19"/>
          <p:cNvSpPr/>
          <p:nvPr/>
        </p:nvSpPr>
        <p:spPr>
          <a:xfrm>
            <a:off x="2768600" y="3921671"/>
            <a:ext cx="444500" cy="444500"/>
          </a:xfrm>
          <a:custGeom>
            <a:avLst/>
            <a:gdLst/>
            <a:ahLst/>
            <a:cxnLst/>
            <a:rect l="l" t="t" r="r" b="b"/>
            <a:pathLst>
              <a:path w="444500" h="444500">
                <a:moveTo>
                  <a:pt x="222250" y="0"/>
                </a:moveTo>
                <a:lnTo>
                  <a:pt x="222250" y="0"/>
                </a:lnTo>
                <a:arcTo hR="222250" wR="222250" stAng="16200000" swAng="5400000"/>
                <a:lnTo>
                  <a:pt x="444500" y="222250"/>
                </a:lnTo>
                <a:arcTo hR="222250" wR="222250" stAng="0" swAng="5400000"/>
                <a:lnTo>
                  <a:pt x="222250" y="444500"/>
                </a:lnTo>
                <a:arcTo hR="222250" wR="222250" stAng="5400000" swAng="5400000"/>
                <a:lnTo>
                  <a:pt x="0" y="222250"/>
                </a:lnTo>
                <a:arcTo hR="222250" wR="222250" stAng="10800000" swAng="5400000"/>
                <a:close/>
              </a:path>
            </a:pathLst>
          </a:custGeom>
          <a:solidFill>
            <a:srgbClr val="E9E6FA"/>
          </a:solidFill>
          <a:ln/>
        </p:spPr>
        <p:txBody>
          <a:bodyPr wrap="square" lIns="0" tIns="0" rIns="0" bIns="0" rtlCol="0" anchor="t">
            <a:normAutofit/>
          </a:bodyPr>
          <a:lstStyle/>
          <a:p>
            <a:pPr algn="ctr" indent="0" marL="0">
              <a:lnSpc>
                <a:spcPts val="3500"/>
              </a:lnSpc>
              <a:buNone/>
            </a:pPr>
            <a:r>
              <a:rPr lang="en-US" sz="1400" b="1" dirty="0">
                <a:solidFill>
                  <a:srgbClr val="1B1840"/>
                </a:solidFill>
                <a:latin typeface="Inter" pitchFamily="34" charset="0"/>
                <a:ea typeface="Inter" pitchFamily="34" charset="-122"/>
                <a:cs typeface="Inter" pitchFamily="34" charset="-120"/>
              </a:rPr>
              <a:t>1</a:t>
            </a:r>
            <a:endParaRPr lang="en-US" sz="1400" dirty="0"/>
          </a:p>
        </p:txBody>
      </p:sp>
      <p:sp>
        <p:nvSpPr>
          <p:cNvPr id="23" name="Text 20"/>
          <p:cNvSpPr/>
          <p:nvPr/>
        </p:nvSpPr>
        <p:spPr>
          <a:xfrm>
            <a:off x="3441700" y="3921671"/>
            <a:ext cx="444500" cy="444500"/>
          </a:xfrm>
          <a:custGeom>
            <a:avLst/>
            <a:gdLst/>
            <a:ahLst/>
            <a:cxnLst/>
            <a:rect l="l" t="t" r="r" b="b"/>
            <a:pathLst>
              <a:path w="444500" h="444500">
                <a:moveTo>
                  <a:pt x="222250" y="0"/>
                </a:moveTo>
                <a:lnTo>
                  <a:pt x="222250" y="0"/>
                </a:lnTo>
                <a:arcTo hR="222250" wR="222250" stAng="16200000" swAng="5400000"/>
                <a:lnTo>
                  <a:pt x="444500" y="222250"/>
                </a:lnTo>
                <a:arcTo hR="222250" wR="222250" stAng="0" swAng="5400000"/>
                <a:lnTo>
                  <a:pt x="222250" y="444500"/>
                </a:lnTo>
                <a:arcTo hR="222250" wR="222250" stAng="5400000" swAng="5400000"/>
                <a:lnTo>
                  <a:pt x="0" y="222250"/>
                </a:lnTo>
                <a:arcTo hR="222250" wR="222250" stAng="10800000" swAng="5400000"/>
                <a:close/>
              </a:path>
            </a:pathLst>
          </a:custGeom>
          <a:solidFill>
            <a:srgbClr val="E9E6FA"/>
          </a:solidFill>
          <a:ln/>
        </p:spPr>
        <p:txBody>
          <a:bodyPr wrap="square" lIns="0" tIns="0" rIns="0" bIns="0" rtlCol="0" anchor="t">
            <a:normAutofit/>
          </a:bodyPr>
          <a:lstStyle/>
          <a:p>
            <a:pPr algn="ctr" indent="0" marL="0">
              <a:lnSpc>
                <a:spcPts val="3500"/>
              </a:lnSpc>
              <a:buNone/>
            </a:pPr>
            <a:r>
              <a:rPr lang="en-US" sz="1400" b="1" dirty="0">
                <a:solidFill>
                  <a:srgbClr val="1B1840"/>
                </a:solidFill>
                <a:latin typeface="Inter" pitchFamily="34" charset="0"/>
                <a:ea typeface="Inter" pitchFamily="34" charset="-122"/>
                <a:cs typeface="Inter" pitchFamily="34" charset="-120"/>
              </a:rPr>
              <a:t>4</a:t>
            </a:r>
            <a:endParaRPr lang="en-US" sz="1400" dirty="0"/>
          </a:p>
        </p:txBody>
      </p:sp>
      <p:sp>
        <p:nvSpPr>
          <p:cNvPr id="24" name="Text 21"/>
          <p:cNvSpPr/>
          <p:nvPr/>
        </p:nvSpPr>
        <p:spPr>
          <a:xfrm>
            <a:off x="4114800" y="3921671"/>
            <a:ext cx="444500" cy="444500"/>
          </a:xfrm>
          <a:custGeom>
            <a:avLst/>
            <a:gdLst/>
            <a:ahLst/>
            <a:cxnLst/>
            <a:rect l="l" t="t" r="r" b="b"/>
            <a:pathLst>
              <a:path w="444500" h="444500">
                <a:moveTo>
                  <a:pt x="222250" y="0"/>
                </a:moveTo>
                <a:lnTo>
                  <a:pt x="222250" y="0"/>
                </a:lnTo>
                <a:arcTo hR="222250" wR="222250" stAng="16200000" swAng="5400000"/>
                <a:lnTo>
                  <a:pt x="444500" y="222250"/>
                </a:lnTo>
                <a:arcTo hR="222250" wR="222250" stAng="0" swAng="5400000"/>
                <a:lnTo>
                  <a:pt x="222250" y="444500"/>
                </a:lnTo>
                <a:arcTo hR="222250" wR="222250" stAng="5400000" swAng="5400000"/>
                <a:lnTo>
                  <a:pt x="0" y="222250"/>
                </a:lnTo>
                <a:arcTo hR="222250" wR="222250" stAng="10800000" swAng="5400000"/>
                <a:close/>
              </a:path>
            </a:pathLst>
          </a:custGeom>
          <a:solidFill>
            <a:srgbClr val="E9E6FA"/>
          </a:solidFill>
          <a:ln/>
        </p:spPr>
        <p:txBody>
          <a:bodyPr wrap="square" lIns="0" tIns="0" rIns="0" bIns="0" rtlCol="0" anchor="t">
            <a:normAutofit/>
          </a:bodyPr>
          <a:lstStyle/>
          <a:p>
            <a:pPr algn="ctr" indent="0" marL="0">
              <a:lnSpc>
                <a:spcPts val="3500"/>
              </a:lnSpc>
              <a:buNone/>
            </a:pPr>
            <a:r>
              <a:rPr lang="en-US" sz="1400" b="1" dirty="0">
                <a:solidFill>
                  <a:srgbClr val="1B1840"/>
                </a:solidFill>
                <a:latin typeface="Inter" pitchFamily="34" charset="0"/>
                <a:ea typeface="Inter" pitchFamily="34" charset="-122"/>
                <a:cs typeface="Inter" pitchFamily="34" charset="-120"/>
              </a:rPr>
              <a:t>1</a:t>
            </a:r>
            <a:endParaRPr lang="en-US" sz="1400" dirty="0"/>
          </a:p>
        </p:txBody>
      </p:sp>
      <p:sp>
        <p:nvSpPr>
          <p:cNvPr id="25" name="Text 22"/>
          <p:cNvSpPr/>
          <p:nvPr/>
        </p:nvSpPr>
        <p:spPr>
          <a:xfrm>
            <a:off x="2095500" y="4594771"/>
            <a:ext cx="444500" cy="444500"/>
          </a:xfrm>
          <a:custGeom>
            <a:avLst/>
            <a:gdLst/>
            <a:ahLst/>
            <a:cxnLst/>
            <a:rect l="l" t="t" r="r" b="b"/>
            <a:pathLst>
              <a:path w="444500" h="444500">
                <a:moveTo>
                  <a:pt x="222250" y="0"/>
                </a:moveTo>
                <a:lnTo>
                  <a:pt x="222250" y="0"/>
                </a:lnTo>
                <a:arcTo hR="222250" wR="222250" stAng="16200000" swAng="5400000"/>
                <a:lnTo>
                  <a:pt x="444500" y="222250"/>
                </a:lnTo>
                <a:arcTo hR="222250" wR="222250" stAng="0" swAng="5400000"/>
                <a:lnTo>
                  <a:pt x="222250" y="444500"/>
                </a:lnTo>
                <a:arcTo hR="222250" wR="222250" stAng="5400000" swAng="5400000"/>
                <a:lnTo>
                  <a:pt x="0" y="222250"/>
                </a:lnTo>
                <a:arcTo hR="222250" wR="222250" stAng="10800000" swAng="5400000"/>
                <a:close/>
              </a:path>
            </a:pathLst>
          </a:custGeom>
          <a:solidFill>
            <a:srgbClr val="E9E6FA"/>
          </a:solidFill>
          <a:ln/>
        </p:spPr>
        <p:txBody>
          <a:bodyPr wrap="square" lIns="0" tIns="0" rIns="0" bIns="0" rtlCol="0" anchor="t">
            <a:normAutofit/>
          </a:bodyPr>
          <a:lstStyle/>
          <a:p>
            <a:pPr algn="ctr" indent="0" marL="0">
              <a:lnSpc>
                <a:spcPts val="3500"/>
              </a:lnSpc>
              <a:buNone/>
            </a:pPr>
            <a:r>
              <a:rPr lang="en-US" sz="1400" b="1" dirty="0">
                <a:solidFill>
                  <a:srgbClr val="1B1840"/>
                </a:solidFill>
                <a:latin typeface="Inter" pitchFamily="34" charset="0"/>
                <a:ea typeface="Inter" pitchFamily="34" charset="-122"/>
                <a:cs typeface="Inter" pitchFamily="34" charset="-120"/>
              </a:rPr>
              <a:t>2</a:t>
            </a:r>
            <a:endParaRPr lang="en-US" sz="1400" dirty="0"/>
          </a:p>
        </p:txBody>
      </p:sp>
      <p:sp>
        <p:nvSpPr>
          <p:cNvPr id="26" name="Text 23"/>
          <p:cNvSpPr/>
          <p:nvPr/>
        </p:nvSpPr>
        <p:spPr>
          <a:xfrm>
            <a:off x="2768600" y="4594771"/>
            <a:ext cx="444500" cy="444500"/>
          </a:xfrm>
          <a:custGeom>
            <a:avLst/>
            <a:gdLst/>
            <a:ahLst/>
            <a:cxnLst/>
            <a:rect l="l" t="t" r="r" b="b"/>
            <a:pathLst>
              <a:path w="444500" h="444500">
                <a:moveTo>
                  <a:pt x="222250" y="0"/>
                </a:moveTo>
                <a:lnTo>
                  <a:pt x="222250" y="0"/>
                </a:lnTo>
                <a:arcTo hR="222250" wR="222250" stAng="16200000" swAng="5400000"/>
                <a:lnTo>
                  <a:pt x="444500" y="222250"/>
                </a:lnTo>
                <a:arcTo hR="222250" wR="222250" stAng="0" swAng="5400000"/>
                <a:lnTo>
                  <a:pt x="222250" y="444500"/>
                </a:lnTo>
                <a:arcTo hR="222250" wR="222250" stAng="5400000" swAng="5400000"/>
                <a:lnTo>
                  <a:pt x="0" y="222250"/>
                </a:lnTo>
                <a:arcTo hR="222250" wR="222250" stAng="10800000" swAng="5400000"/>
                <a:close/>
              </a:path>
            </a:pathLst>
          </a:custGeom>
          <a:solidFill>
            <a:srgbClr val="E9E6FA"/>
          </a:solidFill>
          <a:ln/>
        </p:spPr>
        <p:txBody>
          <a:bodyPr wrap="square" lIns="0" tIns="0" rIns="0" bIns="0" rtlCol="0" anchor="t">
            <a:normAutofit/>
          </a:bodyPr>
          <a:lstStyle/>
          <a:p>
            <a:pPr algn="ctr" indent="0" marL="0">
              <a:lnSpc>
                <a:spcPts val="3500"/>
              </a:lnSpc>
              <a:buNone/>
            </a:pPr>
            <a:r>
              <a:rPr lang="en-US" sz="1400" b="1" dirty="0">
                <a:solidFill>
                  <a:srgbClr val="1B1840"/>
                </a:solidFill>
                <a:latin typeface="Inter" pitchFamily="34" charset="0"/>
                <a:ea typeface="Inter" pitchFamily="34" charset="-122"/>
                <a:cs typeface="Inter" pitchFamily="34" charset="-120"/>
              </a:rPr>
              <a:t>3</a:t>
            </a:r>
            <a:endParaRPr lang="en-US" sz="1400" dirty="0"/>
          </a:p>
        </p:txBody>
      </p:sp>
      <p:sp>
        <p:nvSpPr>
          <p:cNvPr id="27" name="Text 24"/>
          <p:cNvSpPr/>
          <p:nvPr/>
        </p:nvSpPr>
        <p:spPr>
          <a:xfrm>
            <a:off x="3441700" y="4594771"/>
            <a:ext cx="444500" cy="444500"/>
          </a:xfrm>
          <a:custGeom>
            <a:avLst/>
            <a:gdLst/>
            <a:ahLst/>
            <a:cxnLst/>
            <a:rect l="l" t="t" r="r" b="b"/>
            <a:pathLst>
              <a:path w="444500" h="444500">
                <a:moveTo>
                  <a:pt x="222250" y="0"/>
                </a:moveTo>
                <a:lnTo>
                  <a:pt x="222250" y="0"/>
                </a:lnTo>
                <a:arcTo hR="222250" wR="222250" stAng="16200000" swAng="5400000"/>
                <a:lnTo>
                  <a:pt x="444500" y="222250"/>
                </a:lnTo>
                <a:arcTo hR="222250" wR="222250" stAng="0" swAng="5400000"/>
                <a:lnTo>
                  <a:pt x="222250" y="444500"/>
                </a:lnTo>
                <a:arcTo hR="222250" wR="222250" stAng="5400000" swAng="5400000"/>
                <a:lnTo>
                  <a:pt x="0" y="222250"/>
                </a:lnTo>
                <a:arcTo hR="222250" wR="222250" stAng="10800000" swAng="5400000"/>
                <a:close/>
              </a:path>
            </a:pathLst>
          </a:custGeom>
          <a:solidFill>
            <a:srgbClr val="E9E6FA"/>
          </a:solidFill>
          <a:ln/>
        </p:spPr>
        <p:txBody>
          <a:bodyPr wrap="square" lIns="0" tIns="0" rIns="0" bIns="0" rtlCol="0" anchor="t">
            <a:normAutofit/>
          </a:bodyPr>
          <a:lstStyle/>
          <a:p>
            <a:pPr algn="ctr" indent="0" marL="0">
              <a:lnSpc>
                <a:spcPts val="3500"/>
              </a:lnSpc>
              <a:buNone/>
            </a:pPr>
            <a:r>
              <a:rPr lang="en-US" sz="1400" b="1" dirty="0">
                <a:solidFill>
                  <a:srgbClr val="1B1840"/>
                </a:solidFill>
                <a:latin typeface="Inter" pitchFamily="34" charset="0"/>
                <a:ea typeface="Inter" pitchFamily="34" charset="-122"/>
                <a:cs typeface="Inter" pitchFamily="34" charset="-120"/>
              </a:rPr>
              <a:t>2</a:t>
            </a:r>
            <a:endParaRPr lang="en-US" sz="1400" dirty="0"/>
          </a:p>
        </p:txBody>
      </p:sp>
      <p:sp>
        <p:nvSpPr>
          <p:cNvPr id="28" name="Text 25"/>
          <p:cNvSpPr/>
          <p:nvPr/>
        </p:nvSpPr>
        <p:spPr>
          <a:xfrm>
            <a:off x="4114800" y="4594771"/>
            <a:ext cx="444500" cy="444500"/>
          </a:xfrm>
          <a:custGeom>
            <a:avLst/>
            <a:gdLst/>
            <a:ahLst/>
            <a:cxnLst/>
            <a:rect l="l" t="t" r="r" b="b"/>
            <a:pathLst>
              <a:path w="444500" h="444500">
                <a:moveTo>
                  <a:pt x="222250" y="0"/>
                </a:moveTo>
                <a:lnTo>
                  <a:pt x="222250" y="0"/>
                </a:lnTo>
                <a:arcTo hR="222250" wR="222250" stAng="16200000" swAng="5400000"/>
                <a:lnTo>
                  <a:pt x="444500" y="222250"/>
                </a:lnTo>
                <a:arcTo hR="222250" wR="222250" stAng="0" swAng="5400000"/>
                <a:lnTo>
                  <a:pt x="222250" y="444500"/>
                </a:lnTo>
                <a:arcTo hR="222250" wR="222250" stAng="5400000" swAng="5400000"/>
                <a:lnTo>
                  <a:pt x="0" y="222250"/>
                </a:lnTo>
                <a:arcTo hR="222250" wR="222250" stAng="10800000" swAng="5400000"/>
                <a:close/>
              </a:path>
            </a:pathLst>
          </a:custGeom>
          <a:solidFill>
            <a:srgbClr val="E9E6FA"/>
          </a:solidFill>
          <a:ln/>
        </p:spPr>
        <p:txBody>
          <a:bodyPr wrap="square" lIns="0" tIns="0" rIns="0" bIns="0" rtlCol="0" anchor="t">
            <a:normAutofit/>
          </a:bodyPr>
          <a:lstStyle/>
          <a:p>
            <a:pPr algn="ctr" indent="0" marL="0">
              <a:lnSpc>
                <a:spcPts val="3500"/>
              </a:lnSpc>
              <a:buNone/>
            </a:pPr>
            <a:r>
              <a:rPr lang="en-US" sz="1400" b="1" dirty="0">
                <a:solidFill>
                  <a:srgbClr val="1B1840"/>
                </a:solidFill>
                <a:latin typeface="Inter" pitchFamily="34" charset="0"/>
                <a:ea typeface="Inter" pitchFamily="34" charset="-122"/>
                <a:cs typeface="Inter" pitchFamily="34" charset="-120"/>
              </a:rPr>
              <a:t>3</a:t>
            </a:r>
            <a:endParaRPr lang="en-US" sz="1400" dirty="0"/>
          </a:p>
        </p:txBody>
      </p:sp>
      <p:sp>
        <p:nvSpPr>
          <p:cNvPr id="29" name="Text 26"/>
          <p:cNvSpPr/>
          <p:nvPr/>
        </p:nvSpPr>
        <p:spPr>
          <a:xfrm>
            <a:off x="1168400" y="5128171"/>
            <a:ext cx="44475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D6A8C"/>
                </a:solidFill>
                <a:latin typeface="Inter" pitchFamily="34" charset="0"/>
                <a:ea typeface="Inter" pitchFamily="34" charset="-122"/>
                <a:cs typeface="Inter" pitchFamily="34" charset="-120"/>
              </a:rPr>
              <a:t>Coral: Node_01 and Node_03 both hold slot 0, and both are in range of Node_02, which hears neither.</a:t>
            </a:r>
            <a:endParaRPr lang="en-US" sz="1200" dirty="0"/>
          </a:p>
        </p:txBody>
      </p:sp>
      <p:sp>
        <p:nvSpPr>
          <p:cNvPr id="30" name="Shape 27"/>
          <p:cNvSpPr/>
          <p:nvPr/>
        </p:nvSpPr>
        <p:spPr>
          <a:xfrm>
            <a:off x="6045200" y="1854150"/>
            <a:ext cx="5232400" cy="1056531"/>
          </a:xfrm>
          <a:prstGeom prst="roundRect">
            <a:avLst>
              <a:gd name="adj" fmla="val 14425"/>
            </a:avLst>
          </a:prstGeom>
          <a:solidFill>
            <a:srgbClr val="F4F3FB"/>
          </a:solidFill>
          <a:ln/>
        </p:spPr>
      </p:sp>
      <p:sp>
        <p:nvSpPr>
          <p:cNvPr id="31" name="Text 28"/>
          <p:cNvSpPr/>
          <p:nvPr/>
        </p:nvSpPr>
        <p:spPr>
          <a:xfrm>
            <a:off x="6248400" y="2031950"/>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5E54C4"/>
          </a:solidFill>
          <a:ln/>
        </p:spPr>
        <p:txBody>
          <a:bodyPr wrap="square" lIns="0" tIns="0" rIns="0" bIns="0" rtlCol="0" anchor="t">
            <a:normAutofit/>
          </a:bodyPr>
          <a:lstStyle/>
          <a:p>
            <a:pPr algn="ctr" indent="0" marL="0">
              <a:lnSpc>
                <a:spcPts val="2400"/>
              </a:lnSpc>
              <a:buNone/>
            </a:pPr>
            <a:r>
              <a:rPr lang="en-US" sz="1200" b="1" dirty="0">
                <a:solidFill>
                  <a:srgbClr val="FDFDFF"/>
                </a:solidFill>
                <a:latin typeface="Inter" pitchFamily="34" charset="0"/>
                <a:ea typeface="Inter" pitchFamily="34" charset="-122"/>
                <a:cs typeface="Inter" pitchFamily="34" charset="-120"/>
              </a:rPr>
              <a:t>1</a:t>
            </a:r>
            <a:endParaRPr lang="en-US" sz="1200" dirty="0"/>
          </a:p>
        </p:txBody>
      </p:sp>
      <p:sp>
        <p:nvSpPr>
          <p:cNvPr id="32" name="Text 29"/>
          <p:cNvSpPr/>
          <p:nvPr/>
        </p:nvSpPr>
        <p:spPr>
          <a:xfrm>
            <a:off x="6705600" y="2031950"/>
            <a:ext cx="449986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9 is forced at 500 m</a:t>
            </a:r>
            <a:endParaRPr lang="en-US" sz="1400" dirty="0"/>
          </a:p>
        </p:txBody>
      </p:sp>
      <p:sp>
        <p:nvSpPr>
          <p:cNvPr id="33" name="Text 30"/>
          <p:cNvSpPr/>
          <p:nvPr/>
        </p:nvSpPr>
        <p:spPr>
          <a:xfrm>
            <a:off x="6705600" y="2306241"/>
            <a:ext cx="44998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Diagonal neighbours (424 m) are in range, so an interior radio has 8 neighbours, and those 9 radios need 9 slots.</a:t>
            </a:r>
            <a:endParaRPr lang="en-US" sz="1200" dirty="0"/>
          </a:p>
        </p:txBody>
      </p:sp>
      <p:sp>
        <p:nvSpPr>
          <p:cNvPr id="34" name="Shape 31"/>
          <p:cNvSpPr/>
          <p:nvPr/>
        </p:nvSpPr>
        <p:spPr>
          <a:xfrm>
            <a:off x="6045200" y="3037681"/>
            <a:ext cx="5232400" cy="1056531"/>
          </a:xfrm>
          <a:prstGeom prst="roundRect">
            <a:avLst>
              <a:gd name="adj" fmla="val 14425"/>
            </a:avLst>
          </a:prstGeom>
          <a:solidFill>
            <a:srgbClr val="F4F3FB"/>
          </a:solidFill>
          <a:ln/>
        </p:spPr>
      </p:sp>
      <p:sp>
        <p:nvSpPr>
          <p:cNvPr id="35" name="Text 32"/>
          <p:cNvSpPr/>
          <p:nvPr/>
        </p:nvSpPr>
        <p:spPr>
          <a:xfrm>
            <a:off x="6248400" y="3215481"/>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5E54C4"/>
          </a:solidFill>
          <a:ln/>
        </p:spPr>
        <p:txBody>
          <a:bodyPr wrap="square" lIns="0" tIns="0" rIns="0" bIns="0" rtlCol="0" anchor="t">
            <a:normAutofit/>
          </a:bodyPr>
          <a:lstStyle/>
          <a:p>
            <a:pPr algn="ctr" indent="0" marL="0">
              <a:lnSpc>
                <a:spcPts val="2400"/>
              </a:lnSpc>
              <a:buNone/>
            </a:pPr>
            <a:r>
              <a:rPr lang="en-US" sz="1200" b="1" dirty="0">
                <a:solidFill>
                  <a:srgbClr val="FDFDFF"/>
                </a:solidFill>
                <a:latin typeface="Inter" pitchFamily="34" charset="0"/>
                <a:ea typeface="Inter" pitchFamily="34" charset="-122"/>
                <a:cs typeface="Inter" pitchFamily="34" charset="-120"/>
              </a:rPr>
              <a:t>2</a:t>
            </a:r>
            <a:endParaRPr lang="en-US" sz="1200" dirty="0"/>
          </a:p>
        </p:txBody>
      </p:sp>
      <p:sp>
        <p:nvSpPr>
          <p:cNvPr id="36" name="Text 33"/>
          <p:cNvSpPr/>
          <p:nvPr/>
        </p:nvSpPr>
        <p:spPr>
          <a:xfrm>
            <a:off x="6705600" y="3215481"/>
            <a:ext cx="449986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The sample collides on this grid</a:t>
            </a:r>
            <a:endParaRPr lang="en-US" sz="1400" dirty="0"/>
          </a:p>
        </p:txBody>
      </p:sp>
      <p:sp>
        <p:nvSpPr>
          <p:cNvPr id="37" name="Text 34"/>
          <p:cNvSpPr/>
          <p:nvPr/>
        </p:nvSpPr>
        <p:spPr>
          <a:xfrm>
            <a:off x="6705600" y="3489771"/>
            <a:ext cx="44998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It separates direct neighbours, but 21 two-hop pairs share a slot. I read it as a format example, not a target.</a:t>
            </a:r>
            <a:endParaRPr lang="en-US" sz="1200" dirty="0"/>
          </a:p>
        </p:txBody>
      </p:sp>
      <p:sp>
        <p:nvSpPr>
          <p:cNvPr id="38" name="Shape 35"/>
          <p:cNvSpPr/>
          <p:nvPr/>
        </p:nvSpPr>
        <p:spPr>
          <a:xfrm>
            <a:off x="6045200" y="4221212"/>
            <a:ext cx="5232400" cy="1056531"/>
          </a:xfrm>
          <a:prstGeom prst="roundRect">
            <a:avLst>
              <a:gd name="adj" fmla="val 14425"/>
            </a:avLst>
          </a:prstGeom>
          <a:solidFill>
            <a:srgbClr val="F4F3FB"/>
          </a:solidFill>
          <a:ln/>
        </p:spPr>
      </p:sp>
      <p:sp>
        <p:nvSpPr>
          <p:cNvPr id="39" name="Text 36"/>
          <p:cNvSpPr/>
          <p:nvPr/>
        </p:nvSpPr>
        <p:spPr>
          <a:xfrm>
            <a:off x="6248400" y="4399012"/>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5E54C4"/>
          </a:solidFill>
          <a:ln/>
        </p:spPr>
        <p:txBody>
          <a:bodyPr wrap="square" lIns="0" tIns="0" rIns="0" bIns="0" rtlCol="0" anchor="t">
            <a:normAutofit/>
          </a:bodyPr>
          <a:lstStyle/>
          <a:p>
            <a:pPr algn="ctr" indent="0" marL="0">
              <a:lnSpc>
                <a:spcPts val="2400"/>
              </a:lnSpc>
              <a:buNone/>
            </a:pPr>
            <a:r>
              <a:rPr lang="en-US" sz="1200" b="1" dirty="0">
                <a:solidFill>
                  <a:srgbClr val="FDFDFF"/>
                </a:solidFill>
                <a:latin typeface="Inter" pitchFamily="34" charset="0"/>
                <a:ea typeface="Inter" pitchFamily="34" charset="-122"/>
                <a:cs typeface="Inter" pitchFamily="34" charset="-120"/>
              </a:rPr>
              <a:t>3</a:t>
            </a:r>
            <a:endParaRPr lang="en-US" sz="1200" dirty="0"/>
          </a:p>
        </p:txBody>
      </p:sp>
      <p:sp>
        <p:nvSpPr>
          <p:cNvPr id="40" name="Text 37"/>
          <p:cNvSpPr/>
          <p:nvPr/>
        </p:nvSpPr>
        <p:spPr>
          <a:xfrm>
            <a:off x="6705600" y="4399012"/>
            <a:ext cx="449986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5 is right for a shorter range</a:t>
            </a:r>
            <a:endParaRPr lang="en-US" sz="1400" dirty="0"/>
          </a:p>
        </p:txBody>
      </p:sp>
      <p:sp>
        <p:nvSpPr>
          <p:cNvPr id="41" name="Text 38"/>
          <p:cNvSpPr/>
          <p:nvPr/>
        </p:nvSpPr>
        <p:spPr>
          <a:xfrm>
            <a:off x="6705600" y="4673302"/>
            <a:ext cx="44998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At 350 m there are no diagonal links, and the tool returns exactly 5 slots.</a:t>
            </a:r>
            <a:endParaRPr lang="en-US" sz="1200" dirty="0"/>
          </a:p>
        </p:txBody>
      </p:sp>
      <p:pic>
        <p:nvPicPr>
          <p:cNvPr id="42" name="Image 1" descr="Vaan Megam Networks">    </p:cNvPr>
          <p:cNvPicPr>
            <a:picLocks noChangeAspect="1"/>
          </p:cNvPicPr>
          <p:nvPr/>
        </p:nvPicPr>
        <p:blipFill>
          <a:blip r:embed="rId2"/>
          <a:srcRect l="0" r="0" t="-56" b="-56"/>
          <a:stretch/>
        </p:blipFill>
        <p:spPr>
          <a:xfrm>
            <a:off x="914400" y="6273800"/>
            <a:ext cx="628650" cy="177800"/>
          </a:xfrm>
          <a:prstGeom prst="rect">
            <a:avLst/>
          </a:prstGeom>
        </p:spPr>
      </p:pic>
      <p:sp>
        <p:nvSpPr>
          <p:cNvPr id="43" name="Text 39"/>
          <p:cNvSpPr/>
          <p:nvPr/>
        </p:nvSpPr>
        <p:spPr>
          <a:xfrm>
            <a:off x="1670050" y="6276380"/>
            <a:ext cx="5232400" cy="200620"/>
          </a:xfrm>
          <a:prstGeom prst="rect">
            <a:avLst/>
          </a:prstGeom>
          <a:noFill/>
          <a:ln/>
        </p:spPr>
        <p:txBody>
          <a:bodyPr wrap="square" lIns="0" tIns="0" rIns="0" bIns="0" rtlCol="0" anchor="t">
            <a:normAutofit/>
          </a:bodyPr>
          <a:lstStyle/>
          <a:p>
            <a:pPr algn="l" indent="0" marL="0">
              <a:lnSpc>
                <a:spcPts val="1380"/>
              </a:lnSpc>
              <a:buNone/>
            </a:pPr>
            <a:r>
              <a:rPr lang="en-US" sz="1200" dirty="0">
                <a:solidFill>
                  <a:srgbClr val="6D6A8C"/>
                </a:solidFill>
                <a:latin typeface="Inter" pitchFamily="34" charset="0"/>
                <a:ea typeface="Inter" pitchFamily="34" charset="-122"/>
                <a:cs typeface="Inter" pitchFamily="34" charset="-120"/>
              </a:rPr>
              <a:t>TDMA Schedule Optimizer</a:t>
            </a:r>
            <a:endParaRPr lang="en-US" sz="1200" dirty="0"/>
          </a:p>
        </p:txBody>
      </p:sp>
      <p:sp>
        <p:nvSpPr>
          <p:cNvPr id="44" name="Text 40"/>
          <p:cNvSpPr/>
          <p:nvPr/>
        </p:nvSpPr>
        <p:spPr>
          <a:xfrm>
            <a:off x="10464800" y="6276380"/>
            <a:ext cx="812800" cy="200620"/>
          </a:xfrm>
          <a:prstGeom prst="rect">
            <a:avLst/>
          </a:prstGeom>
          <a:noFill/>
          <a:ln/>
        </p:spPr>
        <p:txBody>
          <a:bodyPr wrap="square" lIns="0" tIns="0" rIns="0" bIns="0" rtlCol="0" anchor="t">
            <a:normAutofit/>
          </a:bodyPr>
          <a:lstStyle/>
          <a:p>
            <a:pPr algn="r" indent="0" marL="0">
              <a:lnSpc>
                <a:spcPts val="1380"/>
              </a:lnSpc>
              <a:buNone/>
            </a:pPr>
            <a:r>
              <a:rPr lang="en-US" sz="1200" dirty="0">
                <a:solidFill>
                  <a:srgbClr val="6D6A8C"/>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E9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CE9FA"/>
              </a:gs>
              <a:gs pos="100000">
                <a:srgbClr val="E4F2FB"/>
              </a:gs>
            </a:gsLst>
            <a:lin ang="2700000" scaled="0"/>
          </a:gradFill>
          <a:ln/>
        </p:spPr>
      </p:sp>
      <p:sp>
        <p:nvSpPr>
          <p:cNvPr id="3" name="Shape 1"/>
          <p:cNvSpPr/>
          <p:nvPr/>
        </p:nvSpPr>
        <p:spPr>
          <a:xfrm>
            <a:off x="304800" y="304800"/>
            <a:ext cx="11582400" cy="6248400"/>
          </a:xfrm>
          <a:prstGeom prst="roundRect">
            <a:avLst>
              <a:gd name="adj" fmla="val 3659"/>
            </a:avLst>
          </a:prstGeom>
          <a:solidFill>
            <a:srgbClr val="FDFDFF"/>
          </a:solidFill>
          <a:ln/>
          <a:effectLst>
            <a:outerShdw sx="100000" sy="100000" kx="0" ky="0" algn="bl" rotWithShape="0" blurRad="355600" dist="101600" dir="5400000">
              <a:srgbClr val="281E6E">
                <a:alpha val="10000"/>
              </a:srgbClr>
            </a:outerShdw>
          </a:effectLst>
        </p:spPr>
      </p:sp>
      <p:sp>
        <p:nvSpPr>
          <p:cNvPr id="4" name="Text 2"/>
          <p:cNvSpPr/>
          <p:nvPr/>
        </p:nvSpPr>
        <p:spPr>
          <a:xfrm>
            <a:off x="914400" y="81280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54C4"/>
                </a:solidFill>
                <a:latin typeface="Inter" pitchFamily="34" charset="0"/>
                <a:ea typeface="Inter" pitchFamily="34" charset="-122"/>
                <a:cs typeface="Inter" pitchFamily="34" charset="-120"/>
              </a:rPr>
              <a:t>PART 1 · VERIFICATION</a:t>
            </a:r>
            <a:endParaRPr lang="en-US" sz="1200" dirty="0"/>
          </a:p>
        </p:txBody>
      </p:sp>
      <p:sp>
        <p:nvSpPr>
          <p:cNvPr id="5" name="Text 3"/>
          <p:cNvSpPr/>
          <p:nvPr>
            <p:ph type="title"/>
          </p:nvPr>
        </p:nvSpPr>
        <p:spPr>
          <a:xfrm>
            <a:off x="914400" y="1102320"/>
            <a:ext cx="10674096" cy="47243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40"/>
                </a:solidFill>
                <a:latin typeface="Plus Jakarta Sans" pitchFamily="34" charset="0"/>
                <a:ea typeface="Plus Jakarta Sans" pitchFamily="34" charset="-122"/>
                <a:cs typeface="Plus Jakarta Sans" pitchFamily="34" charset="-120"/>
              </a:rPr>
              <a:t>Two independent checks on every schedule</a:t>
            </a:r>
            <a:endParaRPr lang="en-US" sz="3200" dirty="0"/>
          </a:p>
        </p:txBody>
      </p:sp>
      <p:sp>
        <p:nvSpPr>
          <p:cNvPr id="6" name="Shape 4"/>
          <p:cNvSpPr/>
          <p:nvPr/>
        </p:nvSpPr>
        <p:spPr>
          <a:xfrm>
            <a:off x="914400" y="1854150"/>
            <a:ext cx="5969000" cy="3378051"/>
          </a:xfrm>
          <a:prstGeom prst="roundRect">
            <a:avLst>
              <a:gd name="adj" fmla="val 5263"/>
            </a:avLst>
          </a:prstGeom>
          <a:solidFill>
            <a:srgbClr val="F4F3FB"/>
          </a:solidFill>
          <a:ln/>
        </p:spPr>
      </p:sp>
      <p:sp>
        <p:nvSpPr>
          <p:cNvPr id="7" name="Text 5"/>
          <p:cNvSpPr/>
          <p:nvPr/>
        </p:nvSpPr>
        <p:spPr>
          <a:xfrm>
            <a:off x="1168400" y="2108150"/>
            <a:ext cx="562483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Inside the tool: an independent validator</a:t>
            </a:r>
            <a:endParaRPr lang="en-US" sz="1400" dirty="0"/>
          </a:p>
        </p:txBody>
      </p:sp>
      <p:sp>
        <p:nvSpPr>
          <p:cNvPr id="8" name="Text 6"/>
          <p:cNvSpPr/>
          <p:nvPr/>
        </p:nvSpPr>
        <p:spPr>
          <a:xfrm>
            <a:off x="1168400" y="2484041"/>
            <a:ext cx="562483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Before printing, every pair of radios that shares a slot is re-checked from the raw coordinates: out of range of each other, and no common neighbour. It never reuses the conflict graph, so a bug there cannot hide a collision.</a:t>
            </a:r>
            <a:endParaRPr lang="en-US" sz="1200" dirty="0"/>
          </a:p>
        </p:txBody>
      </p:sp>
      <p:sp>
        <p:nvSpPr>
          <p:cNvPr id="9" name="Text 7"/>
          <p:cNvSpPr/>
          <p:nvPr/>
        </p:nvSpPr>
        <p:spPr>
          <a:xfrm>
            <a:off x="1168400" y="3251002"/>
            <a:ext cx="5461000" cy="1727200"/>
          </a:xfrm>
          <a:prstGeom prst="roundRect">
            <a:avLst>
              <a:gd name="adj" fmla="val 7353"/>
            </a:avLst>
          </a:prstGeom>
          <a:solidFill>
            <a:srgbClr val="1B1840"/>
          </a:solidFill>
          <a:ln/>
        </p:spPr>
        <p:txBody>
          <a:bodyPr wrap="square" lIns="166003" tIns="140603" rIns="14365" bIns="115203" rtlCol="0" anchor="t">
            <a:normAutofit/>
          </a:bodyPr>
          <a:lstStyle/>
          <a:p>
            <a:pPr algn="l" indent="0" marL="0">
              <a:lnSpc>
                <a:spcPts val="1800"/>
              </a:lnSpc>
              <a:buNone/>
            </a:pPr>
            <a:r>
              <a:rPr lang="en-US" sz="1200" dirty="0">
                <a:solidFill>
                  <a:srgbClr val="6FD3F7"/>
                </a:solidFill>
                <a:latin typeface="JetBrains Mono" pitchFamily="49" charset="0"/>
                <a:ea typeface="JetBrains Mono" pitchFamily="49" charset="-122"/>
                <a:cs typeface="JetBrains Mono" pitchFamily="49" charset="-120"/>
              </a:rPr>
              <a:t>$ python src/cli.py --file data/grid16.json</a:t>
            </a:r>
            <a:endParaRPr lang="en-US" sz="1200" dirty="0"/>
          </a:p>
          <a:p>
            <a:pPr algn="l" indent="0" marL="0">
              <a:lnSpc>
                <a:spcPts val="1800"/>
              </a:lnSpc>
              <a:buNone/>
            </a:pPr>
            <a:r>
              <a:rPr lang="en-US" sz="1200" dirty="0">
                <a:solidFill>
                  <a:srgbClr val="E4E1FF"/>
                </a:solidFill>
                <a:latin typeface="JetBrains Mono" pitchFamily="49" charset="0"/>
                <a:ea typeface="JetBrains Mono" pitchFamily="49" charset="-122"/>
                <a:cs typeface="JetBrains Mono" pitchFamily="49" charset="-120"/>
              </a:rPr>
              <a:t>Optimized Frame Length : 9 unique timeslots</a:t>
            </a:r>
            <a:endParaRPr lang="en-US" sz="1200" dirty="0"/>
          </a:p>
          <a:p>
            <a:pPr algn="l" indent="0" marL="0">
              <a:lnSpc>
                <a:spcPts val="1800"/>
              </a:lnSpc>
              <a:buNone/>
            </a:pPr>
            <a:r>
              <a:rPr lang="en-US" sz="1200" dirty="0">
                <a:solidFill>
                  <a:srgbClr val="E4E1FF"/>
                </a:solidFill>
                <a:latin typeface="JetBrains Mono" pitchFamily="49" charset="0"/>
                <a:ea typeface="JetBrains Mono" pitchFamily="49" charset="-122"/>
                <a:cs typeface="JetBrains Mono" pitchFamily="49" charset="-120"/>
              </a:rPr>
              <a:t>Heuristics Compared : DSATUR = 9, largest_first = 9</a:t>
            </a:r>
            <a:endParaRPr lang="en-US" sz="1200" dirty="0"/>
          </a:p>
          <a:p>
            <a:pPr algn="l" indent="0" marL="0">
              <a:lnSpc>
                <a:spcPts val="1800"/>
              </a:lnSpc>
              <a:buNone/>
            </a:pPr>
            <a:r>
              <a:rPr lang="en-US" sz="1200" dirty="0">
                <a:solidFill>
                  <a:srgbClr val="E4E1FF"/>
                </a:solidFill>
                <a:latin typeface="JetBrains Mono" pitchFamily="49" charset="0"/>
                <a:ea typeface="JetBrains Mono" pitchFamily="49" charset="-122"/>
                <a:cs typeface="JetBrains Mono" pitchFamily="49" charset="-120"/>
              </a:rPr>
              <a:t>Slot Lower Bound : 9 -&gt; schedule is optimal</a:t>
            </a:r>
            <a:endParaRPr lang="en-US" sz="1200" dirty="0"/>
          </a:p>
          <a:p>
            <a:pPr algn="l" indent="0" marL="0">
              <a:lnSpc>
                <a:spcPts val="1800"/>
              </a:lnSpc>
              <a:buNone/>
            </a:pPr>
            <a:r>
              <a:rPr lang="en-US" sz="1200" dirty="0">
                <a:solidFill>
                  <a:srgbClr val="E4E1FF"/>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4E1FF"/>
                </a:solidFill>
                <a:latin typeface="JetBrains Mono" pitchFamily="49" charset="0"/>
                <a:ea typeface="JetBrains Mono" pitchFamily="49" charset="-122"/>
                <a:cs typeface="JetBrains Mono" pitchFamily="49" charset="-120"/>
              </a:rPr>
              <a:t>Schedule verified conflict-free.</a:t>
            </a:r>
            <a:endParaRPr lang="en-US" sz="1200" dirty="0"/>
          </a:p>
        </p:txBody>
      </p:sp>
      <p:sp>
        <p:nvSpPr>
          <p:cNvPr id="10" name="Text 8"/>
          <p:cNvSpPr/>
          <p:nvPr/>
        </p:nvSpPr>
        <p:spPr>
          <a:xfrm>
            <a:off x="7188200" y="1878261"/>
            <a:ext cx="603290"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5E54C4"/>
                </a:solidFill>
                <a:latin typeface="Plus Jakarta Sans" pitchFamily="34" charset="0"/>
                <a:ea typeface="Plus Jakarta Sans" pitchFamily="34" charset="-122"/>
                <a:cs typeface="Plus Jakarta Sans" pitchFamily="34" charset="-120"/>
              </a:rPr>
              <a:t>98</a:t>
            </a:r>
            <a:endParaRPr lang="en-US" sz="3200" dirty="0"/>
          </a:p>
        </p:txBody>
      </p:sp>
      <p:sp>
        <p:nvSpPr>
          <p:cNvPr id="11" name="Text 9"/>
          <p:cNvSpPr/>
          <p:nvPr/>
        </p:nvSpPr>
        <p:spPr>
          <a:xfrm>
            <a:off x="7817941" y="1854150"/>
            <a:ext cx="172045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automated tests</a:t>
            </a:r>
            <a:endParaRPr lang="en-US" sz="1400" dirty="0"/>
          </a:p>
        </p:txBody>
      </p:sp>
      <p:sp>
        <p:nvSpPr>
          <p:cNvPr id="12" name="Text 10"/>
          <p:cNvSpPr/>
          <p:nvPr/>
        </p:nvSpPr>
        <p:spPr>
          <a:xfrm>
            <a:off x="7817941" y="2115741"/>
            <a:ext cx="20035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D6A8C"/>
                </a:solidFill>
                <a:latin typeface="Inter" pitchFamily="34" charset="0"/>
                <a:ea typeface="Inter" pitchFamily="34" charset="-122"/>
                <a:cs typeface="Inter" pitchFamily="34" charset="-120"/>
              </a:rPr>
              <a:t>Outside the tool: pytest</a:t>
            </a:r>
            <a:endParaRPr lang="en-US" sz="1200" dirty="0"/>
          </a:p>
        </p:txBody>
      </p:sp>
      <p:pic>
        <p:nvPicPr>
          <p:cNvPr id="13" name="Image 0" descr="CheckCircle">    </p:cNvPr>
          <p:cNvPicPr>
            <a:picLocks noChangeAspect="1"/>
          </p:cNvPicPr>
          <p:nvPr/>
        </p:nvPicPr>
        <p:blipFill>
          <a:blip r:embed="rId1"/>
          <a:srcRect l="0" r="0" t="0" b="0"/>
          <a:stretch/>
        </p:blipFill>
        <p:spPr>
          <a:xfrm>
            <a:off x="7188200" y="2481461"/>
            <a:ext cx="228600" cy="228600"/>
          </a:xfrm>
          <a:prstGeom prst="rect">
            <a:avLst/>
          </a:prstGeom>
        </p:spPr>
      </p:pic>
      <p:sp>
        <p:nvSpPr>
          <p:cNvPr id="14" name="Text 11"/>
          <p:cNvSpPr/>
          <p:nvPr/>
        </p:nvSpPr>
        <p:spPr>
          <a:xfrm>
            <a:off x="7518400" y="2489101"/>
            <a:ext cx="27221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840"/>
                </a:solidFill>
                <a:latin typeface="Inter" pitchFamily="34" charset="0"/>
                <a:ea typeface="Inter" pitchFamily="34" charset="-122"/>
                <a:cs typeface="Inter" pitchFamily="34" charset="-120"/>
              </a:rPr>
              <a:t>No links: every radio gets slot 0</a:t>
            </a:r>
            <a:endParaRPr lang="en-US" sz="1200" dirty="0"/>
          </a:p>
        </p:txBody>
      </p:sp>
      <p:pic>
        <p:nvPicPr>
          <p:cNvPr id="15" name="Image 1" descr="CheckCircle">    </p:cNvPr>
          <p:cNvPicPr>
            <a:picLocks noChangeAspect="1"/>
          </p:cNvPicPr>
          <p:nvPr/>
        </p:nvPicPr>
        <p:blipFill>
          <a:blip r:embed="rId2"/>
          <a:srcRect l="0" r="0" t="0" b="0"/>
          <a:stretch/>
        </p:blipFill>
        <p:spPr>
          <a:xfrm>
            <a:off x="7188200" y="2786261"/>
            <a:ext cx="228600" cy="228600"/>
          </a:xfrm>
          <a:prstGeom prst="rect">
            <a:avLst/>
          </a:prstGeom>
        </p:spPr>
      </p:pic>
      <p:sp>
        <p:nvSpPr>
          <p:cNvPr id="16" name="Text 12"/>
          <p:cNvSpPr/>
          <p:nvPr/>
        </p:nvSpPr>
        <p:spPr>
          <a:xfrm>
            <a:off x="7518400" y="2793901"/>
            <a:ext cx="31825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840"/>
                </a:solidFill>
                <a:latin typeface="Inter" pitchFamily="34" charset="0"/>
                <a:ea typeface="Inter" pitchFamily="34" charset="-122"/>
                <a:cs typeface="Inter" pitchFamily="34" charset="-120"/>
              </a:rPr>
              <a:t>Everyone in range: one slot per radio</a:t>
            </a:r>
            <a:endParaRPr lang="en-US" sz="1200" dirty="0"/>
          </a:p>
        </p:txBody>
      </p:sp>
      <p:pic>
        <p:nvPicPr>
          <p:cNvPr id="17" name="Image 2" descr="CheckCircle">    </p:cNvPr>
          <p:cNvPicPr>
            <a:picLocks noChangeAspect="1"/>
          </p:cNvPicPr>
          <p:nvPr/>
        </p:nvPicPr>
        <p:blipFill>
          <a:blip r:embed="rId3"/>
          <a:srcRect l="0" r="0" t="0" b="0"/>
          <a:stretch/>
        </p:blipFill>
        <p:spPr>
          <a:xfrm>
            <a:off x="7188200" y="3091061"/>
            <a:ext cx="228600" cy="228600"/>
          </a:xfrm>
          <a:prstGeom prst="rect">
            <a:avLst/>
          </a:prstGeom>
        </p:spPr>
      </p:pic>
      <p:sp>
        <p:nvSpPr>
          <p:cNvPr id="18" name="Text 13"/>
          <p:cNvSpPr/>
          <p:nvPr/>
        </p:nvSpPr>
        <p:spPr>
          <a:xfrm>
            <a:off x="7518400" y="3098701"/>
            <a:ext cx="27021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840"/>
                </a:solidFill>
                <a:latin typeface="Inter" pitchFamily="34" charset="0"/>
                <a:ea typeface="Inter" pitchFamily="34" charset="-122"/>
                <a:cs typeface="Inter" pitchFamily="34" charset="-120"/>
              </a:rPr>
              <a:t>A–B–C line: three different slots</a:t>
            </a:r>
            <a:endParaRPr lang="en-US" sz="1200" dirty="0"/>
          </a:p>
        </p:txBody>
      </p:sp>
      <p:pic>
        <p:nvPicPr>
          <p:cNvPr id="19" name="Image 3" descr="CheckCircle">    </p:cNvPr>
          <p:cNvPicPr>
            <a:picLocks noChangeAspect="1"/>
          </p:cNvPicPr>
          <p:nvPr/>
        </p:nvPicPr>
        <p:blipFill>
          <a:blip r:embed="rId4"/>
          <a:srcRect l="0" r="0" t="0" b="0"/>
          <a:stretch/>
        </p:blipFill>
        <p:spPr>
          <a:xfrm>
            <a:off x="7188200" y="3395861"/>
            <a:ext cx="228600" cy="228600"/>
          </a:xfrm>
          <a:prstGeom prst="rect">
            <a:avLst/>
          </a:prstGeom>
        </p:spPr>
      </p:pic>
      <p:sp>
        <p:nvSpPr>
          <p:cNvPr id="20" name="Text 14"/>
          <p:cNvSpPr/>
          <p:nvPr/>
        </p:nvSpPr>
        <p:spPr>
          <a:xfrm>
            <a:off x="7518400" y="3403501"/>
            <a:ext cx="310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840"/>
                </a:solidFill>
                <a:latin typeface="Inter" pitchFamily="34" charset="0"/>
                <a:ea typeface="Inter" pitchFamily="34" charset="-122"/>
                <a:cs typeface="Inter" pitchFamily="34" charset="-120"/>
              </a:rPr>
              <a:t>9-radio line: 3 slots, reuse at 3 hops</a:t>
            </a:r>
            <a:endParaRPr lang="en-US" sz="1200" dirty="0"/>
          </a:p>
        </p:txBody>
      </p:sp>
      <p:pic>
        <p:nvPicPr>
          <p:cNvPr id="21" name="Image 4" descr="CheckCircle">    </p:cNvPr>
          <p:cNvPicPr>
            <a:picLocks noChangeAspect="1"/>
          </p:cNvPicPr>
          <p:nvPr/>
        </p:nvPicPr>
        <p:blipFill>
          <a:blip r:embed="rId5"/>
          <a:srcRect l="0" r="0" t="0" b="0"/>
          <a:stretch/>
        </p:blipFill>
        <p:spPr>
          <a:xfrm>
            <a:off x="7188200" y="3700661"/>
            <a:ext cx="228600" cy="228600"/>
          </a:xfrm>
          <a:prstGeom prst="rect">
            <a:avLst/>
          </a:prstGeom>
        </p:spPr>
      </p:pic>
      <p:sp>
        <p:nvSpPr>
          <p:cNvPr id="22" name="Text 15"/>
          <p:cNvSpPr/>
          <p:nvPr/>
        </p:nvSpPr>
        <p:spPr>
          <a:xfrm>
            <a:off x="7518400" y="3708301"/>
            <a:ext cx="29480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840"/>
                </a:solidFill>
                <a:latin typeface="Inter" pitchFamily="34" charset="0"/>
                <a:ea typeface="Inter" pitchFamily="34" charset="-122"/>
                <a:cs typeface="Inter" pitchFamily="34" charset="-120"/>
              </a:rPr>
              <a:t>16-node grid: 9 slots, no collisions</a:t>
            </a:r>
            <a:endParaRPr lang="en-US" sz="1200" dirty="0"/>
          </a:p>
        </p:txBody>
      </p:sp>
      <p:pic>
        <p:nvPicPr>
          <p:cNvPr id="23" name="Image 5" descr="CheckCircle">    </p:cNvPr>
          <p:cNvPicPr>
            <a:picLocks noChangeAspect="1"/>
          </p:cNvPicPr>
          <p:nvPr/>
        </p:nvPicPr>
        <p:blipFill>
          <a:blip r:embed="rId6"/>
          <a:srcRect l="0" r="0" t="0" b="0"/>
          <a:stretch/>
        </p:blipFill>
        <p:spPr>
          <a:xfrm>
            <a:off x="7188200" y="4005461"/>
            <a:ext cx="228600" cy="228600"/>
          </a:xfrm>
          <a:prstGeom prst="rect">
            <a:avLst/>
          </a:prstGeom>
        </p:spPr>
      </p:pic>
      <p:sp>
        <p:nvSpPr>
          <p:cNvPr id="24" name="Text 16"/>
          <p:cNvSpPr/>
          <p:nvPr/>
        </p:nvSpPr>
        <p:spPr>
          <a:xfrm>
            <a:off x="7518400" y="4013101"/>
            <a:ext cx="28776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840"/>
                </a:solidFill>
                <a:latin typeface="Inter" pitchFamily="34" charset="0"/>
                <a:ea typeface="Inter" pitchFamily="34" charset="-122"/>
                <a:cs typeface="Inter" pitchFamily="34" charset="-120"/>
              </a:rPr>
              <a:t>Random layouts: never a collision</a:t>
            </a:r>
            <a:endParaRPr lang="en-US" sz="1200" dirty="0"/>
          </a:p>
        </p:txBody>
      </p:sp>
      <p:pic>
        <p:nvPicPr>
          <p:cNvPr id="25" name="Image 6" descr="CheckCircle">    </p:cNvPr>
          <p:cNvPicPr>
            <a:picLocks noChangeAspect="1"/>
          </p:cNvPicPr>
          <p:nvPr/>
        </p:nvPicPr>
        <p:blipFill>
          <a:blip r:embed="rId7"/>
          <a:srcRect l="0" r="0" t="0" b="0"/>
          <a:stretch/>
        </p:blipFill>
        <p:spPr>
          <a:xfrm>
            <a:off x="7188200" y="4310261"/>
            <a:ext cx="228600" cy="228600"/>
          </a:xfrm>
          <a:prstGeom prst="rect">
            <a:avLst/>
          </a:prstGeom>
        </p:spPr>
      </p:pic>
      <p:sp>
        <p:nvSpPr>
          <p:cNvPr id="26" name="Text 17"/>
          <p:cNvSpPr/>
          <p:nvPr/>
        </p:nvSpPr>
        <p:spPr>
          <a:xfrm>
            <a:off x="7518400" y="4317901"/>
            <a:ext cx="32243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840"/>
                </a:solidFill>
                <a:latin typeface="Inter" pitchFamily="34" charset="0"/>
                <a:ea typeface="Inter" pitchFamily="34" charset="-122"/>
                <a:cs typeface="Inter" pitchFamily="34" charset="-120"/>
              </a:rPr>
              <a:t>Validator catches both collision types</a:t>
            </a:r>
            <a:endParaRPr lang="en-US" sz="1200" dirty="0"/>
          </a:p>
        </p:txBody>
      </p:sp>
      <p:pic>
        <p:nvPicPr>
          <p:cNvPr id="27" name="Image 7" descr="CheckCircle">    </p:cNvPr>
          <p:cNvPicPr>
            <a:picLocks noChangeAspect="1"/>
          </p:cNvPicPr>
          <p:nvPr/>
        </p:nvPicPr>
        <p:blipFill>
          <a:blip r:embed="rId8"/>
          <a:srcRect l="0" r="0" t="0" b="0"/>
          <a:stretch/>
        </p:blipFill>
        <p:spPr>
          <a:xfrm>
            <a:off x="7188200" y="4615061"/>
            <a:ext cx="228600" cy="228600"/>
          </a:xfrm>
          <a:prstGeom prst="rect">
            <a:avLst/>
          </a:prstGeom>
        </p:spPr>
      </p:pic>
      <p:sp>
        <p:nvSpPr>
          <p:cNvPr id="28" name="Text 18"/>
          <p:cNvSpPr/>
          <p:nvPr/>
        </p:nvSpPr>
        <p:spPr>
          <a:xfrm>
            <a:off x="7518400" y="4622701"/>
            <a:ext cx="35677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840"/>
                </a:solidFill>
                <a:latin typeface="Inter" pitchFamily="34" charset="0"/>
                <a:ea typeface="Inter" pitchFamily="34" charset="-122"/>
                <a:cs typeface="Inter" pitchFamily="34" charset="-120"/>
              </a:rPr>
              <a:t>Hand-written DSATUR matches networkx</a:t>
            </a:r>
            <a:endParaRPr lang="en-US" sz="1200" dirty="0"/>
          </a:p>
        </p:txBody>
      </p:sp>
      <p:pic>
        <p:nvPicPr>
          <p:cNvPr id="29" name="Image 8" descr="CheckCircle">    </p:cNvPr>
          <p:cNvPicPr>
            <a:picLocks noChangeAspect="1"/>
          </p:cNvPicPr>
          <p:nvPr/>
        </p:nvPicPr>
        <p:blipFill>
          <a:blip r:embed="rId9"/>
          <a:srcRect l="0" r="0" t="0" b="0"/>
          <a:stretch/>
        </p:blipFill>
        <p:spPr>
          <a:xfrm>
            <a:off x="7188200" y="4919861"/>
            <a:ext cx="228600" cy="228600"/>
          </a:xfrm>
          <a:prstGeom prst="rect">
            <a:avLst/>
          </a:prstGeom>
        </p:spPr>
      </p:pic>
      <p:sp>
        <p:nvSpPr>
          <p:cNvPr id="30" name="Text 19"/>
          <p:cNvSpPr/>
          <p:nvPr/>
        </p:nvSpPr>
        <p:spPr>
          <a:xfrm>
            <a:off x="7518400" y="4927501"/>
            <a:ext cx="3503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840"/>
                </a:solidFill>
                <a:latin typeface="Inter" pitchFamily="34" charset="0"/>
                <a:ea typeface="Inter" pitchFamily="34" charset="-122"/>
                <a:cs typeface="Inter" pitchFamily="34" charset="-120"/>
              </a:rPr>
              <a:t>EMANE bridge lists the right transmitters</a:t>
            </a:r>
            <a:endParaRPr lang="en-US" sz="1200" dirty="0"/>
          </a:p>
        </p:txBody>
      </p:sp>
      <p:pic>
        <p:nvPicPr>
          <p:cNvPr id="31" name="Image 9" descr="Vaan Megam Networks">    </p:cNvPr>
          <p:cNvPicPr>
            <a:picLocks noChangeAspect="1"/>
          </p:cNvPicPr>
          <p:nvPr/>
        </p:nvPicPr>
        <p:blipFill>
          <a:blip r:embed="rId10"/>
          <a:srcRect l="0" r="0" t="-56" b="-56"/>
          <a:stretch/>
        </p:blipFill>
        <p:spPr>
          <a:xfrm>
            <a:off x="914400" y="6273800"/>
            <a:ext cx="628650" cy="177800"/>
          </a:xfrm>
          <a:prstGeom prst="rect">
            <a:avLst/>
          </a:prstGeom>
        </p:spPr>
      </p:pic>
      <p:sp>
        <p:nvSpPr>
          <p:cNvPr id="32" name="Text 20"/>
          <p:cNvSpPr/>
          <p:nvPr/>
        </p:nvSpPr>
        <p:spPr>
          <a:xfrm>
            <a:off x="1670050" y="6276380"/>
            <a:ext cx="5232400" cy="200620"/>
          </a:xfrm>
          <a:prstGeom prst="rect">
            <a:avLst/>
          </a:prstGeom>
          <a:noFill/>
          <a:ln/>
        </p:spPr>
        <p:txBody>
          <a:bodyPr wrap="square" lIns="0" tIns="0" rIns="0" bIns="0" rtlCol="0" anchor="t">
            <a:normAutofit/>
          </a:bodyPr>
          <a:lstStyle/>
          <a:p>
            <a:pPr algn="l" indent="0" marL="0">
              <a:lnSpc>
                <a:spcPts val="1380"/>
              </a:lnSpc>
              <a:buNone/>
            </a:pPr>
            <a:r>
              <a:rPr lang="en-US" sz="1200" dirty="0">
                <a:solidFill>
                  <a:srgbClr val="6D6A8C"/>
                </a:solidFill>
                <a:latin typeface="Inter" pitchFamily="34" charset="0"/>
                <a:ea typeface="Inter" pitchFamily="34" charset="-122"/>
                <a:cs typeface="Inter" pitchFamily="34" charset="-120"/>
              </a:rPr>
              <a:t>TDMA Schedule Optimizer</a:t>
            </a:r>
            <a:endParaRPr lang="en-US" sz="1200" dirty="0"/>
          </a:p>
        </p:txBody>
      </p:sp>
      <p:sp>
        <p:nvSpPr>
          <p:cNvPr id="33" name="Text 21"/>
          <p:cNvSpPr/>
          <p:nvPr/>
        </p:nvSpPr>
        <p:spPr>
          <a:xfrm>
            <a:off x="10464800" y="6276380"/>
            <a:ext cx="812800" cy="200620"/>
          </a:xfrm>
          <a:prstGeom prst="rect">
            <a:avLst/>
          </a:prstGeom>
          <a:noFill/>
          <a:ln/>
        </p:spPr>
        <p:txBody>
          <a:bodyPr wrap="square" lIns="0" tIns="0" rIns="0" bIns="0" rtlCol="0" anchor="t">
            <a:normAutofit/>
          </a:bodyPr>
          <a:lstStyle/>
          <a:p>
            <a:pPr algn="r" indent="0" marL="0">
              <a:lnSpc>
                <a:spcPts val="1380"/>
              </a:lnSpc>
              <a:buNone/>
            </a:pPr>
            <a:r>
              <a:rPr lang="en-US" sz="1200" dirty="0">
                <a:solidFill>
                  <a:srgbClr val="6D6A8C"/>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43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7143A"/>
              </a:gs>
              <a:gs pos="58000">
                <a:srgbClr val="262062"/>
              </a:gs>
              <a:gs pos="100000">
                <a:srgbClr val="1D4A72"/>
              </a:gs>
            </a:gsLst>
            <a:lin ang="2700000" scaled="0"/>
          </a:gradFill>
          <a:ln/>
        </p:spPr>
      </p:sp>
      <p:pic>
        <p:nvPicPr>
          <p:cNvPr id="3"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4" name="Text 1"/>
          <p:cNvSpPr/>
          <p:nvPr/>
        </p:nvSpPr>
        <p:spPr>
          <a:xfrm>
            <a:off x="812800" y="1687909"/>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6FD3F7"/>
                </a:solidFill>
                <a:latin typeface="Plus Jakarta Sans" pitchFamily="34" charset="0"/>
                <a:ea typeface="Plus Jakarta Sans" pitchFamily="34" charset="-122"/>
                <a:cs typeface="Plus Jakarta Sans" pitchFamily="34" charset="-120"/>
              </a:rPr>
              <a:t>02</a:t>
            </a:r>
            <a:endParaRPr lang="en-US" sz="6000" dirty="0"/>
          </a:p>
        </p:txBody>
      </p:sp>
      <p:sp>
        <p:nvSpPr>
          <p:cNvPr id="5" name="Text 2"/>
          <p:cNvSpPr/>
          <p:nvPr/>
        </p:nvSpPr>
        <p:spPr>
          <a:xfrm>
            <a:off x="812800" y="262770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A5D6"/>
                </a:solidFill>
                <a:latin typeface="Inter" pitchFamily="34" charset="0"/>
                <a:ea typeface="Inter" pitchFamily="34" charset="-122"/>
                <a:cs typeface="Inter" pitchFamily="34" charset="-120"/>
              </a:rPr>
              <a:t>PART 2 · BONUS, APPROACH-WEIGHTED</a:t>
            </a:r>
            <a:endParaRPr lang="en-US" sz="1200" dirty="0"/>
          </a:p>
        </p:txBody>
      </p:sp>
      <p:sp>
        <p:nvSpPr>
          <p:cNvPr id="6" name="Text 3"/>
          <p:cNvSpPr/>
          <p:nvPr>
            <p:ph type="title"/>
          </p:nvPr>
        </p:nvSpPr>
        <p:spPr>
          <a:xfrm>
            <a:off x="812800" y="301883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50" kern="0" dirty="0">
                <a:solidFill>
                  <a:srgbClr val="F5F4FC"/>
                </a:solidFill>
                <a:latin typeface="Plus Jakarta Sans" pitchFamily="34" charset="0"/>
                <a:ea typeface="Plus Jakarta Sans" pitchFamily="34" charset="-122"/>
                <a:cs typeface="Plus Jakarta Sans" pitchFamily="34" charset="-120"/>
              </a:rPr>
              <a:t>EMANE emulation</a:t>
            </a:r>
            <a:endParaRPr lang="en-US" sz="6000" dirty="0"/>
          </a:p>
        </p:txBody>
      </p:sp>
      <p:sp>
        <p:nvSpPr>
          <p:cNvPr id="7" name="Text 4"/>
          <p:cNvSpPr/>
          <p:nvPr/>
        </p:nvSpPr>
        <p:spPr>
          <a:xfrm>
            <a:off x="812800" y="3996730"/>
            <a:ext cx="8175625"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9C6E8"/>
                </a:solidFill>
                <a:latin typeface="Inter" pitchFamily="34" charset="0"/>
                <a:ea typeface="Inter" pitchFamily="34" charset="-122"/>
                <a:cs typeface="Inter" pitchFamily="34" charset="-120"/>
              </a:rPr>
              <a:t>16 TDMA radios in one Docker container, running the Part 1 schedule, with every packet counted.</a:t>
            </a:r>
            <a:endParaRPr lang="en-US" sz="1800" dirty="0"/>
          </a:p>
        </p:txBody>
      </p:sp>
      <p:sp>
        <p:nvSpPr>
          <p:cNvPr id="8" name="Text 5"/>
          <p:cNvSpPr/>
          <p:nvPr/>
        </p:nvSpPr>
        <p:spPr>
          <a:xfrm>
            <a:off x="815975" y="4794845"/>
            <a:ext cx="1257052" cy="372070"/>
          </a:xfrm>
          <a:prstGeom prst="roundRect">
            <a:avLst>
              <a:gd name="adj" fmla="val 50000"/>
            </a:avLst>
          </a:prstGeom>
          <a:solidFill>
            <a:srgbClr val="FFFFFF">
              <a:alpha val="8000"/>
            </a:srgbClr>
          </a:solidFill>
          <a:ln w="6350">
            <a:solidFill>
              <a:srgbClr val="FFFFFF">
                <a:alpha val="16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E4E1FF"/>
                </a:solidFill>
                <a:latin typeface="Inter" pitchFamily="34" charset="0"/>
                <a:ea typeface="Inter" pitchFamily="34" charset="-122"/>
                <a:cs typeface="Inter" pitchFamily="34" charset="-120"/>
              </a:rPr>
              <a:t>EMANE 1.5.3</a:t>
            </a:r>
            <a:endParaRPr lang="en-US" sz="1200" dirty="0"/>
          </a:p>
        </p:txBody>
      </p:sp>
      <p:sp>
        <p:nvSpPr>
          <p:cNvPr id="9" name="Text 6"/>
          <p:cNvSpPr/>
          <p:nvPr/>
        </p:nvSpPr>
        <p:spPr>
          <a:xfrm>
            <a:off x="2180977" y="4794845"/>
            <a:ext cx="2208262" cy="372070"/>
          </a:xfrm>
          <a:prstGeom prst="roundRect">
            <a:avLst>
              <a:gd name="adj" fmla="val 50000"/>
            </a:avLst>
          </a:prstGeom>
          <a:solidFill>
            <a:srgbClr val="FFFFFF">
              <a:alpha val="8000"/>
            </a:srgbClr>
          </a:solidFill>
          <a:ln w="6350">
            <a:solidFill>
              <a:srgbClr val="FFFFFF">
                <a:alpha val="16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E4E1FF"/>
                </a:solidFill>
                <a:latin typeface="Inter" pitchFamily="34" charset="0"/>
                <a:ea typeface="Inter" pitchFamily="34" charset="-122"/>
                <a:cs typeface="Inter" pitchFamily="34" charset="-120"/>
              </a:rPr>
              <a:t>Native TDMA radio model</a:t>
            </a:r>
            <a:endParaRPr lang="en-US" sz="1200" dirty="0"/>
          </a:p>
        </p:txBody>
      </p:sp>
      <p:sp>
        <p:nvSpPr>
          <p:cNvPr id="10" name="Text 7"/>
          <p:cNvSpPr/>
          <p:nvPr/>
        </p:nvSpPr>
        <p:spPr>
          <a:xfrm>
            <a:off x="4497189" y="4794845"/>
            <a:ext cx="1033810" cy="372070"/>
          </a:xfrm>
          <a:prstGeom prst="roundRect">
            <a:avLst>
              <a:gd name="adj" fmla="val 50000"/>
            </a:avLst>
          </a:prstGeom>
          <a:solidFill>
            <a:srgbClr val="FFFFFF">
              <a:alpha val="8000"/>
            </a:srgbClr>
          </a:solidFill>
          <a:ln w="6350">
            <a:solidFill>
              <a:srgbClr val="FFFFFF">
                <a:alpha val="16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E4E1FF"/>
                </a:solidFill>
                <a:latin typeface="Inter" pitchFamily="34" charset="0"/>
                <a:ea typeface="Inter" pitchFamily="34" charset="-122"/>
                <a:cs typeface="Inter" pitchFamily="34" charset="-120"/>
              </a:rPr>
              <a:t>1 ms slots</a:t>
            </a:r>
            <a:endParaRPr lang="en-US" sz="1200" dirty="0"/>
          </a:p>
        </p:txBody>
      </p:sp>
      <p:sp>
        <p:nvSpPr>
          <p:cNvPr id="11" name="Text 8"/>
          <p:cNvSpPr/>
          <p:nvPr/>
        </p:nvSpPr>
        <p:spPr>
          <a:xfrm>
            <a:off x="5638949" y="4794845"/>
            <a:ext cx="1643459" cy="372070"/>
          </a:xfrm>
          <a:prstGeom prst="roundRect">
            <a:avLst>
              <a:gd name="adj" fmla="val 50000"/>
            </a:avLst>
          </a:prstGeom>
          <a:solidFill>
            <a:srgbClr val="FFFFFF">
              <a:alpha val="8000"/>
            </a:srgbClr>
          </a:solidFill>
          <a:ln w="6350">
            <a:solidFill>
              <a:srgbClr val="FFFFFF">
                <a:alpha val="16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E4E1FF"/>
                </a:solidFill>
                <a:latin typeface="Inter" pitchFamily="34" charset="0"/>
                <a:ea typeface="Inter" pitchFamily="34" charset="-122"/>
                <a:cs typeface="Inter" pitchFamily="34" charset="-120"/>
              </a:rPr>
              <a:t>Integration bridge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CE9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CE9FA"/>
              </a:gs>
              <a:gs pos="100000">
                <a:srgbClr val="E4F2FB"/>
              </a:gs>
            </a:gsLst>
            <a:lin ang="2700000" scaled="0"/>
          </a:gradFill>
          <a:ln/>
        </p:spPr>
      </p:sp>
      <p:sp>
        <p:nvSpPr>
          <p:cNvPr id="3" name="Shape 1"/>
          <p:cNvSpPr/>
          <p:nvPr/>
        </p:nvSpPr>
        <p:spPr>
          <a:xfrm>
            <a:off x="304800" y="304800"/>
            <a:ext cx="11582400" cy="6248400"/>
          </a:xfrm>
          <a:prstGeom prst="roundRect">
            <a:avLst>
              <a:gd name="adj" fmla="val 3659"/>
            </a:avLst>
          </a:prstGeom>
          <a:solidFill>
            <a:srgbClr val="FDFDFF"/>
          </a:solidFill>
          <a:ln/>
          <a:effectLst>
            <a:outerShdw sx="100000" sy="100000" kx="0" ky="0" algn="bl" rotWithShape="0" blurRad="355600" dist="101600" dir="5400000">
              <a:srgbClr val="281E6E">
                <a:alpha val="10000"/>
              </a:srgbClr>
            </a:outerShdw>
          </a:effectLst>
        </p:spPr>
      </p:sp>
      <p:sp>
        <p:nvSpPr>
          <p:cNvPr id="4" name="Text 2"/>
          <p:cNvSpPr/>
          <p:nvPr/>
        </p:nvSpPr>
        <p:spPr>
          <a:xfrm>
            <a:off x="914400" y="81280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54C4"/>
                </a:solidFill>
                <a:latin typeface="Inter" pitchFamily="34" charset="0"/>
                <a:ea typeface="Inter" pitchFamily="34" charset="-122"/>
                <a:cs typeface="Inter" pitchFamily="34" charset="-120"/>
              </a:rPr>
              <a:t>PART 2 · SETUP</a:t>
            </a:r>
            <a:endParaRPr lang="en-US" sz="1200" dirty="0"/>
          </a:p>
        </p:txBody>
      </p:sp>
      <p:sp>
        <p:nvSpPr>
          <p:cNvPr id="5" name="Text 3"/>
          <p:cNvSpPr/>
          <p:nvPr>
            <p:ph type="title"/>
          </p:nvPr>
        </p:nvSpPr>
        <p:spPr>
          <a:xfrm>
            <a:off x="914400" y="1102320"/>
            <a:ext cx="10674096" cy="47243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40"/>
                </a:solidFill>
                <a:latin typeface="Plus Jakarta Sans" pitchFamily="34" charset="0"/>
                <a:ea typeface="Plus Jakarta Sans" pitchFamily="34" charset="-122"/>
                <a:cs typeface="Plus Jakarta Sans" pitchFamily="34" charset="-120"/>
              </a:rPr>
              <a:t>16 EMANE radios in one container</a:t>
            </a:r>
            <a:endParaRPr lang="en-US" sz="3200" dirty="0"/>
          </a:p>
        </p:txBody>
      </p:sp>
      <p:sp>
        <p:nvSpPr>
          <p:cNvPr id="6" name="Shape 4"/>
          <p:cNvSpPr/>
          <p:nvPr/>
        </p:nvSpPr>
        <p:spPr>
          <a:xfrm>
            <a:off x="920750" y="1860500"/>
            <a:ext cx="10350500" cy="3860800"/>
          </a:xfrm>
          <a:prstGeom prst="roundRect">
            <a:avLst>
              <a:gd name="adj" fmla="val 4441"/>
            </a:avLst>
          </a:prstGeom>
          <a:solidFill>
            <a:srgbClr val="F6F5FC"/>
          </a:solidFill>
          <a:ln w="12700">
            <a:solidFill>
              <a:srgbClr val="B9B4DD"/>
            </a:solidFill>
            <a:prstDash val="dash"/>
          </a:ln>
        </p:spPr>
      </p:sp>
      <p:sp>
        <p:nvSpPr>
          <p:cNvPr id="7" name="Text 5"/>
          <p:cNvSpPr/>
          <p:nvPr/>
        </p:nvSpPr>
        <p:spPr>
          <a:xfrm>
            <a:off x="1117600" y="1993850"/>
            <a:ext cx="719455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5E54C4"/>
                </a:solidFill>
                <a:latin typeface="Inter" pitchFamily="34" charset="0"/>
                <a:ea typeface="Inter" pitchFamily="34" charset="-122"/>
                <a:cs typeface="Inter" pitchFamily="34" charset="-120"/>
              </a:rPr>
              <a:t>Docker container (privileged) · EMANE 1.5.3 built from source</a:t>
            </a:r>
            <a:endParaRPr lang="en-US" sz="1200" dirty="0"/>
          </a:p>
        </p:txBody>
      </p:sp>
      <p:sp>
        <p:nvSpPr>
          <p:cNvPr id="8" name="Shape 6"/>
          <p:cNvSpPr/>
          <p:nvPr/>
        </p:nvSpPr>
        <p:spPr>
          <a:xfrm>
            <a:off x="1301750" y="2343100"/>
            <a:ext cx="2654300" cy="939800"/>
          </a:xfrm>
          <a:prstGeom prst="roundRect">
            <a:avLst>
              <a:gd name="adj" fmla="val 11486"/>
            </a:avLst>
          </a:prstGeom>
          <a:solidFill>
            <a:srgbClr val="FDFDFF"/>
          </a:solidFill>
          <a:ln w="12700">
            <a:solidFill>
              <a:srgbClr val="CFCBE8"/>
            </a:solidFill>
            <a:prstDash val="solid"/>
          </a:ln>
        </p:spPr>
      </p:sp>
      <p:sp>
        <p:nvSpPr>
          <p:cNvPr id="9" name="Text 7"/>
          <p:cNvSpPr/>
          <p:nvPr/>
        </p:nvSpPr>
        <p:spPr>
          <a:xfrm>
            <a:off x="1485900" y="2569170"/>
            <a:ext cx="23545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Part 1 optimizer</a:t>
            </a:r>
            <a:endParaRPr lang="en-US" sz="1400" dirty="0"/>
          </a:p>
        </p:txBody>
      </p:sp>
      <p:sp>
        <p:nvSpPr>
          <p:cNvPr id="10" name="Text 8"/>
          <p:cNvSpPr/>
          <p:nvPr/>
        </p:nvSpPr>
        <p:spPr>
          <a:xfrm>
            <a:off x="1485900" y="2843461"/>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coordinates → node-slot map</a:t>
            </a:r>
            <a:endParaRPr lang="en-US" sz="1200" dirty="0"/>
          </a:p>
        </p:txBody>
      </p:sp>
      <p:sp>
        <p:nvSpPr>
          <p:cNvPr id="11" name="Shape 9"/>
          <p:cNvSpPr/>
          <p:nvPr/>
        </p:nvSpPr>
        <p:spPr>
          <a:xfrm>
            <a:off x="4768850" y="2343100"/>
            <a:ext cx="2654300" cy="939800"/>
          </a:xfrm>
          <a:prstGeom prst="roundRect">
            <a:avLst>
              <a:gd name="adj" fmla="val 11486"/>
            </a:avLst>
          </a:prstGeom>
          <a:solidFill>
            <a:srgbClr val="FDFDFF"/>
          </a:solidFill>
          <a:ln w="12700">
            <a:solidFill>
              <a:srgbClr val="CFCBE8"/>
            </a:solidFill>
            <a:prstDash val="solid"/>
          </a:ln>
        </p:spPr>
      </p:sp>
      <p:sp>
        <p:nvSpPr>
          <p:cNvPr id="12" name="Text 10"/>
          <p:cNvSpPr/>
          <p:nvPr/>
        </p:nvSpPr>
        <p:spPr>
          <a:xfrm>
            <a:off x="4953000" y="2476450"/>
            <a:ext cx="2354580" cy="264021"/>
          </a:xfrm>
          <a:prstGeom prst="rect">
            <a:avLst/>
          </a:prstGeom>
          <a:noFill/>
          <a:ln/>
        </p:spPr>
        <p:txBody>
          <a:bodyPr wrap="square" lIns="0" tIns="0" rIns="0" bIns="0" rtlCol="0" anchor="t">
            <a:normAutofit/>
          </a:bodyPr>
          <a:lstStyle/>
          <a:p>
            <a:pPr algn="l" indent="0" marL="0">
              <a:lnSpc>
                <a:spcPts val="1923"/>
              </a:lnSpc>
              <a:buNone/>
            </a:pPr>
            <a:r>
              <a:rPr lang="en-US" sz="1374" b="1" dirty="0">
                <a:solidFill>
                  <a:srgbClr val="1B1840"/>
                </a:solidFill>
                <a:latin typeface="Inter" pitchFamily="34" charset="0"/>
                <a:ea typeface="Inter" pitchFamily="34" charset="-122"/>
                <a:cs typeface="Inter" pitchFamily="34" charset="-120"/>
              </a:rPr>
              <a:t>bridge.py</a:t>
            </a:r>
            <a:endParaRPr lang="en-US" sz="1374" dirty="0"/>
          </a:p>
        </p:txBody>
      </p:sp>
      <p:sp>
        <p:nvSpPr>
          <p:cNvPr id="13" name="Text 11"/>
          <p:cNvSpPr/>
          <p:nvPr/>
        </p:nvSpPr>
        <p:spPr>
          <a:xfrm>
            <a:off x="4953000" y="2740471"/>
            <a:ext cx="2463800" cy="434479"/>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7456A"/>
                </a:solidFill>
                <a:latin typeface="Inter" pitchFamily="34" charset="0"/>
                <a:ea typeface="Inter" pitchFamily="34" charset="-122"/>
                <a:cs typeface="Inter" pitchFamily="34" charset="-120"/>
              </a:rPr>
              <a:t>node-slot map → schedule XML</a:t>
            </a:r>
            <a:endParaRPr lang="en-US" sz="1185" dirty="0"/>
          </a:p>
        </p:txBody>
      </p:sp>
      <p:sp>
        <p:nvSpPr>
          <p:cNvPr id="14" name="Shape 12"/>
          <p:cNvSpPr/>
          <p:nvPr/>
        </p:nvSpPr>
        <p:spPr>
          <a:xfrm>
            <a:off x="8235950" y="2343100"/>
            <a:ext cx="2654300" cy="939800"/>
          </a:xfrm>
          <a:prstGeom prst="roundRect">
            <a:avLst>
              <a:gd name="adj" fmla="val 11486"/>
            </a:avLst>
          </a:prstGeom>
          <a:solidFill>
            <a:srgbClr val="FDFDFF"/>
          </a:solidFill>
          <a:ln w="12700">
            <a:solidFill>
              <a:srgbClr val="CFCBE8"/>
            </a:solidFill>
            <a:prstDash val="solid"/>
          </a:ln>
        </p:spPr>
      </p:sp>
      <p:sp>
        <p:nvSpPr>
          <p:cNvPr id="15" name="Text 13"/>
          <p:cNvSpPr/>
          <p:nvPr/>
        </p:nvSpPr>
        <p:spPr>
          <a:xfrm>
            <a:off x="8420100" y="2569170"/>
            <a:ext cx="23545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pathloss.py</a:t>
            </a:r>
            <a:endParaRPr lang="en-US" sz="1400" dirty="0"/>
          </a:p>
        </p:txBody>
      </p:sp>
      <p:sp>
        <p:nvSpPr>
          <p:cNvPr id="16" name="Text 14"/>
          <p:cNvSpPr/>
          <p:nvPr/>
        </p:nvSpPr>
        <p:spPr>
          <a:xfrm>
            <a:off x="8420100" y="2843461"/>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500 m rule → pathloss events</a:t>
            </a:r>
            <a:endParaRPr lang="en-US" sz="1200" dirty="0"/>
          </a:p>
        </p:txBody>
      </p:sp>
      <p:sp>
        <p:nvSpPr>
          <p:cNvPr id="17" name="Text 15"/>
          <p:cNvSpPr/>
          <p:nvPr/>
        </p:nvSpPr>
        <p:spPr>
          <a:xfrm>
            <a:off x="1301750" y="3765500"/>
            <a:ext cx="9588500" cy="469900"/>
          </a:xfrm>
          <a:prstGeom prst="roundRect">
            <a:avLst>
              <a:gd name="adj" fmla="val 20270"/>
            </a:avLst>
          </a:prstGeom>
          <a:solidFill>
            <a:srgbClr val="E9E6FA"/>
          </a:solidFill>
          <a:ln w="12700">
            <a:solidFill>
              <a:srgbClr val="5E54C4"/>
            </a:solidFill>
            <a:prstDash val="solid"/>
          </a:ln>
        </p:spPr>
        <p:txBody>
          <a:bodyPr wrap="square" lIns="0" tIns="0" rIns="0" bIns="0" rtlCol="0" anchor="ctr">
            <a:normAutofit/>
          </a:bodyPr>
          <a:lstStyle/>
          <a:p>
            <a:pPr algn="ctr" indent="0" marL="0">
              <a:lnSpc>
                <a:spcPts val="1960"/>
              </a:lnSpc>
              <a:buNone/>
            </a:pPr>
            <a:r>
              <a:rPr lang="en-US" sz="1400" b="1" dirty="0">
                <a:solidFill>
                  <a:srgbClr val="1B1840"/>
                </a:solidFill>
                <a:latin typeface="Inter" pitchFamily="34" charset="0"/>
                <a:ea typeface="Inter" pitchFamily="34" charset="-122"/>
                <a:cs typeface="Inter" pitchFamily="34" charset="-120"/>
              </a:rPr>
              <a:t>Linux bridge emanebr: EMANE event channel + over-the-air channel (multicast)</a:t>
            </a:r>
            <a:endParaRPr lang="en-US" sz="1400" dirty="0"/>
          </a:p>
        </p:txBody>
      </p:sp>
      <p:sp>
        <p:nvSpPr>
          <p:cNvPr id="18" name="Shape 16"/>
          <p:cNvSpPr/>
          <p:nvPr/>
        </p:nvSpPr>
        <p:spPr>
          <a:xfrm>
            <a:off x="1301750" y="4527500"/>
            <a:ext cx="2400300" cy="1130300"/>
          </a:xfrm>
          <a:prstGeom prst="roundRect">
            <a:avLst>
              <a:gd name="adj" fmla="val 9551"/>
            </a:avLst>
          </a:prstGeom>
          <a:solidFill>
            <a:srgbClr val="FDFDFF"/>
          </a:solidFill>
          <a:ln w="12700">
            <a:solidFill>
              <a:srgbClr val="CFCBE8"/>
            </a:solidFill>
            <a:prstDash val="solid"/>
          </a:ln>
        </p:spPr>
      </p:sp>
      <p:sp>
        <p:nvSpPr>
          <p:cNvPr id="19" name="Text 17"/>
          <p:cNvSpPr/>
          <p:nvPr/>
        </p:nvSpPr>
        <p:spPr>
          <a:xfrm>
            <a:off x="1460500" y="4648150"/>
            <a:ext cx="2145284" cy="263624"/>
          </a:xfrm>
          <a:prstGeom prst="rect">
            <a:avLst/>
          </a:prstGeom>
          <a:noFill/>
          <a:ln/>
        </p:spPr>
        <p:txBody>
          <a:bodyPr wrap="square" lIns="0" tIns="0" rIns="0" bIns="0" rtlCol="0" anchor="t">
            <a:normAutofit/>
          </a:bodyPr>
          <a:lstStyle/>
          <a:p>
            <a:pPr algn="l" indent="0" marL="0">
              <a:lnSpc>
                <a:spcPts val="1923"/>
              </a:lnSpc>
              <a:buNone/>
            </a:pPr>
            <a:r>
              <a:rPr lang="en-US" sz="1374" b="1" dirty="0">
                <a:solidFill>
                  <a:srgbClr val="1B1840"/>
                </a:solidFill>
                <a:latin typeface="Inter" pitchFamily="34" charset="0"/>
                <a:ea typeface="Inter" pitchFamily="34" charset="-122"/>
                <a:cs typeface="Inter" pitchFamily="34" charset="-120"/>
              </a:rPr>
              <a:t>namespace node1</a:t>
            </a:r>
            <a:endParaRPr lang="en-US" sz="1374" dirty="0"/>
          </a:p>
        </p:txBody>
      </p:sp>
      <p:sp>
        <p:nvSpPr>
          <p:cNvPr id="20" name="Text 18"/>
          <p:cNvSpPr/>
          <p:nvPr/>
        </p:nvSpPr>
        <p:spPr>
          <a:xfrm>
            <a:off x="1460500" y="4899075"/>
            <a:ext cx="2145284" cy="229592"/>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7456A"/>
                </a:solidFill>
                <a:latin typeface="Inter" pitchFamily="34" charset="0"/>
                <a:ea typeface="Inter" pitchFamily="34" charset="-122"/>
                <a:cs typeface="Inter" pitchFamily="34" charset="-120"/>
              </a:rPr>
              <a:t>EMANE TDMA radio, NEM 1</a:t>
            </a:r>
            <a:endParaRPr lang="en-US" sz="1159" dirty="0"/>
          </a:p>
        </p:txBody>
      </p:sp>
      <p:sp>
        <p:nvSpPr>
          <p:cNvPr id="21" name="Text 19"/>
          <p:cNvSpPr/>
          <p:nvPr/>
        </p:nvSpPr>
        <p:spPr>
          <a:xfrm>
            <a:off x="1460500" y="5115967"/>
            <a:ext cx="2145284" cy="229642"/>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7456A"/>
                </a:solidFill>
                <a:latin typeface="JetBrains Mono" pitchFamily="49" charset="0"/>
                <a:ea typeface="JetBrains Mono" pitchFamily="49" charset="-122"/>
                <a:cs typeface="JetBrains Mono" pitchFamily="49" charset="-120"/>
              </a:rPr>
              <a:t>emane0 10.100.0.1</a:t>
            </a:r>
            <a:endParaRPr lang="en-US" sz="1159" dirty="0"/>
          </a:p>
        </p:txBody>
      </p:sp>
      <p:sp>
        <p:nvSpPr>
          <p:cNvPr id="22" name="Text 20"/>
          <p:cNvSpPr/>
          <p:nvPr/>
        </p:nvSpPr>
        <p:spPr>
          <a:xfrm>
            <a:off x="1460500" y="5332909"/>
            <a:ext cx="2145284" cy="229642"/>
          </a:xfrm>
          <a:prstGeom prst="rect">
            <a:avLst/>
          </a:prstGeom>
          <a:noFill/>
          <a:ln/>
        </p:spPr>
        <p:txBody>
          <a:bodyPr wrap="square" lIns="0" tIns="0" rIns="0" bIns="0" rtlCol="0" anchor="t">
            <a:normAutofit/>
          </a:bodyPr>
          <a:lstStyle/>
          <a:p>
            <a:pPr algn="l" indent="0" marL="0">
              <a:lnSpc>
                <a:spcPts val="1622"/>
              </a:lnSpc>
              <a:buNone/>
            </a:pPr>
            <a:r>
              <a:rPr lang="en-US" sz="1159" i="1" dirty="0">
                <a:solidFill>
                  <a:srgbClr val="6D6A8C"/>
                </a:solidFill>
                <a:latin typeface="Inter" pitchFamily="34" charset="0"/>
                <a:ea typeface="Inter" pitchFamily="34" charset="-122"/>
                <a:cs typeface="Inter" pitchFamily="34" charset="-120"/>
              </a:rPr>
              <a:t>traffic.py probe</a:t>
            </a:r>
            <a:endParaRPr lang="en-US" sz="1159" dirty="0"/>
          </a:p>
        </p:txBody>
      </p:sp>
      <p:sp>
        <p:nvSpPr>
          <p:cNvPr id="23" name="Shape 21"/>
          <p:cNvSpPr/>
          <p:nvPr/>
        </p:nvSpPr>
        <p:spPr>
          <a:xfrm>
            <a:off x="3968750" y="4527500"/>
            <a:ext cx="2400300" cy="1130300"/>
          </a:xfrm>
          <a:prstGeom prst="roundRect">
            <a:avLst>
              <a:gd name="adj" fmla="val 9551"/>
            </a:avLst>
          </a:prstGeom>
          <a:solidFill>
            <a:srgbClr val="FDFDFF"/>
          </a:solidFill>
          <a:ln w="12700">
            <a:solidFill>
              <a:srgbClr val="CFCBE8"/>
            </a:solidFill>
            <a:prstDash val="solid"/>
          </a:ln>
        </p:spPr>
      </p:sp>
      <p:sp>
        <p:nvSpPr>
          <p:cNvPr id="24" name="Text 22"/>
          <p:cNvSpPr/>
          <p:nvPr/>
        </p:nvSpPr>
        <p:spPr>
          <a:xfrm>
            <a:off x="4127500" y="4648150"/>
            <a:ext cx="2145284" cy="263624"/>
          </a:xfrm>
          <a:prstGeom prst="rect">
            <a:avLst/>
          </a:prstGeom>
          <a:noFill/>
          <a:ln/>
        </p:spPr>
        <p:txBody>
          <a:bodyPr wrap="square" lIns="0" tIns="0" rIns="0" bIns="0" rtlCol="0" anchor="t">
            <a:normAutofit/>
          </a:bodyPr>
          <a:lstStyle/>
          <a:p>
            <a:pPr algn="l" indent="0" marL="0">
              <a:lnSpc>
                <a:spcPts val="1923"/>
              </a:lnSpc>
              <a:buNone/>
            </a:pPr>
            <a:r>
              <a:rPr lang="en-US" sz="1374" b="1" dirty="0">
                <a:solidFill>
                  <a:srgbClr val="1B1840"/>
                </a:solidFill>
                <a:latin typeface="Inter" pitchFamily="34" charset="0"/>
                <a:ea typeface="Inter" pitchFamily="34" charset="-122"/>
                <a:cs typeface="Inter" pitchFamily="34" charset="-120"/>
              </a:rPr>
              <a:t>namespace node2</a:t>
            </a:r>
            <a:endParaRPr lang="en-US" sz="1374" dirty="0"/>
          </a:p>
        </p:txBody>
      </p:sp>
      <p:sp>
        <p:nvSpPr>
          <p:cNvPr id="25" name="Text 23"/>
          <p:cNvSpPr/>
          <p:nvPr/>
        </p:nvSpPr>
        <p:spPr>
          <a:xfrm>
            <a:off x="4127500" y="4899075"/>
            <a:ext cx="2145284" cy="229592"/>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7456A"/>
                </a:solidFill>
                <a:latin typeface="Inter" pitchFamily="34" charset="0"/>
                <a:ea typeface="Inter" pitchFamily="34" charset="-122"/>
                <a:cs typeface="Inter" pitchFamily="34" charset="-120"/>
              </a:rPr>
              <a:t>EMANE TDMA radio, NEM 2</a:t>
            </a:r>
            <a:endParaRPr lang="en-US" sz="1159" dirty="0"/>
          </a:p>
        </p:txBody>
      </p:sp>
      <p:sp>
        <p:nvSpPr>
          <p:cNvPr id="26" name="Text 24"/>
          <p:cNvSpPr/>
          <p:nvPr/>
        </p:nvSpPr>
        <p:spPr>
          <a:xfrm>
            <a:off x="4127500" y="5115967"/>
            <a:ext cx="2145284" cy="229642"/>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7456A"/>
                </a:solidFill>
                <a:latin typeface="JetBrains Mono" pitchFamily="49" charset="0"/>
                <a:ea typeface="JetBrains Mono" pitchFamily="49" charset="-122"/>
                <a:cs typeface="JetBrains Mono" pitchFamily="49" charset="-120"/>
              </a:rPr>
              <a:t>emane0 10.100.0.2</a:t>
            </a:r>
            <a:endParaRPr lang="en-US" sz="1159" dirty="0"/>
          </a:p>
        </p:txBody>
      </p:sp>
      <p:sp>
        <p:nvSpPr>
          <p:cNvPr id="27" name="Text 25"/>
          <p:cNvSpPr/>
          <p:nvPr/>
        </p:nvSpPr>
        <p:spPr>
          <a:xfrm>
            <a:off x="4127500" y="5332909"/>
            <a:ext cx="2145284" cy="229642"/>
          </a:xfrm>
          <a:prstGeom prst="rect">
            <a:avLst/>
          </a:prstGeom>
          <a:noFill/>
          <a:ln/>
        </p:spPr>
        <p:txBody>
          <a:bodyPr wrap="square" lIns="0" tIns="0" rIns="0" bIns="0" rtlCol="0" anchor="t">
            <a:normAutofit/>
          </a:bodyPr>
          <a:lstStyle/>
          <a:p>
            <a:pPr algn="l" indent="0" marL="0">
              <a:lnSpc>
                <a:spcPts val="1622"/>
              </a:lnSpc>
              <a:buNone/>
            </a:pPr>
            <a:r>
              <a:rPr lang="en-US" sz="1159" i="1" dirty="0">
                <a:solidFill>
                  <a:srgbClr val="6D6A8C"/>
                </a:solidFill>
                <a:latin typeface="Inter" pitchFamily="34" charset="0"/>
                <a:ea typeface="Inter" pitchFamily="34" charset="-122"/>
                <a:cs typeface="Inter" pitchFamily="34" charset="-120"/>
              </a:rPr>
              <a:t>traffic.py probe</a:t>
            </a:r>
            <a:endParaRPr lang="en-US" sz="1159" dirty="0"/>
          </a:p>
        </p:txBody>
      </p:sp>
      <p:sp>
        <p:nvSpPr>
          <p:cNvPr id="28" name="Shape 26"/>
          <p:cNvSpPr/>
          <p:nvPr/>
        </p:nvSpPr>
        <p:spPr>
          <a:xfrm>
            <a:off x="8489950" y="4527500"/>
            <a:ext cx="2400300" cy="1130300"/>
          </a:xfrm>
          <a:prstGeom prst="roundRect">
            <a:avLst>
              <a:gd name="adj" fmla="val 9551"/>
            </a:avLst>
          </a:prstGeom>
          <a:solidFill>
            <a:srgbClr val="FDFDFF"/>
          </a:solidFill>
          <a:ln w="12700">
            <a:solidFill>
              <a:srgbClr val="CFCBE8"/>
            </a:solidFill>
            <a:prstDash val="solid"/>
          </a:ln>
        </p:spPr>
      </p:sp>
      <p:sp>
        <p:nvSpPr>
          <p:cNvPr id="29" name="Text 27"/>
          <p:cNvSpPr/>
          <p:nvPr/>
        </p:nvSpPr>
        <p:spPr>
          <a:xfrm>
            <a:off x="8648700" y="4648150"/>
            <a:ext cx="2145284" cy="263624"/>
          </a:xfrm>
          <a:prstGeom prst="rect">
            <a:avLst/>
          </a:prstGeom>
          <a:noFill/>
          <a:ln/>
        </p:spPr>
        <p:txBody>
          <a:bodyPr wrap="square" lIns="0" tIns="0" rIns="0" bIns="0" rtlCol="0" anchor="t">
            <a:normAutofit/>
          </a:bodyPr>
          <a:lstStyle/>
          <a:p>
            <a:pPr algn="l" indent="0" marL="0">
              <a:lnSpc>
                <a:spcPts val="1923"/>
              </a:lnSpc>
              <a:buNone/>
            </a:pPr>
            <a:r>
              <a:rPr lang="en-US" sz="1374" b="1" dirty="0">
                <a:solidFill>
                  <a:srgbClr val="1B1840"/>
                </a:solidFill>
                <a:latin typeface="Inter" pitchFamily="34" charset="0"/>
                <a:ea typeface="Inter" pitchFamily="34" charset="-122"/>
                <a:cs typeface="Inter" pitchFamily="34" charset="-120"/>
              </a:rPr>
              <a:t>namespace node16</a:t>
            </a:r>
            <a:endParaRPr lang="en-US" sz="1374" dirty="0"/>
          </a:p>
        </p:txBody>
      </p:sp>
      <p:sp>
        <p:nvSpPr>
          <p:cNvPr id="30" name="Text 28"/>
          <p:cNvSpPr/>
          <p:nvPr/>
        </p:nvSpPr>
        <p:spPr>
          <a:xfrm>
            <a:off x="8648700" y="4899075"/>
            <a:ext cx="2145284" cy="229592"/>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7456A"/>
                </a:solidFill>
                <a:latin typeface="Inter" pitchFamily="34" charset="0"/>
                <a:ea typeface="Inter" pitchFamily="34" charset="-122"/>
                <a:cs typeface="Inter" pitchFamily="34" charset="-120"/>
              </a:rPr>
              <a:t>EMANE TDMA radio, NEM 16</a:t>
            </a:r>
            <a:endParaRPr lang="en-US" sz="1159" dirty="0"/>
          </a:p>
        </p:txBody>
      </p:sp>
      <p:sp>
        <p:nvSpPr>
          <p:cNvPr id="31" name="Text 29"/>
          <p:cNvSpPr/>
          <p:nvPr/>
        </p:nvSpPr>
        <p:spPr>
          <a:xfrm>
            <a:off x="8648700" y="5115967"/>
            <a:ext cx="2145284" cy="229642"/>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7456A"/>
                </a:solidFill>
                <a:latin typeface="JetBrains Mono" pitchFamily="49" charset="0"/>
                <a:ea typeface="JetBrains Mono" pitchFamily="49" charset="-122"/>
                <a:cs typeface="JetBrains Mono" pitchFamily="49" charset="-120"/>
              </a:rPr>
              <a:t>emane0 10.100.0.16</a:t>
            </a:r>
            <a:endParaRPr lang="en-US" sz="1159" dirty="0"/>
          </a:p>
        </p:txBody>
      </p:sp>
      <p:sp>
        <p:nvSpPr>
          <p:cNvPr id="32" name="Text 30"/>
          <p:cNvSpPr/>
          <p:nvPr/>
        </p:nvSpPr>
        <p:spPr>
          <a:xfrm>
            <a:off x="8648700" y="5332909"/>
            <a:ext cx="2145284" cy="229642"/>
          </a:xfrm>
          <a:prstGeom prst="rect">
            <a:avLst/>
          </a:prstGeom>
          <a:noFill/>
          <a:ln/>
        </p:spPr>
        <p:txBody>
          <a:bodyPr wrap="square" lIns="0" tIns="0" rIns="0" bIns="0" rtlCol="0" anchor="t">
            <a:normAutofit/>
          </a:bodyPr>
          <a:lstStyle/>
          <a:p>
            <a:pPr algn="l" indent="0" marL="0">
              <a:lnSpc>
                <a:spcPts val="1622"/>
              </a:lnSpc>
              <a:buNone/>
            </a:pPr>
            <a:r>
              <a:rPr lang="en-US" sz="1159" i="1" dirty="0">
                <a:solidFill>
                  <a:srgbClr val="6D6A8C"/>
                </a:solidFill>
                <a:latin typeface="Inter" pitchFamily="34" charset="0"/>
                <a:ea typeface="Inter" pitchFamily="34" charset="-122"/>
                <a:cs typeface="Inter" pitchFamily="34" charset="-120"/>
              </a:rPr>
              <a:t>traffic.py probe</a:t>
            </a:r>
            <a:endParaRPr lang="en-US" sz="1159" dirty="0"/>
          </a:p>
        </p:txBody>
      </p:sp>
      <p:pic>
        <p:nvPicPr>
          <p:cNvPr id="33" name="Image 0" descr="connector">    </p:cNvPr>
          <p:cNvPicPr>
            <a:picLocks noChangeAspect="1"/>
          </p:cNvPicPr>
          <p:nvPr/>
        </p:nvPicPr>
        <p:blipFill>
          <a:blip r:embed="rId1"/>
          <a:srcRect l="0" r="0" t="0" b="0"/>
          <a:stretch/>
        </p:blipFill>
        <p:spPr>
          <a:xfrm>
            <a:off x="3911600" y="2762200"/>
            <a:ext cx="901700" cy="101600"/>
          </a:xfrm>
          <a:prstGeom prst="rect">
            <a:avLst/>
          </a:prstGeom>
        </p:spPr>
      </p:pic>
      <p:pic>
        <p:nvPicPr>
          <p:cNvPr id="34" name="Image 1" descr="connector">    </p:cNvPr>
          <p:cNvPicPr>
            <a:picLocks noChangeAspect="1"/>
          </p:cNvPicPr>
          <p:nvPr/>
        </p:nvPicPr>
        <p:blipFill>
          <a:blip r:embed="rId2"/>
          <a:srcRect l="0" r="0" t="0" b="0"/>
          <a:stretch/>
        </p:blipFill>
        <p:spPr>
          <a:xfrm>
            <a:off x="6045200" y="3238450"/>
            <a:ext cx="101600" cy="571500"/>
          </a:xfrm>
          <a:prstGeom prst="rect">
            <a:avLst/>
          </a:prstGeom>
        </p:spPr>
      </p:pic>
      <p:pic>
        <p:nvPicPr>
          <p:cNvPr id="35" name="Image 2" descr="connector">    </p:cNvPr>
          <p:cNvPicPr>
            <a:picLocks noChangeAspect="1"/>
          </p:cNvPicPr>
          <p:nvPr/>
        </p:nvPicPr>
        <p:blipFill>
          <a:blip r:embed="rId3"/>
          <a:srcRect l="0" r="0" t="0" b="0"/>
          <a:stretch/>
        </p:blipFill>
        <p:spPr>
          <a:xfrm>
            <a:off x="9512300" y="3238450"/>
            <a:ext cx="101600" cy="571500"/>
          </a:xfrm>
          <a:prstGeom prst="rect">
            <a:avLst/>
          </a:prstGeom>
        </p:spPr>
      </p:pic>
      <p:pic>
        <p:nvPicPr>
          <p:cNvPr id="36" name="Image 3" descr="connector">    </p:cNvPr>
          <p:cNvPicPr>
            <a:picLocks noChangeAspect="1"/>
          </p:cNvPicPr>
          <p:nvPr/>
        </p:nvPicPr>
        <p:blipFill>
          <a:blip r:embed="rId4"/>
          <a:srcRect l="0" r="0" t="0" b="0"/>
          <a:stretch/>
        </p:blipFill>
        <p:spPr>
          <a:xfrm>
            <a:off x="2451100" y="4190950"/>
            <a:ext cx="101600" cy="381000"/>
          </a:xfrm>
          <a:prstGeom prst="rect">
            <a:avLst/>
          </a:prstGeom>
        </p:spPr>
      </p:pic>
      <p:pic>
        <p:nvPicPr>
          <p:cNvPr id="37" name="Image 4" descr="connector">    </p:cNvPr>
          <p:cNvPicPr>
            <a:picLocks noChangeAspect="1"/>
          </p:cNvPicPr>
          <p:nvPr/>
        </p:nvPicPr>
        <p:blipFill>
          <a:blip r:embed="rId5"/>
          <a:srcRect l="0" r="0" t="0" b="0"/>
          <a:stretch/>
        </p:blipFill>
        <p:spPr>
          <a:xfrm>
            <a:off x="5118100" y="4190950"/>
            <a:ext cx="101600" cy="381000"/>
          </a:xfrm>
          <a:prstGeom prst="rect">
            <a:avLst/>
          </a:prstGeom>
        </p:spPr>
      </p:pic>
      <p:pic>
        <p:nvPicPr>
          <p:cNvPr id="38" name="Image 5" descr="connector">    </p:cNvPr>
          <p:cNvPicPr>
            <a:picLocks noChangeAspect="1"/>
          </p:cNvPicPr>
          <p:nvPr/>
        </p:nvPicPr>
        <p:blipFill>
          <a:blip r:embed="rId6"/>
          <a:srcRect l="0" r="0" t="0" b="0"/>
          <a:stretch/>
        </p:blipFill>
        <p:spPr>
          <a:xfrm>
            <a:off x="9639300" y="4190950"/>
            <a:ext cx="101600" cy="381000"/>
          </a:xfrm>
          <a:prstGeom prst="rect">
            <a:avLst/>
          </a:prstGeom>
        </p:spPr>
      </p:pic>
      <p:sp>
        <p:nvSpPr>
          <p:cNvPr id="39" name="Text 31"/>
          <p:cNvSpPr/>
          <p:nvPr/>
        </p:nvSpPr>
        <p:spPr>
          <a:xfrm>
            <a:off x="6197600" y="3416250"/>
            <a:ext cx="1511300" cy="208260"/>
          </a:xfrm>
          <a:prstGeom prst="rect">
            <a:avLst/>
          </a:prstGeom>
          <a:noFill/>
          <a:ln/>
        </p:spPr>
        <p:txBody>
          <a:bodyPr wrap="square" lIns="0" tIns="0" rIns="0" bIns="0" rtlCol="0" anchor="t">
            <a:normAutofit/>
          </a:bodyPr>
          <a:lstStyle/>
          <a:p>
            <a:pPr algn="l" indent="0" marL="0">
              <a:lnSpc>
                <a:spcPts val="1440"/>
              </a:lnSpc>
              <a:buNone/>
            </a:pPr>
            <a:r>
              <a:rPr lang="en-US" sz="1200" i="1" dirty="0">
                <a:solidFill>
                  <a:srgbClr val="6D6A8C"/>
                </a:solidFill>
                <a:latin typeface="Inter" pitchFamily="34" charset="0"/>
                <a:ea typeface="Inter" pitchFamily="34" charset="-122"/>
                <a:cs typeface="Inter" pitchFamily="34" charset="-120"/>
              </a:rPr>
              <a:t>schedule events</a:t>
            </a:r>
            <a:endParaRPr lang="en-US" sz="1200" dirty="0"/>
          </a:p>
        </p:txBody>
      </p:sp>
      <p:sp>
        <p:nvSpPr>
          <p:cNvPr id="40" name="Text 32"/>
          <p:cNvSpPr/>
          <p:nvPr/>
        </p:nvSpPr>
        <p:spPr>
          <a:xfrm>
            <a:off x="9664700" y="3416250"/>
            <a:ext cx="1511300" cy="208260"/>
          </a:xfrm>
          <a:prstGeom prst="rect">
            <a:avLst/>
          </a:prstGeom>
          <a:noFill/>
          <a:ln/>
        </p:spPr>
        <p:txBody>
          <a:bodyPr wrap="square" lIns="0" tIns="0" rIns="0" bIns="0" rtlCol="0" anchor="t">
            <a:normAutofit/>
          </a:bodyPr>
          <a:lstStyle/>
          <a:p>
            <a:pPr algn="l" indent="0" marL="0">
              <a:lnSpc>
                <a:spcPts val="1440"/>
              </a:lnSpc>
              <a:buNone/>
            </a:pPr>
            <a:r>
              <a:rPr lang="en-US" sz="1200" i="1" dirty="0">
                <a:solidFill>
                  <a:srgbClr val="6D6A8C"/>
                </a:solidFill>
                <a:latin typeface="Inter" pitchFamily="34" charset="0"/>
                <a:ea typeface="Inter" pitchFamily="34" charset="-122"/>
                <a:cs typeface="Inter" pitchFamily="34" charset="-120"/>
              </a:rPr>
              <a:t>pathloss events</a:t>
            </a:r>
            <a:endParaRPr lang="en-US" sz="1200" dirty="0"/>
          </a:p>
        </p:txBody>
      </p:sp>
      <p:sp>
        <p:nvSpPr>
          <p:cNvPr id="41" name="Text 33"/>
          <p:cNvSpPr/>
          <p:nvPr/>
        </p:nvSpPr>
        <p:spPr>
          <a:xfrm>
            <a:off x="6448425" y="4902150"/>
            <a:ext cx="1962150" cy="23872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8C88B8"/>
                </a:solidFill>
                <a:latin typeface="Inter" pitchFamily="34" charset="0"/>
                <a:ea typeface="Inter" pitchFamily="34" charset="-122"/>
                <a:cs typeface="Inter" pitchFamily="34" charset="-120"/>
              </a:rPr>
              <a:t>. . .</a:t>
            </a:r>
            <a:endParaRPr lang="en-US" sz="1400" dirty="0"/>
          </a:p>
        </p:txBody>
      </p:sp>
      <p:pic>
        <p:nvPicPr>
          <p:cNvPr id="42" name="Image 6" descr="Vaan Megam Networks">    </p:cNvPr>
          <p:cNvPicPr>
            <a:picLocks noChangeAspect="1"/>
          </p:cNvPicPr>
          <p:nvPr/>
        </p:nvPicPr>
        <p:blipFill>
          <a:blip r:embed="rId7"/>
          <a:srcRect l="0" r="0" t="-56" b="-56"/>
          <a:stretch/>
        </p:blipFill>
        <p:spPr>
          <a:xfrm>
            <a:off x="914400" y="6273800"/>
            <a:ext cx="628650" cy="177800"/>
          </a:xfrm>
          <a:prstGeom prst="rect">
            <a:avLst/>
          </a:prstGeom>
        </p:spPr>
      </p:pic>
      <p:sp>
        <p:nvSpPr>
          <p:cNvPr id="43" name="Text 34"/>
          <p:cNvSpPr/>
          <p:nvPr/>
        </p:nvSpPr>
        <p:spPr>
          <a:xfrm>
            <a:off x="1670050" y="6276380"/>
            <a:ext cx="5232400" cy="200620"/>
          </a:xfrm>
          <a:prstGeom prst="rect">
            <a:avLst/>
          </a:prstGeom>
          <a:noFill/>
          <a:ln/>
        </p:spPr>
        <p:txBody>
          <a:bodyPr wrap="square" lIns="0" tIns="0" rIns="0" bIns="0" rtlCol="0" anchor="t">
            <a:normAutofit/>
          </a:bodyPr>
          <a:lstStyle/>
          <a:p>
            <a:pPr algn="l" indent="0" marL="0">
              <a:lnSpc>
                <a:spcPts val="1380"/>
              </a:lnSpc>
              <a:buNone/>
            </a:pPr>
            <a:r>
              <a:rPr lang="en-US" sz="1200" dirty="0">
                <a:solidFill>
                  <a:srgbClr val="6D6A8C"/>
                </a:solidFill>
                <a:latin typeface="Inter" pitchFamily="34" charset="0"/>
                <a:ea typeface="Inter" pitchFamily="34" charset="-122"/>
                <a:cs typeface="Inter" pitchFamily="34" charset="-120"/>
              </a:rPr>
              <a:t>TDMA Schedule Optimizer</a:t>
            </a:r>
            <a:endParaRPr lang="en-US" sz="1200" dirty="0"/>
          </a:p>
        </p:txBody>
      </p:sp>
      <p:sp>
        <p:nvSpPr>
          <p:cNvPr id="44" name="Text 35"/>
          <p:cNvSpPr/>
          <p:nvPr/>
        </p:nvSpPr>
        <p:spPr>
          <a:xfrm>
            <a:off x="10464800" y="6276380"/>
            <a:ext cx="812800" cy="200620"/>
          </a:xfrm>
          <a:prstGeom prst="rect">
            <a:avLst/>
          </a:prstGeom>
          <a:noFill/>
          <a:ln/>
        </p:spPr>
        <p:txBody>
          <a:bodyPr wrap="square" lIns="0" tIns="0" rIns="0" bIns="0" rtlCol="0" anchor="t">
            <a:normAutofit/>
          </a:bodyPr>
          <a:lstStyle/>
          <a:p>
            <a:pPr algn="r" indent="0" marL="0">
              <a:lnSpc>
                <a:spcPts val="1380"/>
              </a:lnSpc>
              <a:buNone/>
            </a:pPr>
            <a:r>
              <a:rPr lang="en-US" sz="1200" dirty="0">
                <a:solidFill>
                  <a:srgbClr val="6D6A8C"/>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CE9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CE9FA"/>
              </a:gs>
              <a:gs pos="100000">
                <a:srgbClr val="E4F2FB"/>
              </a:gs>
            </a:gsLst>
            <a:lin ang="2700000" scaled="0"/>
          </a:gradFill>
          <a:ln/>
        </p:spPr>
      </p:sp>
      <p:sp>
        <p:nvSpPr>
          <p:cNvPr id="3" name="Shape 1"/>
          <p:cNvSpPr/>
          <p:nvPr/>
        </p:nvSpPr>
        <p:spPr>
          <a:xfrm>
            <a:off x="304800" y="304800"/>
            <a:ext cx="11582400" cy="6248400"/>
          </a:xfrm>
          <a:prstGeom prst="roundRect">
            <a:avLst>
              <a:gd name="adj" fmla="val 3659"/>
            </a:avLst>
          </a:prstGeom>
          <a:solidFill>
            <a:srgbClr val="FDFDFF"/>
          </a:solidFill>
          <a:ln/>
          <a:effectLst>
            <a:outerShdw sx="100000" sy="100000" kx="0" ky="0" algn="bl" rotWithShape="0" blurRad="355600" dist="101600" dir="5400000">
              <a:srgbClr val="281E6E">
                <a:alpha val="10000"/>
              </a:srgbClr>
            </a:outerShdw>
          </a:effectLst>
        </p:spPr>
      </p:sp>
      <p:sp>
        <p:nvSpPr>
          <p:cNvPr id="4" name="Text 2"/>
          <p:cNvSpPr/>
          <p:nvPr/>
        </p:nvSpPr>
        <p:spPr>
          <a:xfrm>
            <a:off x="914400" y="81280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54C4"/>
                </a:solidFill>
                <a:latin typeface="Inter" pitchFamily="34" charset="0"/>
                <a:ea typeface="Inter" pitchFamily="34" charset="-122"/>
                <a:cs typeface="Inter" pitchFamily="34" charset="-120"/>
              </a:rPr>
              <a:t>PART 2 · INTEGRATION BRIDGE</a:t>
            </a:r>
            <a:endParaRPr lang="en-US" sz="1200" dirty="0"/>
          </a:p>
        </p:txBody>
      </p:sp>
      <p:sp>
        <p:nvSpPr>
          <p:cNvPr id="5" name="Text 3"/>
          <p:cNvSpPr/>
          <p:nvPr>
            <p:ph type="title"/>
          </p:nvPr>
        </p:nvSpPr>
        <p:spPr>
          <a:xfrm>
            <a:off x="914400" y="1102320"/>
            <a:ext cx="10674096" cy="47243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40"/>
                </a:solidFill>
                <a:latin typeface="Plus Jakarta Sans" pitchFamily="34" charset="0"/>
                <a:ea typeface="Plus Jakarta Sans" pitchFamily="34" charset="-122"/>
                <a:cs typeface="Plus Jakarta Sans" pitchFamily="34" charset="-120"/>
              </a:rPr>
              <a:t>From the Part 1 schedule to EMANE</a:t>
            </a:r>
            <a:endParaRPr lang="en-US" sz="3200" dirty="0"/>
          </a:p>
        </p:txBody>
      </p:sp>
      <p:sp>
        <p:nvSpPr>
          <p:cNvPr id="6" name="Shape 4"/>
          <p:cNvSpPr/>
          <p:nvPr/>
        </p:nvSpPr>
        <p:spPr>
          <a:xfrm>
            <a:off x="914400" y="1854150"/>
            <a:ext cx="5461000" cy="2347813"/>
          </a:xfrm>
          <a:custGeom>
            <a:avLst/>
            <a:gdLst/>
            <a:ahLst/>
            <a:cxnLst/>
            <a:rect l="l" t="t" r="r" b="b"/>
            <a:pathLst>
              <a:path w="5461000" h="2347813">
                <a:moveTo>
                  <a:pt x="5359400" y="0"/>
                </a:moveTo>
                <a:lnTo>
                  <a:pt x="5359400" y="0"/>
                </a:lnTo>
                <a:arcTo hR="101600" wR="101600" stAng="16200000" swAng="5400000"/>
                <a:lnTo>
                  <a:pt x="5461000" y="2246213"/>
                </a:lnTo>
                <a:arcTo hR="101600" wR="101600" stAng="0" swAng="5400000"/>
                <a:lnTo>
                  <a:pt x="101600" y="2347813"/>
                </a:lnTo>
                <a:arcTo hR="101600" wR="101600" stAng="5400000" swAng="5400000"/>
                <a:lnTo>
                  <a:pt x="0" y="2246213"/>
                </a:lnTo>
                <a:arcTo hR="95250" wR="101600" stAng="10800000" swAng="-5400000"/>
                <a:lnTo>
                  <a:pt x="5359400" y="2341463"/>
                </a:lnTo>
                <a:arcTo hR="95250" wR="95250" stAng="5400000" swAng="-5400000"/>
                <a:lnTo>
                  <a:pt x="5454650" y="101600"/>
                </a:lnTo>
                <a:arcTo hR="101600" wR="95250" stAng="0" swAng="-5400000"/>
                <a:close/>
              </a:path>
            </a:pathLst>
          </a:custGeom>
          <a:solidFill>
            <a:srgbClr val="E4E1F3"/>
          </a:solidFill>
          <a:ln/>
        </p:spPr>
      </p:sp>
      <p:sp>
        <p:nvSpPr>
          <p:cNvPr id="7" name="Shape 5"/>
          <p:cNvSpPr/>
          <p:nvPr/>
        </p:nvSpPr>
        <p:spPr>
          <a:xfrm>
            <a:off x="914400" y="1854150"/>
            <a:ext cx="5461000" cy="2347813"/>
          </a:xfrm>
          <a:custGeom>
            <a:avLst/>
            <a:gdLst/>
            <a:ahLst/>
            <a:cxnLst/>
            <a:rect l="l" t="t" r="r" b="b"/>
            <a:pathLst>
              <a:path w="5461000" h="2347813">
                <a:moveTo>
                  <a:pt x="101600" y="2347813"/>
                </a:moveTo>
                <a:lnTo>
                  <a:pt x="101600" y="2347813"/>
                </a:lnTo>
                <a:arcTo hR="101600" wR="101600" stAng="5400000" swAng="5400000"/>
                <a:lnTo>
                  <a:pt x="0" y="101600"/>
                </a:lnTo>
                <a:arcTo hR="101600" wR="101600" stAng="10800000" swAng="5400000"/>
                <a:lnTo>
                  <a:pt x="5359400" y="0"/>
                </a:lnTo>
                <a:arcTo hR="101600" wR="101600" stAng="16200000" swAng="5400000"/>
                <a:lnTo>
                  <a:pt x="5461000" y="101600"/>
                </a:lnTo>
                <a:arcTo hR="88900" wR="101600" stAng="0" swAng="-5400000"/>
                <a:lnTo>
                  <a:pt x="101600" y="12700"/>
                </a:lnTo>
                <a:arcTo hR="88900" wR="88900" stAng="16200000" swAng="-5400000"/>
                <a:lnTo>
                  <a:pt x="12700" y="2246213"/>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27100" y="1866850"/>
          <a:ext cx="5441950" cy="2328763"/>
        </p:xfrm>
        <a:graphic>
          <a:graphicData uri="http://schemas.openxmlformats.org/drawingml/2006/table">
            <a:tbl>
              <a:tblPr/>
              <a:tblGrid>
                <a:gridCol w="2503297"/>
                <a:gridCol w="2938653"/>
              </a:tblGrid>
              <a:tr h="332680">
                <a:tc>
                  <a:txBody>
                    <a:bodyPr/>
                    <a:lstStyle/>
                    <a:p>
                      <a:pPr indent="0" marL="0">
                        <a:lnSpc>
                          <a:spcPts val="1680"/>
                        </a:lnSpc>
                        <a:buNone/>
                      </a:pPr>
                      <a:r>
                        <a:rPr lang="en-US" sz="1200" b="1" dirty="0">
                          <a:solidFill>
                            <a:srgbClr val="1B1840"/>
                          </a:solidFill>
                          <a:latin typeface="Inter" pitchFamily="34" charset="0"/>
                          <a:ea typeface="Inter" pitchFamily="34" charset="-122"/>
                          <a:cs typeface="Inter" pitchFamily="34" charset="-120"/>
                        </a:rPr>
                        <a:t>Part 1</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BEBCC7"/>
                      </a:solidFill>
                      <a:prstDash val="solid"/>
                      <a:round/>
                      <a:headEnd type="none" w="med" len="med"/>
                      <a:tailEnd type="none" w="med" len="med"/>
                    </a:lnR>
                    <a:lnT w="0" cap="flat" cmpd="sng" algn="ctr">
                      <a:noFill/>
                    </a:lnT>
                    <a:lnB w="12700" cap="flat" cmpd="sng" algn="ctr">
                      <a:solidFill>
                        <a:srgbClr val="BEBCC7"/>
                      </a:solidFill>
                      <a:prstDash val="solid"/>
                      <a:round/>
                      <a:headEnd type="none" w="med" len="med"/>
                      <a:tailEnd type="none" w="med" len="med"/>
                    </a:lnB>
                    <a:solidFill>
                      <a:srgbClr val="EEECFA"/>
                    </a:solidFill>
                  </a:tcPr>
                </a:tc>
                <a:tc>
                  <a:txBody>
                    <a:bodyPr/>
                    <a:lstStyle/>
                    <a:p>
                      <a:pPr indent="0" marL="0">
                        <a:lnSpc>
                          <a:spcPts val="1680"/>
                        </a:lnSpc>
                        <a:buNone/>
                      </a:pPr>
                      <a:r>
                        <a:rPr lang="en-US" sz="1200" b="1" dirty="0">
                          <a:solidFill>
                            <a:srgbClr val="1B1840"/>
                          </a:solidFill>
                          <a:latin typeface="Inter" pitchFamily="34" charset="0"/>
                          <a:ea typeface="Inter" pitchFamily="34" charset="-122"/>
                          <a:cs typeface="Inter" pitchFamily="34" charset="-120"/>
                        </a:rPr>
                        <a:t>EMANE</a:t>
                      </a:r>
                      <a:endParaRPr lang="en-US" sz="1200" dirty="0">
                        <a:latin typeface="Inter" charset="0"/>
                        <a:ea typeface="Inter" charset="0"/>
                        <a:cs typeface="Inter" charset="0"/>
                      </a:endParaRPr>
                    </a:p>
                  </a:txBody>
                  <a:tcPr marL="53340" marR="53340" marT="53340" marB="53340" anchor="t">
                    <a:lnL w="12700" cap="flat" cmpd="sng" algn="ctr">
                      <a:solidFill>
                        <a:srgbClr val="BEBCC7"/>
                      </a:solidFill>
                      <a:prstDash val="solid"/>
                      <a:round/>
                      <a:headEnd type="none" w="med" len="med"/>
                      <a:tailEnd type="none" w="med" len="med"/>
                    </a:lnL>
                    <a:lnR w="12700" cap="flat" cmpd="sng" algn="ctr">
                      <a:solidFill>
                        <a:srgbClr val="BEBCC7"/>
                      </a:solidFill>
                      <a:prstDash val="solid"/>
                      <a:round/>
                      <a:headEnd type="none" w="med" len="med"/>
                      <a:tailEnd type="none" w="med" len="med"/>
                    </a:lnR>
                    <a:lnT w="0" cap="flat" cmpd="sng" algn="ctr">
                      <a:noFill/>
                    </a:lnT>
                    <a:lnB w="12700" cap="flat" cmpd="sng" algn="ctr">
                      <a:solidFill>
                        <a:srgbClr val="BEBCC7"/>
                      </a:solidFill>
                      <a:prstDash val="solid"/>
                      <a:round/>
                      <a:headEnd type="none" w="med" len="med"/>
                      <a:tailEnd type="none" w="med" len="med"/>
                    </a:lnB>
                    <a:solidFill>
                      <a:srgbClr val="EEECFA"/>
                    </a:solidFill>
                  </a:tcPr>
                </a:tc>
              </a:tr>
              <a:tr h="332680">
                <a:tc>
                  <a:txBody>
                    <a:bodyPr/>
                    <a:lstStyle/>
                    <a:p>
                      <a:pPr indent="0" marL="0">
                        <a:lnSpc>
                          <a:spcPts val="1680"/>
                        </a:lnSpc>
                        <a:buNone/>
                      </a:pPr>
                      <a:r>
                        <a:rPr lang="en-US" sz="1200" dirty="0">
                          <a:solidFill>
                            <a:srgbClr val="47456A"/>
                          </a:solidFill>
                          <a:latin typeface="Inter" pitchFamily="34" charset="0"/>
                          <a:ea typeface="Inter" pitchFamily="34" charset="-122"/>
                          <a:cs typeface="Inter" pitchFamily="34" charset="-120"/>
                        </a:rPr>
                        <a:t>Node, in input order</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BCBAC7"/>
                      </a:solidFill>
                      <a:prstDash val="solid"/>
                      <a:round/>
                      <a:headEnd type="none" w="med" len="med"/>
                      <a:tailEnd type="none" w="med" len="med"/>
                    </a:lnR>
                    <a:lnT w="12700" cap="flat" cmpd="sng" algn="ctr">
                      <a:solidFill>
                        <a:srgbClr val="BEBCC7"/>
                      </a:solidFill>
                      <a:prstDash val="solid"/>
                      <a:round/>
                      <a:headEnd type="none" w="med" len="med"/>
                      <a:tailEnd type="none" w="med" len="med"/>
                    </a:lnT>
                    <a:lnB w="12700" cap="flat" cmpd="sng" algn="ctr">
                      <a:solidFill>
                        <a:srgbClr val="BCBAC7"/>
                      </a:solidFill>
                      <a:prstDash val="solid"/>
                      <a:round/>
                      <a:headEnd type="none" w="med" len="med"/>
                      <a:tailEnd type="none" w="med" len="med"/>
                    </a:lnB>
                  </a:tcPr>
                </a:tc>
                <a:tc>
                  <a:txBody>
                    <a:bodyPr/>
                    <a:lstStyle/>
                    <a:p>
                      <a:pPr indent="0" marL="0">
                        <a:lnSpc>
                          <a:spcPts val="1680"/>
                        </a:lnSpc>
                        <a:buNone/>
                      </a:pPr>
                      <a:r>
                        <a:rPr lang="en-US" sz="1200" dirty="0">
                          <a:solidFill>
                            <a:srgbClr val="47456A"/>
                          </a:solidFill>
                          <a:latin typeface="Inter" pitchFamily="34" charset="0"/>
                          <a:ea typeface="Inter" pitchFamily="34" charset="-122"/>
                          <a:cs typeface="Inter" pitchFamily="34" charset="-120"/>
                        </a:rPr>
                        <a:t>NEM id 1 to 16</a:t>
                      </a:r>
                      <a:endParaRPr lang="en-US" sz="1200" dirty="0">
                        <a:latin typeface="Inter" charset="0"/>
                        <a:ea typeface="Inter" charset="0"/>
                        <a:cs typeface="Inter" charset="0"/>
                      </a:endParaRPr>
                    </a:p>
                  </a:txBody>
                  <a:tcPr marL="53340" marR="53340" marT="53340" marB="53340" anchor="t">
                    <a:lnL w="12700" cap="flat" cmpd="sng" algn="ctr">
                      <a:solidFill>
                        <a:srgbClr val="BCBAC7"/>
                      </a:solidFill>
                      <a:prstDash val="solid"/>
                      <a:round/>
                      <a:headEnd type="none" w="med" len="med"/>
                      <a:tailEnd type="none" w="med" len="med"/>
                    </a:lnL>
                    <a:lnR w="12700" cap="flat" cmpd="sng" algn="ctr">
                      <a:solidFill>
                        <a:srgbClr val="BCBAC7"/>
                      </a:solidFill>
                      <a:prstDash val="solid"/>
                      <a:round/>
                      <a:headEnd type="none" w="med" len="med"/>
                      <a:tailEnd type="none" w="med" len="med"/>
                    </a:lnR>
                    <a:lnT w="12700" cap="flat" cmpd="sng" algn="ctr">
                      <a:solidFill>
                        <a:srgbClr val="BEBCC7"/>
                      </a:solidFill>
                      <a:prstDash val="solid"/>
                      <a:round/>
                      <a:headEnd type="none" w="med" len="med"/>
                      <a:tailEnd type="none" w="med" len="med"/>
                    </a:lnT>
                    <a:lnB w="12700" cap="flat" cmpd="sng" algn="ctr">
                      <a:solidFill>
                        <a:srgbClr val="BCBAC7"/>
                      </a:solidFill>
                      <a:prstDash val="solid"/>
                      <a:round/>
                      <a:headEnd type="none" w="med" len="med"/>
                      <a:tailEnd type="none" w="med" len="med"/>
                    </a:lnB>
                  </a:tcPr>
                </a:tc>
              </a:tr>
              <a:tr h="332680">
                <a:tc>
                  <a:txBody>
                    <a:bodyPr/>
                    <a:lstStyle/>
                    <a:p>
                      <a:pPr indent="0" marL="0">
                        <a:lnSpc>
                          <a:spcPts val="1680"/>
                        </a:lnSpc>
                        <a:buNone/>
                      </a:pPr>
                      <a:r>
                        <a:rPr lang="en-US" sz="1200" dirty="0">
                          <a:solidFill>
                            <a:srgbClr val="47456A"/>
                          </a:solidFill>
                          <a:latin typeface="Inter" pitchFamily="34" charset="0"/>
                          <a:ea typeface="Inter" pitchFamily="34" charset="-122"/>
                          <a:cs typeface="Inter" pitchFamily="34" charset="-120"/>
                        </a:rPr>
                        <a:t>Slot (colour) of a node</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BCBAC7"/>
                      </a:solidFill>
                      <a:prstDash val="solid"/>
                      <a:round/>
                      <a:headEnd type="none" w="med" len="med"/>
                      <a:tailEnd type="none" w="med" len="med"/>
                    </a:lnR>
                    <a:lnT w="12700" cap="flat" cmpd="sng" algn="ctr">
                      <a:solidFill>
                        <a:srgbClr val="BCBAC7"/>
                      </a:solidFill>
                      <a:prstDash val="solid"/>
                      <a:round/>
                      <a:headEnd type="none" w="med" len="med"/>
                      <a:tailEnd type="none" w="med" len="med"/>
                    </a:lnT>
                    <a:lnB w="12700" cap="flat" cmpd="sng" algn="ctr">
                      <a:solidFill>
                        <a:srgbClr val="BCBAC7"/>
                      </a:solidFill>
                      <a:prstDash val="solid"/>
                      <a:round/>
                      <a:headEnd type="none" w="med" len="med"/>
                      <a:tailEnd type="none" w="med" len="med"/>
                    </a:lnB>
                  </a:tcPr>
                </a:tc>
                <a:tc>
                  <a:txBody>
                    <a:bodyPr/>
                    <a:lstStyle/>
                    <a:p>
                      <a:pPr indent="0" marL="0">
                        <a:lnSpc>
                          <a:spcPts val="1680"/>
                        </a:lnSpc>
                        <a:buNone/>
                      </a:pPr>
                      <a:r>
                        <a:rPr lang="en-US" sz="1200" dirty="0">
                          <a:solidFill>
                            <a:srgbClr val="47456A"/>
                          </a:solidFill>
                          <a:latin typeface="Inter" pitchFamily="34" charset="0"/>
                          <a:ea typeface="Inter" pitchFamily="34" charset="-122"/>
                          <a:cs typeface="Inter" pitchFamily="34" charset="-120"/>
                        </a:rPr>
                        <a:t>tx entry in that slot</a:t>
                      </a:r>
                      <a:endParaRPr lang="en-US" sz="1200" dirty="0">
                        <a:latin typeface="Inter" charset="0"/>
                        <a:ea typeface="Inter" charset="0"/>
                        <a:cs typeface="Inter" charset="0"/>
                      </a:endParaRPr>
                    </a:p>
                  </a:txBody>
                  <a:tcPr marL="53340" marR="53340" marT="53340" marB="53340" anchor="t">
                    <a:lnL w="12700" cap="flat" cmpd="sng" algn="ctr">
                      <a:solidFill>
                        <a:srgbClr val="BCBAC7"/>
                      </a:solidFill>
                      <a:prstDash val="solid"/>
                      <a:round/>
                      <a:headEnd type="none" w="med" len="med"/>
                      <a:tailEnd type="none" w="med" len="med"/>
                    </a:lnL>
                    <a:lnR w="12700" cap="flat" cmpd="sng" algn="ctr">
                      <a:solidFill>
                        <a:srgbClr val="BCBAC7"/>
                      </a:solidFill>
                      <a:prstDash val="solid"/>
                      <a:round/>
                      <a:headEnd type="none" w="med" len="med"/>
                      <a:tailEnd type="none" w="med" len="med"/>
                    </a:lnR>
                    <a:lnT w="12700" cap="flat" cmpd="sng" algn="ctr">
                      <a:solidFill>
                        <a:srgbClr val="BCBAC7"/>
                      </a:solidFill>
                      <a:prstDash val="solid"/>
                      <a:round/>
                      <a:headEnd type="none" w="med" len="med"/>
                      <a:tailEnd type="none" w="med" len="med"/>
                    </a:lnT>
                    <a:lnB w="12700" cap="flat" cmpd="sng" algn="ctr">
                      <a:solidFill>
                        <a:srgbClr val="BCBAC7"/>
                      </a:solidFill>
                      <a:prstDash val="solid"/>
                      <a:round/>
                      <a:headEnd type="none" w="med" len="med"/>
                      <a:tailEnd type="none" w="med" len="med"/>
                    </a:lnB>
                  </a:tcPr>
                </a:tc>
              </a:tr>
              <a:tr h="332680">
                <a:tc>
                  <a:txBody>
                    <a:bodyPr/>
                    <a:lstStyle/>
                    <a:p>
                      <a:pPr indent="0" marL="0">
                        <a:lnSpc>
                          <a:spcPts val="1680"/>
                        </a:lnSpc>
                        <a:buNone/>
                      </a:pPr>
                      <a:r>
                        <a:rPr lang="en-US" sz="1200" dirty="0">
                          <a:solidFill>
                            <a:srgbClr val="47456A"/>
                          </a:solidFill>
                          <a:latin typeface="Inter" pitchFamily="34" charset="0"/>
                          <a:ea typeface="Inter" pitchFamily="34" charset="-122"/>
                          <a:cs typeface="Inter" pitchFamily="34" charset="-120"/>
                        </a:rPr>
                        <a:t>Frame length</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BCBAC7"/>
                      </a:solidFill>
                      <a:prstDash val="solid"/>
                      <a:round/>
                      <a:headEnd type="none" w="med" len="med"/>
                      <a:tailEnd type="none" w="med" len="med"/>
                    </a:lnR>
                    <a:lnT w="12700" cap="flat" cmpd="sng" algn="ctr">
                      <a:solidFill>
                        <a:srgbClr val="BCBAC7"/>
                      </a:solidFill>
                      <a:prstDash val="solid"/>
                      <a:round/>
                      <a:headEnd type="none" w="med" len="med"/>
                      <a:tailEnd type="none" w="med" len="med"/>
                    </a:lnT>
                    <a:lnB w="12700" cap="flat" cmpd="sng" algn="ctr">
                      <a:solidFill>
                        <a:srgbClr val="BCBAC7"/>
                      </a:solidFill>
                      <a:prstDash val="solid"/>
                      <a:round/>
                      <a:headEnd type="none" w="med" len="med"/>
                      <a:tailEnd type="none" w="med" len="med"/>
                    </a:lnB>
                  </a:tcPr>
                </a:tc>
                <a:tc>
                  <a:txBody>
                    <a:bodyPr/>
                    <a:lstStyle/>
                    <a:p>
                      <a:pPr indent="0" marL="0">
                        <a:lnSpc>
                          <a:spcPts val="1680"/>
                        </a:lnSpc>
                        <a:buNone/>
                      </a:pPr>
                      <a:r>
                        <a:rPr lang="en-US" sz="1200" dirty="0">
                          <a:solidFill>
                            <a:srgbClr val="47456A"/>
                          </a:solidFill>
                          <a:latin typeface="Inter" pitchFamily="34" charset="0"/>
                          <a:ea typeface="Inter" pitchFamily="34" charset="-122"/>
                          <a:cs typeface="Inter" pitchFamily="34" charset="-120"/>
                        </a:rPr>
                        <a:t>slots per frame</a:t>
                      </a:r>
                      <a:endParaRPr lang="en-US" sz="1200" dirty="0">
                        <a:latin typeface="Inter" charset="0"/>
                        <a:ea typeface="Inter" charset="0"/>
                        <a:cs typeface="Inter" charset="0"/>
                      </a:endParaRPr>
                    </a:p>
                  </a:txBody>
                  <a:tcPr marL="53340" marR="53340" marT="53340" marB="53340" anchor="t">
                    <a:lnL w="12700" cap="flat" cmpd="sng" algn="ctr">
                      <a:solidFill>
                        <a:srgbClr val="BCBAC7"/>
                      </a:solidFill>
                      <a:prstDash val="solid"/>
                      <a:round/>
                      <a:headEnd type="none" w="med" len="med"/>
                      <a:tailEnd type="none" w="med" len="med"/>
                    </a:lnL>
                    <a:lnR w="12700" cap="flat" cmpd="sng" algn="ctr">
                      <a:solidFill>
                        <a:srgbClr val="BCBAC7"/>
                      </a:solidFill>
                      <a:prstDash val="solid"/>
                      <a:round/>
                      <a:headEnd type="none" w="med" len="med"/>
                      <a:tailEnd type="none" w="med" len="med"/>
                    </a:lnR>
                    <a:lnT w="12700" cap="flat" cmpd="sng" algn="ctr">
                      <a:solidFill>
                        <a:srgbClr val="BCBAC7"/>
                      </a:solidFill>
                      <a:prstDash val="solid"/>
                      <a:round/>
                      <a:headEnd type="none" w="med" len="med"/>
                      <a:tailEnd type="none" w="med" len="med"/>
                    </a:lnT>
                    <a:lnB w="12700" cap="flat" cmpd="sng" algn="ctr">
                      <a:solidFill>
                        <a:srgbClr val="BCBAC7"/>
                      </a:solidFill>
                      <a:prstDash val="solid"/>
                      <a:round/>
                      <a:headEnd type="none" w="med" len="med"/>
                      <a:tailEnd type="none" w="med" len="med"/>
                    </a:lnB>
                  </a:tcPr>
                </a:tc>
              </a:tr>
              <a:tr h="332680">
                <a:tc>
                  <a:txBody>
                    <a:bodyPr/>
                    <a:lstStyle/>
                    <a:p>
                      <a:pPr indent="0" marL="0">
                        <a:lnSpc>
                          <a:spcPts val="1680"/>
                        </a:lnSpc>
                        <a:buNone/>
                      </a:pPr>
                      <a:r>
                        <a:rPr lang="en-US" sz="1200" dirty="0">
                          <a:solidFill>
                            <a:srgbClr val="47456A"/>
                          </a:solidFill>
                          <a:latin typeface="Inter" pitchFamily="34" charset="0"/>
                          <a:ea typeface="Inter" pitchFamily="34" charset="-122"/>
                          <a:cs typeface="Inter" pitchFamily="34" charset="-120"/>
                        </a:rPr>
                        <a:t>Silent in other slots</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BCBAC7"/>
                      </a:solidFill>
                      <a:prstDash val="solid"/>
                      <a:round/>
                      <a:headEnd type="none" w="med" len="med"/>
                      <a:tailEnd type="none" w="med" len="med"/>
                    </a:lnR>
                    <a:lnT w="12700" cap="flat" cmpd="sng" algn="ctr">
                      <a:solidFill>
                        <a:srgbClr val="BCBAC7"/>
                      </a:solidFill>
                      <a:prstDash val="solid"/>
                      <a:round/>
                      <a:headEnd type="none" w="med" len="med"/>
                      <a:tailEnd type="none" w="med" len="med"/>
                    </a:lnT>
                    <a:lnB w="12700" cap="flat" cmpd="sng" algn="ctr">
                      <a:solidFill>
                        <a:srgbClr val="BCBAC7"/>
                      </a:solidFill>
                      <a:prstDash val="solid"/>
                      <a:round/>
                      <a:headEnd type="none" w="med" len="med"/>
                      <a:tailEnd type="none" w="med" len="med"/>
                    </a:lnB>
                  </a:tcPr>
                </a:tc>
                <a:tc>
                  <a:txBody>
                    <a:bodyPr/>
                    <a:lstStyle/>
                    <a:p>
                      <a:pPr indent="0" marL="0">
                        <a:lnSpc>
                          <a:spcPts val="1680"/>
                        </a:lnSpc>
                        <a:buNone/>
                      </a:pPr>
                      <a:r>
                        <a:rPr lang="en-US" sz="1200" dirty="0">
                          <a:solidFill>
                            <a:srgbClr val="47456A"/>
                          </a:solidFill>
                          <a:latin typeface="Inter" pitchFamily="34" charset="0"/>
                          <a:ea typeface="Inter" pitchFamily="34" charset="-122"/>
                          <a:cs typeface="Inter" pitchFamily="34" charset="-120"/>
                        </a:rPr>
                        <a:t>receive (EMANE default)</a:t>
                      </a:r>
                      <a:endParaRPr lang="en-US" sz="1200" dirty="0">
                        <a:latin typeface="Inter" charset="0"/>
                        <a:ea typeface="Inter" charset="0"/>
                        <a:cs typeface="Inter" charset="0"/>
                      </a:endParaRPr>
                    </a:p>
                  </a:txBody>
                  <a:tcPr marL="53340" marR="53340" marT="53340" marB="53340" anchor="t">
                    <a:lnL w="12700" cap="flat" cmpd="sng" algn="ctr">
                      <a:solidFill>
                        <a:srgbClr val="BCBAC7"/>
                      </a:solidFill>
                      <a:prstDash val="solid"/>
                      <a:round/>
                      <a:headEnd type="none" w="med" len="med"/>
                      <a:tailEnd type="none" w="med" len="med"/>
                    </a:lnL>
                    <a:lnR w="12700" cap="flat" cmpd="sng" algn="ctr">
                      <a:solidFill>
                        <a:srgbClr val="BCBAC7"/>
                      </a:solidFill>
                      <a:prstDash val="solid"/>
                      <a:round/>
                      <a:headEnd type="none" w="med" len="med"/>
                      <a:tailEnd type="none" w="med" len="med"/>
                    </a:lnR>
                    <a:lnT w="12700" cap="flat" cmpd="sng" algn="ctr">
                      <a:solidFill>
                        <a:srgbClr val="BCBAC7"/>
                      </a:solidFill>
                      <a:prstDash val="solid"/>
                      <a:round/>
                      <a:headEnd type="none" w="med" len="med"/>
                      <a:tailEnd type="none" w="med" len="med"/>
                    </a:lnT>
                    <a:lnB w="12700" cap="flat" cmpd="sng" algn="ctr">
                      <a:solidFill>
                        <a:srgbClr val="BCBAC7"/>
                      </a:solidFill>
                      <a:prstDash val="solid"/>
                      <a:round/>
                      <a:headEnd type="none" w="med" len="med"/>
                      <a:tailEnd type="none" w="med" len="med"/>
                    </a:lnB>
                  </a:tcPr>
                </a:tc>
              </a:tr>
              <a:tr h="332680">
                <a:tc>
                  <a:txBody>
                    <a:bodyPr/>
                    <a:lstStyle/>
                    <a:p>
                      <a:pPr indent="0" marL="0">
                        <a:lnSpc>
                          <a:spcPts val="1680"/>
                        </a:lnSpc>
                        <a:buNone/>
                      </a:pPr>
                      <a:r>
                        <a:rPr lang="en-US" sz="1200" dirty="0">
                          <a:solidFill>
                            <a:srgbClr val="47456A"/>
                          </a:solidFill>
                          <a:latin typeface="Inter" pitchFamily="34" charset="0"/>
                          <a:ea typeface="Inter" pitchFamily="34" charset="-122"/>
                          <a:cs typeface="Inter" pitchFamily="34" charset="-120"/>
                        </a:rPr>
                        <a:t>Within 500 m</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BCBAC7"/>
                      </a:solidFill>
                      <a:prstDash val="solid"/>
                      <a:round/>
                      <a:headEnd type="none" w="med" len="med"/>
                      <a:tailEnd type="none" w="med" len="med"/>
                    </a:lnR>
                    <a:lnT w="12700" cap="flat" cmpd="sng" algn="ctr">
                      <a:solidFill>
                        <a:srgbClr val="BCBAC7"/>
                      </a:solidFill>
                      <a:prstDash val="solid"/>
                      <a:round/>
                      <a:headEnd type="none" w="med" len="med"/>
                      <a:tailEnd type="none" w="med" len="med"/>
                    </a:lnT>
                    <a:lnB w="12700" cap="flat" cmpd="sng" algn="ctr">
                      <a:solidFill>
                        <a:srgbClr val="BCBAC7"/>
                      </a:solidFill>
                      <a:prstDash val="solid"/>
                      <a:round/>
                      <a:headEnd type="none" w="med" len="med"/>
                      <a:tailEnd type="none" w="med" len="med"/>
                    </a:lnB>
                  </a:tcPr>
                </a:tc>
                <a:tc>
                  <a:txBody>
                    <a:bodyPr/>
                    <a:lstStyle/>
                    <a:p>
                      <a:pPr indent="0" marL="0">
                        <a:lnSpc>
                          <a:spcPts val="1680"/>
                        </a:lnSpc>
                        <a:buNone/>
                      </a:pPr>
                      <a:r>
                        <a:rPr lang="en-US" sz="1200" dirty="0">
                          <a:solidFill>
                            <a:srgbClr val="47456A"/>
                          </a:solidFill>
                          <a:latin typeface="Inter" pitchFamily="34" charset="0"/>
                          <a:ea typeface="Inter" pitchFamily="34" charset="-122"/>
                          <a:cs typeface="Inter" pitchFamily="34" charset="-120"/>
                        </a:rPr>
                        <a:t>free-space pathloss</a:t>
                      </a:r>
                      <a:endParaRPr lang="en-US" sz="1200" dirty="0">
                        <a:latin typeface="Inter" charset="0"/>
                        <a:ea typeface="Inter" charset="0"/>
                        <a:cs typeface="Inter" charset="0"/>
                      </a:endParaRPr>
                    </a:p>
                  </a:txBody>
                  <a:tcPr marL="53340" marR="53340" marT="53340" marB="53340" anchor="t">
                    <a:lnL w="12700" cap="flat" cmpd="sng" algn="ctr">
                      <a:solidFill>
                        <a:srgbClr val="BCBAC7"/>
                      </a:solidFill>
                      <a:prstDash val="solid"/>
                      <a:round/>
                      <a:headEnd type="none" w="med" len="med"/>
                      <a:tailEnd type="none" w="med" len="med"/>
                    </a:lnL>
                    <a:lnR w="12700" cap="flat" cmpd="sng" algn="ctr">
                      <a:solidFill>
                        <a:srgbClr val="BCBAC7"/>
                      </a:solidFill>
                      <a:prstDash val="solid"/>
                      <a:round/>
                      <a:headEnd type="none" w="med" len="med"/>
                      <a:tailEnd type="none" w="med" len="med"/>
                    </a:lnR>
                    <a:lnT w="12700" cap="flat" cmpd="sng" algn="ctr">
                      <a:solidFill>
                        <a:srgbClr val="BCBAC7"/>
                      </a:solidFill>
                      <a:prstDash val="solid"/>
                      <a:round/>
                      <a:headEnd type="none" w="med" len="med"/>
                      <a:tailEnd type="none" w="med" len="med"/>
                    </a:lnT>
                    <a:lnB w="12700" cap="flat" cmpd="sng" algn="ctr">
                      <a:solidFill>
                        <a:srgbClr val="BCBAC7"/>
                      </a:solidFill>
                      <a:prstDash val="solid"/>
                      <a:round/>
                      <a:headEnd type="none" w="med" len="med"/>
                      <a:tailEnd type="none" w="med" len="med"/>
                    </a:lnB>
                  </a:tcPr>
                </a:tc>
              </a:tr>
              <a:tr h="332680">
                <a:tc>
                  <a:txBody>
                    <a:bodyPr/>
                    <a:lstStyle/>
                    <a:p>
                      <a:pPr indent="0" marL="0">
                        <a:lnSpc>
                          <a:spcPts val="1680"/>
                        </a:lnSpc>
                        <a:buNone/>
                      </a:pPr>
                      <a:r>
                        <a:rPr lang="en-US" sz="1200" dirty="0">
                          <a:solidFill>
                            <a:srgbClr val="47456A"/>
                          </a:solidFill>
                          <a:latin typeface="Inter" pitchFamily="34" charset="0"/>
                          <a:ea typeface="Inter" pitchFamily="34" charset="-122"/>
                          <a:cs typeface="Inter" pitchFamily="34" charset="-120"/>
                        </a:rPr>
                        <a:t>Beyond 500 m</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BCBAC7"/>
                      </a:solidFill>
                      <a:prstDash val="solid"/>
                      <a:round/>
                      <a:headEnd type="none" w="med" len="med"/>
                      <a:tailEnd type="none" w="med" len="med"/>
                    </a:lnR>
                    <a:lnT w="12700" cap="flat" cmpd="sng" algn="ctr">
                      <a:solidFill>
                        <a:srgbClr val="BCBAC7"/>
                      </a:solidFill>
                      <a:prstDash val="solid"/>
                      <a:round/>
                      <a:headEnd type="none" w="med" len="med"/>
                      <a:tailEnd type="none" w="med" len="med"/>
                    </a:lnT>
                    <a:lnB w="12700" cap="flat" cmpd="sng" algn="ctr">
                      <a:solidFill>
                        <a:srgbClr val="BCBAC7"/>
                      </a:solidFill>
                      <a:prstDash val="solid"/>
                      <a:round/>
                      <a:headEnd type="none" w="med" len="med"/>
                      <a:tailEnd type="none" w="med" len="med"/>
                    </a:lnB>
                  </a:tcPr>
                </a:tc>
                <a:tc>
                  <a:txBody>
                    <a:bodyPr/>
                    <a:lstStyle/>
                    <a:p>
                      <a:pPr indent="0" marL="0">
                        <a:lnSpc>
                          <a:spcPts val="1680"/>
                        </a:lnSpc>
                        <a:buNone/>
                      </a:pPr>
                      <a:r>
                        <a:rPr lang="en-US" sz="1200" dirty="0">
                          <a:solidFill>
                            <a:srgbClr val="47456A"/>
                          </a:solidFill>
                          <a:latin typeface="Inter" pitchFamily="34" charset="0"/>
                          <a:ea typeface="Inter" pitchFamily="34" charset="-122"/>
                          <a:cs typeface="Inter" pitchFamily="34" charset="-120"/>
                        </a:rPr>
                        <a:t>300 dB pathloss (not heard)</a:t>
                      </a:r>
                      <a:endParaRPr lang="en-US" sz="1200" dirty="0">
                        <a:latin typeface="Inter" charset="0"/>
                        <a:ea typeface="Inter" charset="0"/>
                        <a:cs typeface="Inter" charset="0"/>
                      </a:endParaRPr>
                    </a:p>
                  </a:txBody>
                  <a:tcPr marL="53340" marR="53340" marT="53340" marB="53340" anchor="t">
                    <a:lnL w="12700" cap="flat" cmpd="sng" algn="ctr">
                      <a:solidFill>
                        <a:srgbClr val="BCBAC7"/>
                      </a:solidFill>
                      <a:prstDash val="solid"/>
                      <a:round/>
                      <a:headEnd type="none" w="med" len="med"/>
                      <a:tailEnd type="none" w="med" len="med"/>
                    </a:lnL>
                    <a:lnR w="12700" cap="flat" cmpd="sng" algn="ctr">
                      <a:solidFill>
                        <a:srgbClr val="BCBAC7"/>
                      </a:solidFill>
                      <a:prstDash val="solid"/>
                      <a:round/>
                      <a:headEnd type="none" w="med" len="med"/>
                      <a:tailEnd type="none" w="med" len="med"/>
                    </a:lnR>
                    <a:lnT w="12700" cap="flat" cmpd="sng" algn="ctr">
                      <a:solidFill>
                        <a:srgbClr val="BCBAC7"/>
                      </a:solidFill>
                      <a:prstDash val="solid"/>
                      <a:round/>
                      <a:headEnd type="none" w="med" len="med"/>
                      <a:tailEnd type="none" w="med" len="med"/>
                    </a:lnT>
                    <a:lnB w="12700" cap="flat" cmpd="sng" algn="ctr">
                      <a:solidFill>
                        <a:srgbClr val="BCBAC7"/>
                      </a:solidFill>
                      <a:prstDash val="solid"/>
                      <a:round/>
                      <a:headEnd type="none" w="med" len="med"/>
                      <a:tailEnd type="none" w="med" len="med"/>
                    </a:lnB>
                  </a:tcPr>
                </a:tc>
              </a:tr>
            </a:tbl>
          </a:graphicData>
        </a:graphic>
      </p:graphicFrame>
      <p:sp>
        <p:nvSpPr>
          <p:cNvPr id="9" name="Text 6"/>
          <p:cNvSpPr/>
          <p:nvPr/>
        </p:nvSpPr>
        <p:spPr>
          <a:xfrm>
            <a:off x="914400" y="4354364"/>
            <a:ext cx="976660" cy="314920"/>
          </a:xfrm>
          <a:prstGeom prst="roundRect">
            <a:avLst>
              <a:gd name="adj" fmla="val 50000"/>
            </a:avLst>
          </a:prstGeom>
          <a:solidFill>
            <a:srgbClr val="EEECFA"/>
          </a:solidFill>
          <a:ln/>
        </p:spPr>
        <p:txBody>
          <a:bodyPr wrap="none" lIns="0" tIns="0" rIns="0" bIns="0" rtlCol="0" anchor="ctr">
            <a:normAutofit/>
          </a:bodyPr>
          <a:lstStyle/>
          <a:p>
            <a:pPr algn="ctr" indent="0" marL="0">
              <a:lnSpc>
                <a:spcPts val="1680"/>
              </a:lnSpc>
              <a:buNone/>
            </a:pPr>
            <a:r>
              <a:rPr lang="en-US" sz="1200" b="1" dirty="0">
                <a:solidFill>
                  <a:srgbClr val="5E54C4"/>
                </a:solidFill>
                <a:latin typeface="Inter" pitchFamily="34" charset="0"/>
                <a:ea typeface="Inter" pitchFamily="34" charset="-122"/>
                <a:cs typeface="Inter" pitchFamily="34" charset="-120"/>
              </a:rPr>
              <a:t>1 ms slots</a:t>
            </a:r>
            <a:endParaRPr lang="en-US" sz="1200" dirty="0"/>
          </a:p>
        </p:txBody>
      </p:sp>
      <p:sp>
        <p:nvSpPr>
          <p:cNvPr id="10" name="Text 7"/>
          <p:cNvSpPr/>
          <p:nvPr/>
        </p:nvSpPr>
        <p:spPr>
          <a:xfrm>
            <a:off x="1967260" y="4354364"/>
            <a:ext cx="855514" cy="314920"/>
          </a:xfrm>
          <a:prstGeom prst="roundRect">
            <a:avLst>
              <a:gd name="adj" fmla="val 50000"/>
            </a:avLst>
          </a:prstGeom>
          <a:solidFill>
            <a:srgbClr val="EEECFA"/>
          </a:solidFill>
          <a:ln/>
        </p:spPr>
        <p:txBody>
          <a:bodyPr wrap="none" lIns="0" tIns="0" rIns="0" bIns="0" rtlCol="0" anchor="ctr">
            <a:normAutofit/>
          </a:bodyPr>
          <a:lstStyle/>
          <a:p>
            <a:pPr algn="ctr" indent="0" marL="0">
              <a:lnSpc>
                <a:spcPts val="1680"/>
              </a:lnSpc>
              <a:buNone/>
            </a:pPr>
            <a:r>
              <a:rPr lang="en-US" sz="1200" b="1" dirty="0">
                <a:solidFill>
                  <a:srgbClr val="5E54C4"/>
                </a:solidFill>
                <a:latin typeface="Inter" pitchFamily="34" charset="0"/>
                <a:ea typeface="Inter" pitchFamily="34" charset="-122"/>
                <a:cs typeface="Inter" pitchFamily="34" charset="-120"/>
              </a:rPr>
              <a:t>2.4 GHz</a:t>
            </a:r>
            <a:endParaRPr lang="en-US" sz="1200" dirty="0"/>
          </a:p>
        </p:txBody>
      </p:sp>
      <p:sp>
        <p:nvSpPr>
          <p:cNvPr id="11" name="Text 8"/>
          <p:cNvSpPr/>
          <p:nvPr/>
        </p:nvSpPr>
        <p:spPr>
          <a:xfrm>
            <a:off x="2898973" y="4354364"/>
            <a:ext cx="901353" cy="314920"/>
          </a:xfrm>
          <a:prstGeom prst="roundRect">
            <a:avLst>
              <a:gd name="adj" fmla="val 50000"/>
            </a:avLst>
          </a:prstGeom>
          <a:solidFill>
            <a:srgbClr val="EEECFA"/>
          </a:solidFill>
          <a:ln/>
        </p:spPr>
        <p:txBody>
          <a:bodyPr wrap="none" lIns="0" tIns="0" rIns="0" bIns="0" rtlCol="0" anchor="ctr">
            <a:normAutofit/>
          </a:bodyPr>
          <a:lstStyle/>
          <a:p>
            <a:pPr algn="ctr" indent="0" marL="0">
              <a:lnSpc>
                <a:spcPts val="1680"/>
              </a:lnSpc>
              <a:buNone/>
            </a:pPr>
            <a:r>
              <a:rPr lang="en-US" sz="1200" b="1" dirty="0">
                <a:solidFill>
                  <a:srgbClr val="5E54C4"/>
                </a:solidFill>
                <a:latin typeface="Inter" pitchFamily="34" charset="0"/>
                <a:ea typeface="Inter" pitchFamily="34" charset="-122"/>
                <a:cs typeface="Inter" pitchFamily="34" charset="-120"/>
              </a:rPr>
              <a:t>11 Mbit/s</a:t>
            </a:r>
            <a:endParaRPr lang="en-US" sz="1200" dirty="0"/>
          </a:p>
        </p:txBody>
      </p:sp>
      <p:sp>
        <p:nvSpPr>
          <p:cNvPr id="12" name="Text 9"/>
          <p:cNvSpPr/>
          <p:nvPr/>
        </p:nvSpPr>
        <p:spPr>
          <a:xfrm>
            <a:off x="3876526" y="4354364"/>
            <a:ext cx="824756" cy="314920"/>
          </a:xfrm>
          <a:prstGeom prst="roundRect">
            <a:avLst>
              <a:gd name="adj" fmla="val 50000"/>
            </a:avLst>
          </a:prstGeom>
          <a:solidFill>
            <a:srgbClr val="EEECFA"/>
          </a:solidFill>
          <a:ln/>
        </p:spPr>
        <p:txBody>
          <a:bodyPr wrap="none" lIns="0" tIns="0" rIns="0" bIns="0" rtlCol="0" anchor="ctr">
            <a:normAutofit/>
          </a:bodyPr>
          <a:lstStyle/>
          <a:p>
            <a:pPr algn="ctr" indent="0" marL="0">
              <a:lnSpc>
                <a:spcPts val="1680"/>
              </a:lnSpc>
              <a:buNone/>
            </a:pPr>
            <a:r>
              <a:rPr lang="en-US" sz="1200" b="1" dirty="0">
                <a:solidFill>
                  <a:srgbClr val="5E54C4"/>
                </a:solidFill>
                <a:latin typeface="Inter" pitchFamily="34" charset="0"/>
                <a:ea typeface="Inter" pitchFamily="34" charset="-122"/>
                <a:cs typeface="Inter" pitchFamily="34" charset="-120"/>
              </a:rPr>
              <a:t>20 dBm</a:t>
            </a:r>
            <a:endParaRPr lang="en-US" sz="1200" dirty="0"/>
          </a:p>
        </p:txBody>
      </p:sp>
      <p:sp>
        <p:nvSpPr>
          <p:cNvPr id="13" name="Text 10"/>
          <p:cNvSpPr/>
          <p:nvPr/>
        </p:nvSpPr>
        <p:spPr>
          <a:xfrm>
            <a:off x="914400" y="4745484"/>
            <a:ext cx="1993106" cy="314920"/>
          </a:xfrm>
          <a:prstGeom prst="roundRect">
            <a:avLst>
              <a:gd name="adj" fmla="val 50000"/>
            </a:avLst>
          </a:prstGeom>
          <a:solidFill>
            <a:srgbClr val="EEECFA"/>
          </a:solidFill>
          <a:ln/>
        </p:spPr>
        <p:txBody>
          <a:bodyPr wrap="none" lIns="0" tIns="0" rIns="0" bIns="0" rtlCol="0" anchor="ctr">
            <a:normAutofit/>
          </a:bodyPr>
          <a:lstStyle/>
          <a:p>
            <a:pPr algn="ctr" indent="0" marL="0">
              <a:lnSpc>
                <a:spcPts val="1680"/>
              </a:lnSpc>
              <a:buNone/>
            </a:pPr>
            <a:r>
              <a:rPr lang="en-US" sz="1200" b="1" dirty="0">
                <a:solidFill>
                  <a:srgbClr val="5E54C4"/>
                </a:solidFill>
                <a:latin typeface="Inter" pitchFamily="34" charset="0"/>
                <a:ea typeface="Inter" pitchFamily="34" charset="-122"/>
                <a:cs typeface="Inter" pitchFamily="34" charset="-120"/>
              </a:rPr>
              <a:t>default reception curve</a:t>
            </a:r>
            <a:endParaRPr lang="en-US" sz="1200" dirty="0"/>
          </a:p>
        </p:txBody>
      </p:sp>
      <p:sp>
        <p:nvSpPr>
          <p:cNvPr id="14" name="Text 11"/>
          <p:cNvSpPr/>
          <p:nvPr/>
        </p:nvSpPr>
        <p:spPr>
          <a:xfrm>
            <a:off x="914400" y="5212804"/>
            <a:ext cx="562483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D6A8C"/>
                </a:solidFill>
                <a:latin typeface="Inter" pitchFamily="34" charset="0"/>
                <a:ea typeface="Inter" pitchFamily="34" charset="-122"/>
                <a:cs typeface="Inter" pitchFamily="34" charset="-120"/>
              </a:rPr>
              <a:t>Sent with emaneevent-tdmaschedule (one protobuf event per NEM), then confirmed from each radio's ScheduleInfoTable.</a:t>
            </a:r>
            <a:endParaRPr lang="en-US" sz="1200" dirty="0"/>
          </a:p>
        </p:txBody>
      </p:sp>
      <p:sp>
        <p:nvSpPr>
          <p:cNvPr id="15" name="Shape 12"/>
          <p:cNvSpPr/>
          <p:nvPr/>
        </p:nvSpPr>
        <p:spPr>
          <a:xfrm>
            <a:off x="6680200" y="1854150"/>
            <a:ext cx="4597400" cy="3789363"/>
          </a:xfrm>
          <a:prstGeom prst="roundRect">
            <a:avLst>
              <a:gd name="adj" fmla="val 4022"/>
            </a:avLst>
          </a:prstGeom>
          <a:solidFill>
            <a:srgbClr val="1B1840"/>
          </a:solidFill>
          <a:ln/>
        </p:spPr>
      </p:sp>
      <p:sp>
        <p:nvSpPr>
          <p:cNvPr id="16" name="Text 13"/>
          <p:cNvSpPr/>
          <p:nvPr/>
        </p:nvSpPr>
        <p:spPr>
          <a:xfrm>
            <a:off x="6908800" y="2057350"/>
            <a:ext cx="42644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D6"/>
                </a:solidFill>
                <a:latin typeface="Inter" pitchFamily="34" charset="0"/>
                <a:ea typeface="Inter" pitchFamily="34" charset="-122"/>
                <a:cs typeface="Inter" pitchFamily="34" charset="-120"/>
              </a:rPr>
              <a:t>schedule.xml, generated by bridge.py</a:t>
            </a:r>
            <a:endParaRPr lang="en-US" sz="1200" dirty="0"/>
          </a:p>
        </p:txBody>
      </p:sp>
      <p:sp>
        <p:nvSpPr>
          <p:cNvPr id="17" name="Text 14"/>
          <p:cNvSpPr/>
          <p:nvPr/>
        </p:nvSpPr>
        <p:spPr>
          <a:xfrm>
            <a:off x="6908800" y="2346871"/>
            <a:ext cx="4264406" cy="31188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4E1FF"/>
                </a:solidFill>
                <a:latin typeface="JetBrains Mono" pitchFamily="49" charset="0"/>
                <a:ea typeface="JetBrains Mono" pitchFamily="49" charset="-122"/>
                <a:cs typeface="JetBrains Mono" pitchFamily="49" charset="-120"/>
              </a:rPr>
              <a:t>&lt;emane-tdma-schedule&gt;</a:t>
            </a:r>
            <a:endParaRPr lang="en-US" sz="1200" dirty="0"/>
          </a:p>
          <a:p>
            <a:pPr algn="l" indent="0" marL="0">
              <a:lnSpc>
                <a:spcPts val="1740"/>
              </a:lnSpc>
              <a:buNone/>
            </a:pPr>
            <a:r>
              <a:rPr lang="en-US" sz="1200" dirty="0">
                <a:solidFill>
                  <a:srgbClr val="E4E1FF"/>
                </a:solidFill>
                <a:latin typeface="JetBrains Mono" pitchFamily="49" charset="0"/>
                <a:ea typeface="JetBrains Mono" pitchFamily="49" charset="-122"/>
                <a:cs typeface="JetBrains Mono" pitchFamily="49" charset="-120"/>
              </a:rPr>
              <a:t>  &lt;structure frames="1" slots="9"</a:t>
            </a:r>
            <a:endParaRPr lang="en-US" sz="1200" dirty="0"/>
          </a:p>
          <a:p>
            <a:pPr algn="l" indent="0" marL="0">
              <a:lnSpc>
                <a:spcPts val="1740"/>
              </a:lnSpc>
              <a:buNone/>
            </a:pPr>
            <a:r>
              <a:rPr lang="en-US" sz="1200" dirty="0">
                <a:solidFill>
                  <a:srgbClr val="E4E1FF"/>
                </a:solidFill>
                <a:latin typeface="JetBrains Mono" pitchFamily="49" charset="0"/>
                <a:ea typeface="JetBrains Mono" pitchFamily="49" charset="-122"/>
                <a:cs typeface="JetBrains Mono" pitchFamily="49" charset="-120"/>
              </a:rPr>
              <a:t>    slotoverhead="0" slotduration="1000"</a:t>
            </a:r>
            <a:endParaRPr lang="en-US" sz="1200" dirty="0"/>
          </a:p>
          <a:p>
            <a:pPr algn="l" indent="0" marL="0">
              <a:lnSpc>
                <a:spcPts val="1740"/>
              </a:lnSpc>
              <a:buNone/>
            </a:pPr>
            <a:r>
              <a:rPr lang="en-US" sz="1200" dirty="0">
                <a:solidFill>
                  <a:srgbClr val="E4E1FF"/>
                </a:solidFill>
                <a:latin typeface="JetBrains Mono" pitchFamily="49" charset="0"/>
                <a:ea typeface="JetBrains Mono" pitchFamily="49" charset="-122"/>
                <a:cs typeface="JetBrains Mono" pitchFamily="49" charset="-120"/>
              </a:rPr>
              <a:t>    bandwidth="1M"/&gt;</a:t>
            </a:r>
            <a:endParaRPr lang="en-US" sz="1200" dirty="0"/>
          </a:p>
          <a:p>
            <a:pPr algn="l" indent="0" marL="0">
              <a:lnSpc>
                <a:spcPts val="1740"/>
              </a:lnSpc>
              <a:buNone/>
            </a:pPr>
            <a:r>
              <a:rPr lang="en-US" sz="1200" dirty="0">
                <a:solidFill>
                  <a:srgbClr val="E4E1FF"/>
                </a:solidFill>
                <a:latin typeface="JetBrains Mono" pitchFamily="49" charset="0"/>
                <a:ea typeface="JetBrains Mono" pitchFamily="49" charset="-122"/>
                <a:cs typeface="JetBrains Mono" pitchFamily="49" charset="-120"/>
              </a:rPr>
              <a:t>  &lt;multiframe frequency="2.4G"</a:t>
            </a:r>
            <a:endParaRPr lang="en-US" sz="1200" dirty="0"/>
          </a:p>
          <a:p>
            <a:pPr algn="l" indent="0" marL="0">
              <a:lnSpc>
                <a:spcPts val="1740"/>
              </a:lnSpc>
              <a:buNone/>
            </a:pPr>
            <a:r>
              <a:rPr lang="en-US" sz="1200" dirty="0">
                <a:solidFill>
                  <a:srgbClr val="E4E1FF"/>
                </a:solidFill>
                <a:latin typeface="JetBrains Mono" pitchFamily="49" charset="0"/>
                <a:ea typeface="JetBrains Mono" pitchFamily="49" charset="-122"/>
                <a:cs typeface="JetBrains Mono" pitchFamily="49" charset="-120"/>
              </a:rPr>
              <a:t>    power="20" datarate="11M" class="0"&gt;</a:t>
            </a:r>
            <a:endParaRPr lang="en-US" sz="1200" dirty="0"/>
          </a:p>
          <a:p>
            <a:pPr algn="l" indent="0" marL="0">
              <a:lnSpc>
                <a:spcPts val="1740"/>
              </a:lnSpc>
              <a:buNone/>
            </a:pPr>
            <a:r>
              <a:rPr lang="en-US" sz="1200" dirty="0">
                <a:solidFill>
                  <a:srgbClr val="E4E1FF"/>
                </a:solidFill>
                <a:latin typeface="JetBrains Mono" pitchFamily="49" charset="0"/>
                <a:ea typeface="JetBrains Mono" pitchFamily="49" charset="-122"/>
                <a:cs typeface="JetBrains Mono" pitchFamily="49" charset="-120"/>
              </a:rPr>
              <a:t>    &lt;frame index="0"&gt;</a:t>
            </a:r>
            <a:endParaRPr lang="en-US" sz="1200" dirty="0"/>
          </a:p>
          <a:p>
            <a:pPr algn="l" indent="0" marL="0">
              <a:lnSpc>
                <a:spcPts val="1740"/>
              </a:lnSpc>
              <a:buNone/>
            </a:pPr>
            <a:r>
              <a:rPr lang="en-US" sz="1200" dirty="0">
                <a:solidFill>
                  <a:srgbClr val="E4E1FF"/>
                </a:solidFill>
                <a:latin typeface="JetBrains Mono" pitchFamily="49" charset="0"/>
                <a:ea typeface="JetBrains Mono" pitchFamily="49" charset="-122"/>
                <a:cs typeface="JetBrains Mono" pitchFamily="49" charset="-120"/>
              </a:rPr>
              <a:t>      &lt;slot index="0" nodes="1,4,13,16"&gt;</a:t>
            </a:r>
            <a:endParaRPr lang="en-US" sz="1200" dirty="0"/>
          </a:p>
          <a:p>
            <a:pPr algn="l" indent="0" marL="0">
              <a:lnSpc>
                <a:spcPts val="1740"/>
              </a:lnSpc>
              <a:buNone/>
            </a:pPr>
            <a:r>
              <a:rPr lang="en-US" sz="1200" dirty="0">
                <a:solidFill>
                  <a:srgbClr val="E4E1FF"/>
                </a:solidFill>
                <a:latin typeface="JetBrains Mono" pitchFamily="49" charset="0"/>
                <a:ea typeface="JetBrains Mono" pitchFamily="49" charset="-122"/>
                <a:cs typeface="JetBrains Mono" pitchFamily="49" charset="-120"/>
              </a:rPr>
              <a:t>        &lt;tx/&gt;</a:t>
            </a:r>
            <a:endParaRPr lang="en-US" sz="1200" dirty="0"/>
          </a:p>
          <a:p>
            <a:pPr algn="l" indent="0" marL="0">
              <a:lnSpc>
                <a:spcPts val="1740"/>
              </a:lnSpc>
              <a:buNone/>
            </a:pPr>
            <a:r>
              <a:rPr lang="en-US" sz="1200" dirty="0">
                <a:solidFill>
                  <a:srgbClr val="E4E1FF"/>
                </a:solidFill>
                <a:latin typeface="JetBrains Mono" pitchFamily="49" charset="0"/>
                <a:ea typeface="JetBrains Mono" pitchFamily="49" charset="-122"/>
                <a:cs typeface="JetBrains Mono" pitchFamily="49" charset="-120"/>
              </a:rPr>
              <a:t>      &lt;/slot&gt;</a:t>
            </a:r>
            <a:endParaRPr lang="en-US" sz="1200" dirty="0"/>
          </a:p>
          <a:p>
            <a:pPr algn="l" indent="0" marL="0">
              <a:lnSpc>
                <a:spcPts val="1740"/>
              </a:lnSpc>
              <a:buNone/>
            </a:pPr>
            <a:r>
              <a:rPr lang="en-US" sz="1200" dirty="0">
                <a:solidFill>
                  <a:srgbClr val="E4E1FF"/>
                </a:solidFill>
                <a:latin typeface="JetBrains Mono" pitchFamily="49" charset="0"/>
                <a:ea typeface="JetBrains Mono" pitchFamily="49" charset="-122"/>
                <a:cs typeface="JetBrains Mono" pitchFamily="49" charset="-120"/>
              </a:rPr>
              <a:t>      &lt;slot index="1" nodes="2,14"&gt;</a:t>
            </a:r>
            <a:endParaRPr lang="en-US" sz="1200" dirty="0"/>
          </a:p>
          <a:p>
            <a:pPr algn="l" indent="0" marL="0">
              <a:lnSpc>
                <a:spcPts val="1740"/>
              </a:lnSpc>
              <a:buNone/>
            </a:pPr>
            <a:r>
              <a:rPr lang="en-US" sz="1200" dirty="0">
                <a:solidFill>
                  <a:srgbClr val="E4E1FF"/>
                </a:solidFill>
                <a:latin typeface="JetBrains Mono" pitchFamily="49" charset="0"/>
                <a:ea typeface="JetBrains Mono" pitchFamily="49" charset="-122"/>
                <a:cs typeface="JetBrains Mono" pitchFamily="49" charset="-120"/>
              </a:rPr>
              <a:t>        &lt;tx/&gt;</a:t>
            </a:r>
            <a:endParaRPr lang="en-US" sz="1200" dirty="0"/>
          </a:p>
          <a:p>
            <a:pPr algn="l" indent="0" marL="0">
              <a:lnSpc>
                <a:spcPts val="1740"/>
              </a:lnSpc>
              <a:buNone/>
            </a:pPr>
            <a:r>
              <a:rPr lang="en-US" sz="1200" dirty="0">
                <a:solidFill>
                  <a:srgbClr val="E4E1FF"/>
                </a:solidFill>
                <a:latin typeface="JetBrains Mono" pitchFamily="49" charset="0"/>
                <a:ea typeface="JetBrains Mono" pitchFamily="49" charset="-122"/>
                <a:cs typeface="JetBrains Mono" pitchFamily="49" charset="-120"/>
              </a:rPr>
              <a:t>      &lt;/slot&gt;</a:t>
            </a:r>
            <a:endParaRPr lang="en-US" sz="1200" dirty="0"/>
          </a:p>
          <a:p>
            <a:pPr algn="l" indent="0" marL="0">
              <a:lnSpc>
                <a:spcPts val="1740"/>
              </a:lnSpc>
              <a:buNone/>
            </a:pPr>
            <a:r>
              <a:rPr lang="en-US" sz="1200" dirty="0">
                <a:solidFill>
                  <a:srgbClr val="E4E1FF"/>
                </a:solidFill>
                <a:latin typeface="JetBrains Mono" pitchFamily="49" charset="0"/>
                <a:ea typeface="JetBrains Mono" pitchFamily="49" charset="-122"/>
                <a:cs typeface="JetBrains Mono" pitchFamily="49" charset="-120"/>
              </a:rPr>
              <a:t>      ...</a:t>
            </a:r>
            <a:endParaRPr lang="en-US" sz="1200" dirty="0"/>
          </a:p>
        </p:txBody>
      </p:sp>
      <p:pic>
        <p:nvPicPr>
          <p:cNvPr id="18" name="Image 0" descr="Vaan Megam Networks">    </p:cNvPr>
          <p:cNvPicPr>
            <a:picLocks noChangeAspect="1"/>
          </p:cNvPicPr>
          <p:nvPr/>
        </p:nvPicPr>
        <p:blipFill>
          <a:blip r:embed="rId1"/>
          <a:srcRect l="0" r="0" t="-56" b="-56"/>
          <a:stretch/>
        </p:blipFill>
        <p:spPr>
          <a:xfrm>
            <a:off x="914400" y="6273800"/>
            <a:ext cx="628650" cy="177800"/>
          </a:xfrm>
          <a:prstGeom prst="rect">
            <a:avLst/>
          </a:prstGeom>
        </p:spPr>
      </p:pic>
      <p:sp>
        <p:nvSpPr>
          <p:cNvPr id="19" name="Text 15"/>
          <p:cNvSpPr/>
          <p:nvPr/>
        </p:nvSpPr>
        <p:spPr>
          <a:xfrm>
            <a:off x="1670050" y="6276380"/>
            <a:ext cx="5232400" cy="200620"/>
          </a:xfrm>
          <a:prstGeom prst="rect">
            <a:avLst/>
          </a:prstGeom>
          <a:noFill/>
          <a:ln/>
        </p:spPr>
        <p:txBody>
          <a:bodyPr wrap="square" lIns="0" tIns="0" rIns="0" bIns="0" rtlCol="0" anchor="t">
            <a:normAutofit/>
          </a:bodyPr>
          <a:lstStyle/>
          <a:p>
            <a:pPr algn="l" indent="0" marL="0">
              <a:lnSpc>
                <a:spcPts val="1380"/>
              </a:lnSpc>
              <a:buNone/>
            </a:pPr>
            <a:r>
              <a:rPr lang="en-US" sz="1200" dirty="0">
                <a:solidFill>
                  <a:srgbClr val="6D6A8C"/>
                </a:solidFill>
                <a:latin typeface="Inter" pitchFamily="34" charset="0"/>
                <a:ea typeface="Inter" pitchFamily="34" charset="-122"/>
                <a:cs typeface="Inter" pitchFamily="34" charset="-120"/>
              </a:rPr>
              <a:t>TDMA Schedule Optimizer</a:t>
            </a:r>
            <a:endParaRPr lang="en-US" sz="1200" dirty="0"/>
          </a:p>
        </p:txBody>
      </p:sp>
      <p:sp>
        <p:nvSpPr>
          <p:cNvPr id="20" name="Text 16"/>
          <p:cNvSpPr/>
          <p:nvPr/>
        </p:nvSpPr>
        <p:spPr>
          <a:xfrm>
            <a:off x="10464800" y="6276380"/>
            <a:ext cx="812800" cy="200620"/>
          </a:xfrm>
          <a:prstGeom prst="rect">
            <a:avLst/>
          </a:prstGeom>
          <a:noFill/>
          <a:ln/>
        </p:spPr>
        <p:txBody>
          <a:bodyPr wrap="square" lIns="0" tIns="0" rIns="0" bIns="0" rtlCol="0" anchor="t">
            <a:normAutofit/>
          </a:bodyPr>
          <a:lstStyle/>
          <a:p>
            <a:pPr algn="r" indent="0" marL="0">
              <a:lnSpc>
                <a:spcPts val="1380"/>
              </a:lnSpc>
              <a:buNone/>
            </a:pPr>
            <a:r>
              <a:rPr lang="en-US" sz="1200" dirty="0">
                <a:solidFill>
                  <a:srgbClr val="6D6A8C"/>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CE9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CE9FA"/>
              </a:gs>
              <a:gs pos="100000">
                <a:srgbClr val="E4F2FB"/>
              </a:gs>
            </a:gsLst>
            <a:lin ang="2700000" scaled="0"/>
          </a:gradFill>
          <a:ln/>
        </p:spPr>
      </p:sp>
      <p:sp>
        <p:nvSpPr>
          <p:cNvPr id="3" name="Shape 1"/>
          <p:cNvSpPr/>
          <p:nvPr/>
        </p:nvSpPr>
        <p:spPr>
          <a:xfrm>
            <a:off x="304800" y="304800"/>
            <a:ext cx="11582400" cy="6248400"/>
          </a:xfrm>
          <a:prstGeom prst="roundRect">
            <a:avLst>
              <a:gd name="adj" fmla="val 3659"/>
            </a:avLst>
          </a:prstGeom>
          <a:solidFill>
            <a:srgbClr val="FDFDFF"/>
          </a:solidFill>
          <a:ln/>
          <a:effectLst>
            <a:outerShdw sx="100000" sy="100000" kx="0" ky="0" algn="bl" rotWithShape="0" blurRad="355600" dist="101600" dir="5400000">
              <a:srgbClr val="281E6E">
                <a:alpha val="10000"/>
              </a:srgbClr>
            </a:outerShdw>
          </a:effectLst>
        </p:spPr>
      </p:sp>
      <p:sp>
        <p:nvSpPr>
          <p:cNvPr id="4" name="Text 2"/>
          <p:cNvSpPr/>
          <p:nvPr/>
        </p:nvSpPr>
        <p:spPr>
          <a:xfrm>
            <a:off x="914400" y="81280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54C4"/>
                </a:solidFill>
                <a:latin typeface="Inter" pitchFamily="34" charset="0"/>
                <a:ea typeface="Inter" pitchFamily="34" charset="-122"/>
                <a:cs typeface="Inter" pitchFamily="34" charset="-120"/>
              </a:rPr>
              <a:t>PART 2 · RESULTS, 10 MS SLOTS</a:t>
            </a:r>
            <a:endParaRPr lang="en-US" sz="1200" dirty="0"/>
          </a:p>
        </p:txBody>
      </p:sp>
      <p:sp>
        <p:nvSpPr>
          <p:cNvPr id="5" name="Text 3"/>
          <p:cNvSpPr/>
          <p:nvPr>
            <p:ph type="title"/>
          </p:nvPr>
        </p:nvSpPr>
        <p:spPr>
          <a:xfrm>
            <a:off x="914400" y="1102320"/>
            <a:ext cx="10674096" cy="47243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40"/>
                </a:solidFill>
                <a:latin typeface="Plus Jakarta Sans" pitchFamily="34" charset="0"/>
                <a:ea typeface="Plus Jakarta Sans" pitchFamily="34" charset="-122"/>
                <a:cs typeface="Plus Jakarta Sans" pitchFamily="34" charset="-120"/>
              </a:rPr>
              <a:t>The schedule decides what gets delivered</a:t>
            </a:r>
            <a:endParaRPr lang="en-US" sz="3200" dirty="0"/>
          </a:p>
        </p:txBody>
      </p:sp>
      <p:sp>
        <p:nvSpPr>
          <p:cNvPr id="6" name="Text 4"/>
          <p:cNvSpPr/>
          <p:nvPr/>
        </p:nvSpPr>
        <p:spPr>
          <a:xfrm>
            <a:off x="914400" y="1854150"/>
            <a:ext cx="28385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840"/>
                </a:solidFill>
                <a:latin typeface="Inter" pitchFamily="34" charset="0"/>
                <a:ea typeface="Inter" pitchFamily="34" charset="-122"/>
                <a:cs typeface="Inter" pitchFamily="34" charset="-120"/>
              </a:rPr>
              <a:t>Optimizer schedule (9 slots)</a:t>
            </a:r>
            <a:endParaRPr lang="en-US" sz="1200" dirty="0"/>
          </a:p>
        </p:txBody>
      </p:sp>
      <p:sp>
        <p:nvSpPr>
          <p:cNvPr id="7" name="Text 5"/>
          <p:cNvSpPr/>
          <p:nvPr/>
        </p:nvSpPr>
        <p:spPr>
          <a:xfrm>
            <a:off x="914400" y="21436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100%</a:t>
            </a:r>
            <a:endParaRPr lang="en-US" sz="1400" dirty="0"/>
          </a:p>
        </p:txBody>
      </p:sp>
      <p:sp>
        <p:nvSpPr>
          <p:cNvPr id="8" name="Text 6"/>
          <p:cNvSpPr/>
          <p:nvPr/>
        </p:nvSpPr>
        <p:spPr>
          <a:xfrm>
            <a:off x="1612900" y="21436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100%</a:t>
            </a:r>
            <a:endParaRPr lang="en-US" sz="1400" dirty="0"/>
          </a:p>
        </p:txBody>
      </p:sp>
      <p:sp>
        <p:nvSpPr>
          <p:cNvPr id="9" name="Text 7"/>
          <p:cNvSpPr/>
          <p:nvPr/>
        </p:nvSpPr>
        <p:spPr>
          <a:xfrm>
            <a:off x="2311400" y="21436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100%</a:t>
            </a:r>
            <a:endParaRPr lang="en-US" sz="1400" dirty="0"/>
          </a:p>
        </p:txBody>
      </p:sp>
      <p:sp>
        <p:nvSpPr>
          <p:cNvPr id="10" name="Text 8"/>
          <p:cNvSpPr/>
          <p:nvPr/>
        </p:nvSpPr>
        <p:spPr>
          <a:xfrm>
            <a:off x="3009900" y="21436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100%</a:t>
            </a:r>
            <a:endParaRPr lang="en-US" sz="1400" dirty="0"/>
          </a:p>
        </p:txBody>
      </p:sp>
      <p:sp>
        <p:nvSpPr>
          <p:cNvPr id="11" name="Text 9"/>
          <p:cNvSpPr/>
          <p:nvPr/>
        </p:nvSpPr>
        <p:spPr>
          <a:xfrm>
            <a:off x="914400" y="28421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100%</a:t>
            </a:r>
            <a:endParaRPr lang="en-US" sz="1400" dirty="0"/>
          </a:p>
        </p:txBody>
      </p:sp>
      <p:sp>
        <p:nvSpPr>
          <p:cNvPr id="12" name="Text 10"/>
          <p:cNvSpPr/>
          <p:nvPr/>
        </p:nvSpPr>
        <p:spPr>
          <a:xfrm>
            <a:off x="1612900" y="28421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99.8%</a:t>
            </a:r>
            <a:endParaRPr lang="en-US" sz="1400" dirty="0"/>
          </a:p>
        </p:txBody>
      </p:sp>
      <p:sp>
        <p:nvSpPr>
          <p:cNvPr id="13" name="Text 11"/>
          <p:cNvSpPr/>
          <p:nvPr/>
        </p:nvSpPr>
        <p:spPr>
          <a:xfrm>
            <a:off x="2311400" y="28421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99.8%</a:t>
            </a:r>
            <a:endParaRPr lang="en-US" sz="1400" dirty="0"/>
          </a:p>
        </p:txBody>
      </p:sp>
      <p:sp>
        <p:nvSpPr>
          <p:cNvPr id="14" name="Text 12"/>
          <p:cNvSpPr/>
          <p:nvPr/>
        </p:nvSpPr>
        <p:spPr>
          <a:xfrm>
            <a:off x="3009900" y="28421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99.7%</a:t>
            </a:r>
            <a:endParaRPr lang="en-US" sz="1400" dirty="0"/>
          </a:p>
        </p:txBody>
      </p:sp>
      <p:sp>
        <p:nvSpPr>
          <p:cNvPr id="15" name="Text 13"/>
          <p:cNvSpPr/>
          <p:nvPr/>
        </p:nvSpPr>
        <p:spPr>
          <a:xfrm>
            <a:off x="914400" y="35406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100%</a:t>
            </a:r>
            <a:endParaRPr lang="en-US" sz="1400" dirty="0"/>
          </a:p>
        </p:txBody>
      </p:sp>
      <p:sp>
        <p:nvSpPr>
          <p:cNvPr id="16" name="Text 14"/>
          <p:cNvSpPr/>
          <p:nvPr/>
        </p:nvSpPr>
        <p:spPr>
          <a:xfrm>
            <a:off x="1612900" y="35406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99.8%</a:t>
            </a:r>
            <a:endParaRPr lang="en-US" sz="1400" dirty="0"/>
          </a:p>
        </p:txBody>
      </p:sp>
      <p:sp>
        <p:nvSpPr>
          <p:cNvPr id="17" name="Text 15"/>
          <p:cNvSpPr/>
          <p:nvPr/>
        </p:nvSpPr>
        <p:spPr>
          <a:xfrm>
            <a:off x="2311400" y="35406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100%</a:t>
            </a:r>
            <a:endParaRPr lang="en-US" sz="1400" dirty="0"/>
          </a:p>
        </p:txBody>
      </p:sp>
      <p:sp>
        <p:nvSpPr>
          <p:cNvPr id="18" name="Text 16"/>
          <p:cNvSpPr/>
          <p:nvPr/>
        </p:nvSpPr>
        <p:spPr>
          <a:xfrm>
            <a:off x="3009900" y="35406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99.7%</a:t>
            </a:r>
            <a:endParaRPr lang="en-US" sz="1400" dirty="0"/>
          </a:p>
        </p:txBody>
      </p:sp>
      <p:sp>
        <p:nvSpPr>
          <p:cNvPr id="19" name="Text 17"/>
          <p:cNvSpPr/>
          <p:nvPr/>
        </p:nvSpPr>
        <p:spPr>
          <a:xfrm>
            <a:off x="914400" y="42391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100%</a:t>
            </a:r>
            <a:endParaRPr lang="en-US" sz="1400" dirty="0"/>
          </a:p>
        </p:txBody>
      </p:sp>
      <p:sp>
        <p:nvSpPr>
          <p:cNvPr id="20" name="Text 18"/>
          <p:cNvSpPr/>
          <p:nvPr/>
        </p:nvSpPr>
        <p:spPr>
          <a:xfrm>
            <a:off x="1612900" y="42391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99.7%</a:t>
            </a:r>
            <a:endParaRPr lang="en-US" sz="1400" dirty="0"/>
          </a:p>
        </p:txBody>
      </p:sp>
      <p:sp>
        <p:nvSpPr>
          <p:cNvPr id="21" name="Text 19"/>
          <p:cNvSpPr/>
          <p:nvPr/>
        </p:nvSpPr>
        <p:spPr>
          <a:xfrm>
            <a:off x="2311400" y="42391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99.7%</a:t>
            </a:r>
            <a:endParaRPr lang="en-US" sz="1400" dirty="0"/>
          </a:p>
        </p:txBody>
      </p:sp>
      <p:sp>
        <p:nvSpPr>
          <p:cNvPr id="22" name="Text 20"/>
          <p:cNvSpPr/>
          <p:nvPr/>
        </p:nvSpPr>
        <p:spPr>
          <a:xfrm>
            <a:off x="3009900" y="42391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99.6%</a:t>
            </a:r>
            <a:endParaRPr lang="en-US" sz="1400" dirty="0"/>
          </a:p>
        </p:txBody>
      </p:sp>
      <p:sp>
        <p:nvSpPr>
          <p:cNvPr id="23" name="Text 21"/>
          <p:cNvSpPr/>
          <p:nvPr/>
        </p:nvSpPr>
        <p:spPr>
          <a:xfrm>
            <a:off x="3975100" y="1854150"/>
            <a:ext cx="28385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840"/>
                </a:solidFill>
                <a:latin typeface="Inter" pitchFamily="34" charset="0"/>
                <a:ea typeface="Inter" pitchFamily="34" charset="-122"/>
                <a:cs typeface="Inter" pitchFamily="34" charset="-120"/>
              </a:rPr>
              <a:t>Distance-1 control (5 slots)</a:t>
            </a:r>
            <a:endParaRPr lang="en-US" sz="1200" dirty="0"/>
          </a:p>
        </p:txBody>
      </p:sp>
      <p:sp>
        <p:nvSpPr>
          <p:cNvPr id="24" name="Text 22"/>
          <p:cNvSpPr/>
          <p:nvPr/>
        </p:nvSpPr>
        <p:spPr>
          <a:xfrm>
            <a:off x="3975100" y="21436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100%</a:t>
            </a:r>
            <a:endParaRPr lang="en-US" sz="1400" dirty="0"/>
          </a:p>
        </p:txBody>
      </p:sp>
      <p:sp>
        <p:nvSpPr>
          <p:cNvPr id="25" name="Text 23"/>
          <p:cNvSpPr/>
          <p:nvPr/>
        </p:nvSpPr>
        <p:spPr>
          <a:xfrm>
            <a:off x="4673600" y="21436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4D4593"/>
          </a:solidFill>
          <a:ln/>
        </p:spPr>
        <p:txBody>
          <a:bodyPr wrap="square" lIns="0" tIns="0" rIns="0" bIns="0" rtlCol="0" anchor="t">
            <a:normAutofit/>
          </a:bodyPr>
          <a:lstStyle/>
          <a:p>
            <a:pPr algn="ctr" indent="0" marL="0">
              <a:lnSpc>
                <a:spcPts val="5194"/>
              </a:lnSpc>
              <a:buNone/>
            </a:pPr>
            <a:r>
              <a:rPr lang="en-US" sz="1400" b="1" dirty="0">
                <a:solidFill>
                  <a:srgbClr val="FDFDFF"/>
                </a:solidFill>
                <a:latin typeface="Inter" pitchFamily="34" charset="0"/>
                <a:ea typeface="Inter" pitchFamily="34" charset="-122"/>
                <a:cs typeface="Inter" pitchFamily="34" charset="-120"/>
              </a:rPr>
              <a:t>20%</a:t>
            </a:r>
            <a:endParaRPr lang="en-US" sz="1400" dirty="0"/>
          </a:p>
        </p:txBody>
      </p:sp>
      <p:sp>
        <p:nvSpPr>
          <p:cNvPr id="26" name="Text 24"/>
          <p:cNvSpPr/>
          <p:nvPr/>
        </p:nvSpPr>
        <p:spPr>
          <a:xfrm>
            <a:off x="5372100" y="21436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4D4593"/>
          </a:solidFill>
          <a:ln/>
        </p:spPr>
        <p:txBody>
          <a:bodyPr wrap="square" lIns="0" tIns="0" rIns="0" bIns="0" rtlCol="0" anchor="t">
            <a:normAutofit/>
          </a:bodyPr>
          <a:lstStyle/>
          <a:p>
            <a:pPr algn="ctr" indent="0" marL="0">
              <a:lnSpc>
                <a:spcPts val="5194"/>
              </a:lnSpc>
              <a:buNone/>
            </a:pPr>
            <a:r>
              <a:rPr lang="en-US" sz="1400" b="1" dirty="0">
                <a:solidFill>
                  <a:srgbClr val="FDFDFF"/>
                </a:solidFill>
                <a:latin typeface="Inter" pitchFamily="34" charset="0"/>
                <a:ea typeface="Inter" pitchFamily="34" charset="-122"/>
                <a:cs typeface="Inter" pitchFamily="34" charset="-120"/>
              </a:rPr>
              <a:t>20%</a:t>
            </a:r>
            <a:endParaRPr lang="en-US" sz="1400" dirty="0"/>
          </a:p>
        </p:txBody>
      </p:sp>
      <p:sp>
        <p:nvSpPr>
          <p:cNvPr id="27" name="Text 25"/>
          <p:cNvSpPr/>
          <p:nvPr/>
        </p:nvSpPr>
        <p:spPr>
          <a:xfrm>
            <a:off x="6070600" y="21436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100%</a:t>
            </a:r>
            <a:endParaRPr lang="en-US" sz="1400" dirty="0"/>
          </a:p>
        </p:txBody>
      </p:sp>
      <p:sp>
        <p:nvSpPr>
          <p:cNvPr id="28" name="Text 26"/>
          <p:cNvSpPr/>
          <p:nvPr/>
        </p:nvSpPr>
        <p:spPr>
          <a:xfrm>
            <a:off x="3975100" y="28421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4D4593"/>
          </a:solidFill>
          <a:ln/>
        </p:spPr>
        <p:txBody>
          <a:bodyPr wrap="square" lIns="0" tIns="0" rIns="0" bIns="0" rtlCol="0" anchor="t">
            <a:normAutofit/>
          </a:bodyPr>
          <a:lstStyle/>
          <a:p>
            <a:pPr algn="ctr" indent="0" marL="0">
              <a:lnSpc>
                <a:spcPts val="5194"/>
              </a:lnSpc>
              <a:buNone/>
            </a:pPr>
            <a:r>
              <a:rPr lang="en-US" sz="1400" b="1" dirty="0">
                <a:solidFill>
                  <a:srgbClr val="FDFDFF"/>
                </a:solidFill>
                <a:latin typeface="Inter" pitchFamily="34" charset="0"/>
                <a:ea typeface="Inter" pitchFamily="34" charset="-122"/>
                <a:cs typeface="Inter" pitchFamily="34" charset="-120"/>
              </a:rPr>
              <a:t>20%</a:t>
            </a:r>
            <a:endParaRPr lang="en-US" sz="1400" dirty="0"/>
          </a:p>
        </p:txBody>
      </p:sp>
      <p:sp>
        <p:nvSpPr>
          <p:cNvPr id="29" name="Text 27"/>
          <p:cNvSpPr/>
          <p:nvPr/>
        </p:nvSpPr>
        <p:spPr>
          <a:xfrm>
            <a:off x="4673600" y="28421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3D3682"/>
          </a:solidFill>
          <a:ln/>
        </p:spPr>
        <p:txBody>
          <a:bodyPr wrap="square" lIns="0" tIns="0" rIns="0" bIns="0" rtlCol="0" anchor="t">
            <a:normAutofit/>
          </a:bodyPr>
          <a:lstStyle/>
          <a:p>
            <a:pPr algn="ctr" indent="0" marL="0">
              <a:lnSpc>
                <a:spcPts val="5194"/>
              </a:lnSpc>
              <a:buNone/>
            </a:pPr>
            <a:r>
              <a:rPr lang="en-US" sz="1400" b="1" dirty="0">
                <a:solidFill>
                  <a:srgbClr val="FDFDFF"/>
                </a:solidFill>
                <a:latin typeface="Inter" pitchFamily="34" charset="0"/>
                <a:ea typeface="Inter" pitchFamily="34" charset="-122"/>
                <a:cs typeface="Inter" pitchFamily="34" charset="-120"/>
              </a:rPr>
              <a:t>12.5%</a:t>
            </a:r>
            <a:endParaRPr lang="en-US" sz="1400" dirty="0"/>
          </a:p>
        </p:txBody>
      </p:sp>
      <p:sp>
        <p:nvSpPr>
          <p:cNvPr id="30" name="Text 28"/>
          <p:cNvSpPr/>
          <p:nvPr/>
        </p:nvSpPr>
        <p:spPr>
          <a:xfrm>
            <a:off x="5372100" y="28421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58509E"/>
          </a:solidFill>
          <a:ln/>
        </p:spPr>
        <p:txBody>
          <a:bodyPr wrap="square" lIns="0" tIns="0" rIns="0" bIns="0" rtlCol="0" anchor="t">
            <a:normAutofit/>
          </a:bodyPr>
          <a:lstStyle/>
          <a:p>
            <a:pPr algn="ctr" indent="0" marL="0">
              <a:lnSpc>
                <a:spcPts val="5194"/>
              </a:lnSpc>
              <a:buNone/>
            </a:pPr>
            <a:r>
              <a:rPr lang="en-US" sz="1400" b="1" dirty="0">
                <a:solidFill>
                  <a:srgbClr val="FDFDFF"/>
                </a:solidFill>
                <a:latin typeface="Inter" pitchFamily="34" charset="0"/>
                <a:ea typeface="Inter" pitchFamily="34" charset="-122"/>
                <a:cs typeface="Inter" pitchFamily="34" charset="-120"/>
              </a:rPr>
              <a:t>25%</a:t>
            </a:r>
            <a:endParaRPr lang="en-US" sz="1400" dirty="0"/>
          </a:p>
        </p:txBody>
      </p:sp>
      <p:sp>
        <p:nvSpPr>
          <p:cNvPr id="31" name="Text 29"/>
          <p:cNvSpPr/>
          <p:nvPr/>
        </p:nvSpPr>
        <p:spPr>
          <a:xfrm>
            <a:off x="6070600" y="28421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9F98DD"/>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60%</a:t>
            </a:r>
            <a:endParaRPr lang="en-US" sz="1400" dirty="0"/>
          </a:p>
        </p:txBody>
      </p:sp>
      <p:sp>
        <p:nvSpPr>
          <p:cNvPr id="32" name="Text 30"/>
          <p:cNvSpPr/>
          <p:nvPr/>
        </p:nvSpPr>
        <p:spPr>
          <a:xfrm>
            <a:off x="3975100" y="35406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4D4593"/>
          </a:solidFill>
          <a:ln/>
        </p:spPr>
        <p:txBody>
          <a:bodyPr wrap="square" lIns="0" tIns="0" rIns="0" bIns="0" rtlCol="0" anchor="t">
            <a:normAutofit/>
          </a:bodyPr>
          <a:lstStyle/>
          <a:p>
            <a:pPr algn="ctr" indent="0" marL="0">
              <a:lnSpc>
                <a:spcPts val="5194"/>
              </a:lnSpc>
              <a:buNone/>
            </a:pPr>
            <a:r>
              <a:rPr lang="en-US" sz="1400" b="1" dirty="0">
                <a:solidFill>
                  <a:srgbClr val="FDFDFF"/>
                </a:solidFill>
                <a:latin typeface="Inter" pitchFamily="34" charset="0"/>
                <a:ea typeface="Inter" pitchFamily="34" charset="-122"/>
                <a:cs typeface="Inter" pitchFamily="34" charset="-120"/>
              </a:rPr>
              <a:t>20%</a:t>
            </a:r>
            <a:endParaRPr lang="en-US" sz="1400" dirty="0"/>
          </a:p>
        </p:txBody>
      </p:sp>
      <p:sp>
        <p:nvSpPr>
          <p:cNvPr id="33" name="Text 31"/>
          <p:cNvSpPr/>
          <p:nvPr/>
        </p:nvSpPr>
        <p:spPr>
          <a:xfrm>
            <a:off x="4673600" y="35406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58509E"/>
          </a:solidFill>
          <a:ln/>
        </p:spPr>
        <p:txBody>
          <a:bodyPr wrap="square" lIns="0" tIns="0" rIns="0" bIns="0" rtlCol="0" anchor="t">
            <a:normAutofit/>
          </a:bodyPr>
          <a:lstStyle/>
          <a:p>
            <a:pPr algn="ctr" indent="0" marL="0">
              <a:lnSpc>
                <a:spcPts val="5194"/>
              </a:lnSpc>
              <a:buNone/>
            </a:pPr>
            <a:r>
              <a:rPr lang="en-US" sz="1400" b="1" dirty="0">
                <a:solidFill>
                  <a:srgbClr val="FDFDFF"/>
                </a:solidFill>
                <a:latin typeface="Inter" pitchFamily="34" charset="0"/>
                <a:ea typeface="Inter" pitchFamily="34" charset="-122"/>
                <a:cs typeface="Inter" pitchFamily="34" charset="-120"/>
              </a:rPr>
              <a:t>25%</a:t>
            </a:r>
            <a:endParaRPr lang="en-US" sz="1400" dirty="0"/>
          </a:p>
        </p:txBody>
      </p:sp>
      <p:sp>
        <p:nvSpPr>
          <p:cNvPr id="34" name="Text 32"/>
          <p:cNvSpPr/>
          <p:nvPr/>
        </p:nvSpPr>
        <p:spPr>
          <a:xfrm>
            <a:off x="5372100" y="35406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231C66"/>
          </a:solidFill>
          <a:ln/>
        </p:spPr>
        <p:txBody>
          <a:bodyPr wrap="square" lIns="0" tIns="0" rIns="0" bIns="0" rtlCol="0" anchor="t">
            <a:normAutofit/>
          </a:bodyPr>
          <a:lstStyle/>
          <a:p>
            <a:pPr algn="ctr" indent="0" marL="0">
              <a:lnSpc>
                <a:spcPts val="5194"/>
              </a:lnSpc>
              <a:buNone/>
            </a:pPr>
            <a:r>
              <a:rPr lang="en-US" sz="1400" b="1" dirty="0">
                <a:solidFill>
                  <a:srgbClr val="FDFDFF"/>
                </a:solidFill>
                <a:latin typeface="Inter" pitchFamily="34" charset="0"/>
                <a:ea typeface="Inter" pitchFamily="34" charset="-122"/>
                <a:cs typeface="Inter" pitchFamily="34" charset="-120"/>
              </a:rPr>
              <a:t>0%</a:t>
            </a:r>
            <a:endParaRPr lang="en-US" sz="1400" dirty="0"/>
          </a:p>
        </p:txBody>
      </p:sp>
      <p:sp>
        <p:nvSpPr>
          <p:cNvPr id="35" name="Text 33"/>
          <p:cNvSpPr/>
          <p:nvPr/>
        </p:nvSpPr>
        <p:spPr>
          <a:xfrm>
            <a:off x="6070600" y="35406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4D4593"/>
          </a:solidFill>
          <a:ln/>
        </p:spPr>
        <p:txBody>
          <a:bodyPr wrap="square" lIns="0" tIns="0" rIns="0" bIns="0" rtlCol="0" anchor="t">
            <a:normAutofit/>
          </a:bodyPr>
          <a:lstStyle/>
          <a:p>
            <a:pPr algn="ctr" indent="0" marL="0">
              <a:lnSpc>
                <a:spcPts val="5194"/>
              </a:lnSpc>
              <a:buNone/>
            </a:pPr>
            <a:r>
              <a:rPr lang="en-US" sz="1400" b="1" dirty="0">
                <a:solidFill>
                  <a:srgbClr val="FDFDFF"/>
                </a:solidFill>
                <a:latin typeface="Inter" pitchFamily="34" charset="0"/>
                <a:ea typeface="Inter" pitchFamily="34" charset="-122"/>
                <a:cs typeface="Inter" pitchFamily="34" charset="-120"/>
              </a:rPr>
              <a:t>20%</a:t>
            </a:r>
            <a:endParaRPr lang="en-US" sz="1400" dirty="0"/>
          </a:p>
        </p:txBody>
      </p:sp>
      <p:sp>
        <p:nvSpPr>
          <p:cNvPr id="36" name="Text 34"/>
          <p:cNvSpPr/>
          <p:nvPr/>
        </p:nvSpPr>
        <p:spPr>
          <a:xfrm>
            <a:off x="3975100" y="42391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100%</a:t>
            </a:r>
            <a:endParaRPr lang="en-US" sz="1400" dirty="0"/>
          </a:p>
        </p:txBody>
      </p:sp>
      <p:sp>
        <p:nvSpPr>
          <p:cNvPr id="37" name="Text 35"/>
          <p:cNvSpPr/>
          <p:nvPr/>
        </p:nvSpPr>
        <p:spPr>
          <a:xfrm>
            <a:off x="4673600" y="42391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9F98DD"/>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60%</a:t>
            </a:r>
            <a:endParaRPr lang="en-US" sz="1400" dirty="0"/>
          </a:p>
        </p:txBody>
      </p:sp>
      <p:sp>
        <p:nvSpPr>
          <p:cNvPr id="38" name="Text 36"/>
          <p:cNvSpPr/>
          <p:nvPr/>
        </p:nvSpPr>
        <p:spPr>
          <a:xfrm>
            <a:off x="5372100" y="42391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4D4593"/>
          </a:solidFill>
          <a:ln/>
        </p:spPr>
        <p:txBody>
          <a:bodyPr wrap="square" lIns="0" tIns="0" rIns="0" bIns="0" rtlCol="0" anchor="t">
            <a:normAutofit/>
          </a:bodyPr>
          <a:lstStyle/>
          <a:p>
            <a:pPr algn="ctr" indent="0" marL="0">
              <a:lnSpc>
                <a:spcPts val="5194"/>
              </a:lnSpc>
              <a:buNone/>
            </a:pPr>
            <a:r>
              <a:rPr lang="en-US" sz="1400" b="1" dirty="0">
                <a:solidFill>
                  <a:srgbClr val="FDFDFF"/>
                </a:solidFill>
                <a:latin typeface="Inter" pitchFamily="34" charset="0"/>
                <a:ea typeface="Inter" pitchFamily="34" charset="-122"/>
                <a:cs typeface="Inter" pitchFamily="34" charset="-120"/>
              </a:rPr>
              <a:t>20%</a:t>
            </a:r>
            <a:endParaRPr lang="en-US" sz="1400" dirty="0"/>
          </a:p>
        </p:txBody>
      </p:sp>
      <p:sp>
        <p:nvSpPr>
          <p:cNvPr id="39" name="Text 37"/>
          <p:cNvSpPr/>
          <p:nvPr/>
        </p:nvSpPr>
        <p:spPr>
          <a:xfrm>
            <a:off x="6070600" y="4239171"/>
            <a:ext cx="660400" cy="660400"/>
          </a:xfrm>
          <a:custGeom>
            <a:avLst/>
            <a:gdLst/>
            <a:ahLst/>
            <a:cxnLst/>
            <a:rect l="l" t="t" r="r" b="b"/>
            <a:pathLst>
              <a:path w="660400" h="660400">
                <a:moveTo>
                  <a:pt x="76200" y="0"/>
                </a:moveTo>
                <a:lnTo>
                  <a:pt x="584200" y="0"/>
                </a:lnTo>
                <a:arcTo hR="76200" wR="76200" stAng="16200000" swAng="5400000"/>
                <a:lnTo>
                  <a:pt x="660400" y="584200"/>
                </a:lnTo>
                <a:arcTo hR="76200" wR="76200" stAng="0" swAng="5400000"/>
                <a:lnTo>
                  <a:pt x="76200" y="660400"/>
                </a:lnTo>
                <a:arcTo hR="76200" wR="76200" stAng="5400000" swAng="5400000"/>
                <a:lnTo>
                  <a:pt x="0" y="76200"/>
                </a:lnTo>
                <a:arcTo hR="76200" wR="76200" stAng="10800000" swAng="5400000"/>
                <a:close/>
              </a:path>
            </a:pathLst>
          </a:custGeom>
          <a:solidFill>
            <a:srgbClr val="EDEBFA"/>
          </a:solidFill>
          <a:ln/>
        </p:spPr>
        <p:txBody>
          <a:bodyPr wrap="square" lIns="0" tIns="0" rIns="0" bIns="0" rtlCol="0" anchor="t">
            <a:normAutofit/>
          </a:bodyPr>
          <a:lstStyle/>
          <a:p>
            <a:pPr algn="ctr" indent="0" marL="0">
              <a:lnSpc>
                <a:spcPts val="5194"/>
              </a:lnSpc>
              <a:buNone/>
            </a:pPr>
            <a:r>
              <a:rPr lang="en-US" sz="1400" b="1" dirty="0">
                <a:solidFill>
                  <a:srgbClr val="1B1840"/>
                </a:solidFill>
                <a:latin typeface="Inter" pitchFamily="34" charset="0"/>
                <a:ea typeface="Inter" pitchFamily="34" charset="-122"/>
                <a:cs typeface="Inter" pitchFamily="34" charset="-120"/>
              </a:rPr>
              <a:t>100%</a:t>
            </a:r>
            <a:endParaRPr lang="en-US" sz="1400" dirty="0"/>
          </a:p>
        </p:txBody>
      </p:sp>
      <p:sp>
        <p:nvSpPr>
          <p:cNvPr id="40" name="Text 38"/>
          <p:cNvSpPr/>
          <p:nvPr/>
        </p:nvSpPr>
        <p:spPr>
          <a:xfrm>
            <a:off x="914400" y="5001171"/>
            <a:ext cx="599109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D6A8C"/>
                </a:solidFill>
                <a:latin typeface="Inter" pitchFamily="34" charset="0"/>
                <a:ea typeface="Inter" pitchFamily="34" charset="-122"/>
                <a:cs typeface="Inter" pitchFamily="34" charset="-120"/>
              </a:rPr>
              <a:t>Each cell is one radio, laid out as on the grid: the share of its neighbours' packets it received. Darker means more loss. No packet was heard beyond 500 m.</a:t>
            </a:r>
            <a:endParaRPr lang="en-US" sz="1200" dirty="0"/>
          </a:p>
        </p:txBody>
      </p:sp>
      <p:sp>
        <p:nvSpPr>
          <p:cNvPr id="41" name="Shape 39"/>
          <p:cNvSpPr/>
          <p:nvPr/>
        </p:nvSpPr>
        <p:spPr>
          <a:xfrm>
            <a:off x="7035800" y="1854150"/>
            <a:ext cx="4241800" cy="1605211"/>
          </a:xfrm>
          <a:prstGeom prst="roundRect">
            <a:avLst>
              <a:gd name="adj" fmla="val 9494"/>
            </a:avLst>
          </a:prstGeom>
          <a:solidFill>
            <a:srgbClr val="F4F3FB"/>
          </a:solidFill>
          <a:ln/>
        </p:spPr>
      </p:sp>
      <p:sp>
        <p:nvSpPr>
          <p:cNvPr id="42" name="Text 40"/>
          <p:cNvSpPr/>
          <p:nvPr/>
        </p:nvSpPr>
        <p:spPr>
          <a:xfrm>
            <a:off x="7239000" y="2006550"/>
            <a:ext cx="3950462" cy="787400"/>
          </a:xfrm>
          <a:prstGeom prst="rect">
            <a:avLst/>
          </a:prstGeom>
          <a:noFill/>
          <a:ln/>
        </p:spPr>
        <p:txBody>
          <a:bodyPr wrap="square" lIns="0" tIns="0" rIns="0" bIns="0" rtlCol="0" anchor="t">
            <a:normAutofit/>
          </a:bodyPr>
          <a:lstStyle/>
          <a:p>
            <a:pPr algn="l" indent="0" marL="0">
              <a:lnSpc>
                <a:spcPts val="6000"/>
              </a:lnSpc>
              <a:buNone/>
            </a:pPr>
            <a:r>
              <a:rPr lang="en-US" sz="6000" b="1" spc="-100" kern="0" dirty="0">
                <a:solidFill>
                  <a:srgbClr val="5E54C4"/>
                </a:solidFill>
                <a:latin typeface="Plus Jakarta Sans" pitchFamily="34" charset="0"/>
                <a:ea typeface="Plus Jakarta Sans" pitchFamily="34" charset="-122"/>
                <a:cs typeface="Plus Jakarta Sans" pitchFamily="34" charset="-120"/>
              </a:rPr>
              <a:t>99.9%</a:t>
            </a:r>
            <a:endParaRPr lang="en-US" sz="6000" dirty="0"/>
          </a:p>
        </p:txBody>
      </p:sp>
      <p:sp>
        <p:nvSpPr>
          <p:cNvPr id="43" name="Text 41"/>
          <p:cNvSpPr/>
          <p:nvPr/>
        </p:nvSpPr>
        <p:spPr>
          <a:xfrm>
            <a:off x="7239000" y="2806650"/>
            <a:ext cx="395046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with the optimizer's schedule</a:t>
            </a:r>
            <a:endParaRPr lang="en-US" sz="1400" dirty="0"/>
          </a:p>
        </p:txBody>
      </p:sp>
      <p:sp>
        <p:nvSpPr>
          <p:cNvPr id="44" name="Text 42"/>
          <p:cNvSpPr/>
          <p:nvPr/>
        </p:nvSpPr>
        <p:spPr>
          <a:xfrm>
            <a:off x="7239000" y="3093641"/>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0 bytes lost to SINR in any of three runs</a:t>
            </a:r>
            <a:endParaRPr lang="en-US" sz="1200" dirty="0"/>
          </a:p>
        </p:txBody>
      </p:sp>
      <p:sp>
        <p:nvSpPr>
          <p:cNvPr id="45" name="Shape 43"/>
          <p:cNvSpPr/>
          <p:nvPr/>
        </p:nvSpPr>
        <p:spPr>
          <a:xfrm>
            <a:off x="7035800" y="3611761"/>
            <a:ext cx="4241800" cy="1605211"/>
          </a:xfrm>
          <a:prstGeom prst="roundRect">
            <a:avLst>
              <a:gd name="adj" fmla="val 9494"/>
            </a:avLst>
          </a:prstGeom>
          <a:solidFill>
            <a:srgbClr val="F4F3FB"/>
          </a:solidFill>
          <a:ln/>
        </p:spPr>
      </p:sp>
      <p:sp>
        <p:nvSpPr>
          <p:cNvPr id="46" name="Text 44"/>
          <p:cNvSpPr/>
          <p:nvPr/>
        </p:nvSpPr>
        <p:spPr>
          <a:xfrm>
            <a:off x="7239000" y="3764161"/>
            <a:ext cx="3950462" cy="787400"/>
          </a:xfrm>
          <a:prstGeom prst="rect">
            <a:avLst/>
          </a:prstGeom>
          <a:noFill/>
          <a:ln/>
        </p:spPr>
        <p:txBody>
          <a:bodyPr wrap="square" lIns="0" tIns="0" rIns="0" bIns="0" rtlCol="0" anchor="t">
            <a:normAutofit/>
          </a:bodyPr>
          <a:lstStyle/>
          <a:p>
            <a:pPr algn="l" indent="0" marL="0">
              <a:lnSpc>
                <a:spcPts val="6000"/>
              </a:lnSpc>
              <a:buNone/>
            </a:pPr>
            <a:r>
              <a:rPr lang="en-US" sz="6000" b="1" spc="-100" kern="0" dirty="0">
                <a:solidFill>
                  <a:srgbClr val="D9572B"/>
                </a:solidFill>
                <a:latin typeface="Plus Jakarta Sans" pitchFamily="34" charset="0"/>
                <a:ea typeface="Plus Jakarta Sans" pitchFamily="34" charset="-122"/>
                <a:cs typeface="Plus Jakarta Sans" pitchFamily="34" charset="-120"/>
              </a:rPr>
              <a:t>34.5%</a:t>
            </a:r>
            <a:endParaRPr lang="en-US" sz="6000" dirty="0"/>
          </a:p>
        </p:txBody>
      </p:sp>
      <p:sp>
        <p:nvSpPr>
          <p:cNvPr id="47" name="Text 45"/>
          <p:cNvSpPr/>
          <p:nvPr/>
        </p:nvSpPr>
        <p:spPr>
          <a:xfrm>
            <a:off x="7239000" y="4564261"/>
            <a:ext cx="395046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with the distance-1 control</a:t>
            </a:r>
            <a:endParaRPr lang="en-US" sz="1400" dirty="0"/>
          </a:p>
        </p:txBody>
      </p:sp>
      <p:sp>
        <p:nvSpPr>
          <p:cNvPr id="48" name="Text 46"/>
          <p:cNvSpPr/>
          <p:nvPr/>
        </p:nvSpPr>
        <p:spPr>
          <a:xfrm>
            <a:off x="7239000" y="4851251"/>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763,194 bytes lost to SINR; 55 of 84 links hit</a:t>
            </a:r>
            <a:endParaRPr lang="en-US" sz="1200" dirty="0"/>
          </a:p>
        </p:txBody>
      </p:sp>
      <p:pic>
        <p:nvPicPr>
          <p:cNvPr id="49" name="Image 0" descr="Vaan Megam Networks">    </p:cNvPr>
          <p:cNvPicPr>
            <a:picLocks noChangeAspect="1"/>
          </p:cNvPicPr>
          <p:nvPr/>
        </p:nvPicPr>
        <p:blipFill>
          <a:blip r:embed="rId1"/>
          <a:srcRect l="0" r="0" t="-56" b="-56"/>
          <a:stretch/>
        </p:blipFill>
        <p:spPr>
          <a:xfrm>
            <a:off x="914400" y="6273800"/>
            <a:ext cx="628650" cy="177800"/>
          </a:xfrm>
          <a:prstGeom prst="rect">
            <a:avLst/>
          </a:prstGeom>
        </p:spPr>
      </p:pic>
      <p:sp>
        <p:nvSpPr>
          <p:cNvPr id="50" name="Text 47"/>
          <p:cNvSpPr/>
          <p:nvPr/>
        </p:nvSpPr>
        <p:spPr>
          <a:xfrm>
            <a:off x="1670050" y="6276380"/>
            <a:ext cx="5232400" cy="200620"/>
          </a:xfrm>
          <a:prstGeom prst="rect">
            <a:avLst/>
          </a:prstGeom>
          <a:noFill/>
          <a:ln/>
        </p:spPr>
        <p:txBody>
          <a:bodyPr wrap="square" lIns="0" tIns="0" rIns="0" bIns="0" rtlCol="0" anchor="t">
            <a:normAutofit/>
          </a:bodyPr>
          <a:lstStyle/>
          <a:p>
            <a:pPr algn="l" indent="0" marL="0">
              <a:lnSpc>
                <a:spcPts val="1380"/>
              </a:lnSpc>
              <a:buNone/>
            </a:pPr>
            <a:r>
              <a:rPr lang="en-US" sz="1200" dirty="0">
                <a:solidFill>
                  <a:srgbClr val="6D6A8C"/>
                </a:solidFill>
                <a:latin typeface="Inter" pitchFamily="34" charset="0"/>
                <a:ea typeface="Inter" pitchFamily="34" charset="-122"/>
                <a:cs typeface="Inter" pitchFamily="34" charset="-120"/>
              </a:rPr>
              <a:t>TDMA Schedule Optimizer</a:t>
            </a:r>
            <a:endParaRPr lang="en-US" sz="1200" dirty="0"/>
          </a:p>
        </p:txBody>
      </p:sp>
      <p:sp>
        <p:nvSpPr>
          <p:cNvPr id="51" name="Text 48"/>
          <p:cNvSpPr/>
          <p:nvPr/>
        </p:nvSpPr>
        <p:spPr>
          <a:xfrm>
            <a:off x="10464800" y="6276380"/>
            <a:ext cx="812800" cy="200620"/>
          </a:xfrm>
          <a:prstGeom prst="rect">
            <a:avLst/>
          </a:prstGeom>
          <a:noFill/>
          <a:ln/>
        </p:spPr>
        <p:txBody>
          <a:bodyPr wrap="square" lIns="0" tIns="0" rIns="0" bIns="0" rtlCol="0" anchor="t">
            <a:normAutofit/>
          </a:bodyPr>
          <a:lstStyle/>
          <a:p>
            <a:pPr algn="r" indent="0" marL="0">
              <a:lnSpc>
                <a:spcPts val="1380"/>
              </a:lnSpc>
              <a:buNone/>
            </a:pPr>
            <a:r>
              <a:rPr lang="en-US" sz="1200" dirty="0">
                <a:solidFill>
                  <a:srgbClr val="6D6A8C"/>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CE9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CE9FA"/>
              </a:gs>
              <a:gs pos="100000">
                <a:srgbClr val="E4F2FB"/>
              </a:gs>
            </a:gsLst>
            <a:lin ang="2700000" scaled="0"/>
          </a:gradFill>
          <a:ln/>
        </p:spPr>
      </p:sp>
      <p:sp>
        <p:nvSpPr>
          <p:cNvPr id="3" name="Shape 1"/>
          <p:cNvSpPr/>
          <p:nvPr/>
        </p:nvSpPr>
        <p:spPr>
          <a:xfrm>
            <a:off x="304800" y="304800"/>
            <a:ext cx="11582400" cy="6248400"/>
          </a:xfrm>
          <a:prstGeom prst="roundRect">
            <a:avLst>
              <a:gd name="adj" fmla="val 3659"/>
            </a:avLst>
          </a:prstGeom>
          <a:solidFill>
            <a:srgbClr val="FDFDFF"/>
          </a:solidFill>
          <a:ln/>
          <a:effectLst>
            <a:outerShdw sx="100000" sy="100000" kx="0" ky="0" algn="bl" rotWithShape="0" blurRad="355600" dist="101600" dir="5400000">
              <a:srgbClr val="281E6E">
                <a:alpha val="10000"/>
              </a:srgbClr>
            </a:outerShdw>
          </a:effectLst>
        </p:spPr>
      </p:sp>
      <p:sp>
        <p:nvSpPr>
          <p:cNvPr id="4" name="Text 2"/>
          <p:cNvSpPr/>
          <p:nvPr/>
        </p:nvSpPr>
        <p:spPr>
          <a:xfrm>
            <a:off x="914400" y="81280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54C4"/>
                </a:solidFill>
                <a:latin typeface="Inter" pitchFamily="34" charset="0"/>
                <a:ea typeface="Inter" pitchFamily="34" charset="-122"/>
                <a:cs typeface="Inter" pitchFamily="34" charset="-120"/>
              </a:rPr>
              <a:t>PART 2 · RESULTS, 1 MS SLOTS</a:t>
            </a:r>
            <a:endParaRPr lang="en-US" sz="1200" dirty="0"/>
          </a:p>
        </p:txBody>
      </p:sp>
      <p:sp>
        <p:nvSpPr>
          <p:cNvPr id="5" name="Text 3"/>
          <p:cNvSpPr/>
          <p:nvPr>
            <p:ph type="title"/>
          </p:nvPr>
        </p:nvSpPr>
        <p:spPr>
          <a:xfrm>
            <a:off x="914400" y="1102320"/>
            <a:ext cx="10674096" cy="47243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40"/>
                </a:solidFill>
                <a:latin typeface="Plus Jakarta Sans" pitchFamily="34" charset="0"/>
                <a:ea typeface="Plus Jakarta Sans" pitchFamily="34" charset="-122"/>
                <a:cs typeface="Plus Jakarta Sans" pitchFamily="34" charset="-120"/>
              </a:rPr>
              <a:t>1 ms slots: timing loss, not collisions</a:t>
            </a:r>
            <a:endParaRPr lang="en-US" sz="3200" dirty="0"/>
          </a:p>
        </p:txBody>
      </p:sp>
      <p:sp>
        <p:nvSpPr>
          <p:cNvPr id="6" name="Shape 4"/>
          <p:cNvSpPr/>
          <p:nvPr/>
        </p:nvSpPr>
        <p:spPr>
          <a:xfrm>
            <a:off x="914400" y="1854150"/>
            <a:ext cx="5207000" cy="3723531"/>
          </a:xfrm>
          <a:prstGeom prst="roundRect">
            <a:avLst>
              <a:gd name="adj" fmla="val 4775"/>
            </a:avLst>
          </a:prstGeom>
          <a:solidFill>
            <a:srgbClr val="F4F3FB"/>
          </a:solidFill>
          <a:ln/>
        </p:spPr>
      </p:sp>
      <p:sp>
        <p:nvSpPr>
          <p:cNvPr id="7" name="Text 5"/>
          <p:cNvSpPr/>
          <p:nvPr/>
        </p:nvSpPr>
        <p:spPr>
          <a:xfrm>
            <a:off x="1168400" y="2108150"/>
            <a:ext cx="48399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Packets delivered over in-range links</a:t>
            </a:r>
            <a:endParaRPr lang="en-US" sz="1400" dirty="0"/>
          </a:p>
        </p:txBody>
      </p:sp>
      <p:sp>
        <p:nvSpPr>
          <p:cNvPr id="8" name="Shape 6"/>
          <p:cNvSpPr/>
          <p:nvPr/>
        </p:nvSpPr>
        <p:spPr>
          <a:xfrm>
            <a:off x="1168400" y="2514501"/>
            <a:ext cx="152400" cy="152400"/>
          </a:xfrm>
          <a:prstGeom prst="roundRect">
            <a:avLst>
              <a:gd name="adj" fmla="val 25000"/>
            </a:avLst>
          </a:prstGeom>
          <a:solidFill>
            <a:srgbClr val="5E54C4"/>
          </a:solidFill>
          <a:ln/>
        </p:spPr>
      </p:sp>
      <p:sp>
        <p:nvSpPr>
          <p:cNvPr id="9" name="Text 7"/>
          <p:cNvSpPr/>
          <p:nvPr/>
        </p:nvSpPr>
        <p:spPr>
          <a:xfrm>
            <a:off x="1397000" y="2484041"/>
            <a:ext cx="1596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Optimizer schedule</a:t>
            </a:r>
            <a:endParaRPr lang="en-US" sz="1200" dirty="0"/>
          </a:p>
        </p:txBody>
      </p:sp>
      <p:sp>
        <p:nvSpPr>
          <p:cNvPr id="10" name="Shape 8"/>
          <p:cNvSpPr/>
          <p:nvPr/>
        </p:nvSpPr>
        <p:spPr>
          <a:xfrm>
            <a:off x="2993926" y="2514501"/>
            <a:ext cx="152400" cy="152400"/>
          </a:xfrm>
          <a:prstGeom prst="roundRect">
            <a:avLst>
              <a:gd name="adj" fmla="val 25000"/>
            </a:avLst>
          </a:prstGeom>
          <a:solidFill>
            <a:srgbClr val="D9572B"/>
          </a:solidFill>
          <a:ln/>
        </p:spPr>
      </p:sp>
      <p:sp>
        <p:nvSpPr>
          <p:cNvPr id="11" name="Text 9"/>
          <p:cNvSpPr/>
          <p:nvPr/>
        </p:nvSpPr>
        <p:spPr>
          <a:xfrm>
            <a:off x="3222526" y="2484041"/>
            <a:ext cx="15671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Distance-1 control</a:t>
            </a:r>
            <a:endParaRPr lang="en-US" sz="1200" dirty="0"/>
          </a:p>
        </p:txBody>
      </p:sp>
      <p:sp>
        <p:nvSpPr>
          <p:cNvPr id="12" name="Shape 10"/>
          <p:cNvSpPr/>
          <p:nvPr/>
        </p:nvSpPr>
        <p:spPr>
          <a:xfrm>
            <a:off x="1168400" y="4977011"/>
            <a:ext cx="4699000" cy="0"/>
          </a:xfrm>
          <a:prstGeom prst="line">
            <a:avLst/>
          </a:prstGeom>
          <a:noFill/>
          <a:ln w="12700">
            <a:solidFill>
              <a:srgbClr val="CFCBE8"/>
            </a:solidFill>
            <a:prstDash val="solid"/>
          </a:ln>
        </p:spPr>
      </p:sp>
      <p:sp>
        <p:nvSpPr>
          <p:cNvPr id="13" name="Text 11"/>
          <p:cNvSpPr/>
          <p:nvPr/>
        </p:nvSpPr>
        <p:spPr>
          <a:xfrm>
            <a:off x="1685667" y="3169841"/>
            <a:ext cx="60376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1840"/>
                </a:solidFill>
                <a:latin typeface="Inter" pitchFamily="34" charset="0"/>
                <a:ea typeface="Inter" pitchFamily="34" charset="-122"/>
                <a:cs typeface="Inter" pitchFamily="34" charset="-120"/>
              </a:rPr>
              <a:t>83.4%</a:t>
            </a:r>
            <a:endParaRPr lang="en-US" sz="1200" dirty="0"/>
          </a:p>
        </p:txBody>
      </p:sp>
      <p:sp>
        <p:nvSpPr>
          <p:cNvPr id="14" name="Shape 12"/>
          <p:cNvSpPr/>
          <p:nvPr/>
        </p:nvSpPr>
        <p:spPr>
          <a:xfrm>
            <a:off x="1682750" y="3433961"/>
            <a:ext cx="609600" cy="1536700"/>
          </a:xfrm>
          <a:custGeom>
            <a:avLst/>
            <a:gdLst/>
            <a:ahLst/>
            <a:cxnLst/>
            <a:rect l="l" t="t" r="r" b="b"/>
            <a:pathLst>
              <a:path w="609600" h="1536700">
                <a:moveTo>
                  <a:pt x="50800" y="0"/>
                </a:moveTo>
                <a:lnTo>
                  <a:pt x="558800" y="0"/>
                </a:lnTo>
                <a:arcTo hR="50800" wR="50800" stAng="16200000" swAng="5400000"/>
                <a:lnTo>
                  <a:pt x="609600" y="1536700"/>
                </a:lnTo>
                <a:lnTo>
                  <a:pt x="0" y="1536700"/>
                </a:lnTo>
                <a:lnTo>
                  <a:pt x="0" y="50800"/>
                </a:lnTo>
                <a:arcTo hR="50800" wR="50800" stAng="10800000" swAng="5400000"/>
                <a:close/>
              </a:path>
            </a:pathLst>
          </a:custGeom>
          <a:solidFill>
            <a:srgbClr val="5E54C4"/>
          </a:solidFill>
          <a:ln/>
        </p:spPr>
      </p:sp>
      <p:sp>
        <p:nvSpPr>
          <p:cNvPr id="15" name="Text 13"/>
          <p:cNvSpPr/>
          <p:nvPr/>
        </p:nvSpPr>
        <p:spPr>
          <a:xfrm>
            <a:off x="2403594" y="3506391"/>
            <a:ext cx="590312"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1840"/>
                </a:solidFill>
                <a:latin typeface="Inter" pitchFamily="34" charset="0"/>
                <a:ea typeface="Inter" pitchFamily="34" charset="-122"/>
                <a:cs typeface="Inter" pitchFamily="34" charset="-120"/>
              </a:rPr>
              <a:t>65.2%</a:t>
            </a:r>
            <a:endParaRPr lang="en-US" sz="1200" dirty="0"/>
          </a:p>
        </p:txBody>
      </p:sp>
      <p:sp>
        <p:nvSpPr>
          <p:cNvPr id="16" name="Shape 14"/>
          <p:cNvSpPr/>
          <p:nvPr/>
        </p:nvSpPr>
        <p:spPr>
          <a:xfrm>
            <a:off x="2393950" y="3770511"/>
            <a:ext cx="609600" cy="1200150"/>
          </a:xfrm>
          <a:custGeom>
            <a:avLst/>
            <a:gdLst/>
            <a:ahLst/>
            <a:cxnLst/>
            <a:rect l="l" t="t" r="r" b="b"/>
            <a:pathLst>
              <a:path w="609600" h="1200150">
                <a:moveTo>
                  <a:pt x="50800" y="0"/>
                </a:moveTo>
                <a:lnTo>
                  <a:pt x="558800" y="0"/>
                </a:lnTo>
                <a:arcTo hR="50800" wR="50800" stAng="16200000" swAng="5400000"/>
                <a:lnTo>
                  <a:pt x="609600" y="1200150"/>
                </a:lnTo>
                <a:lnTo>
                  <a:pt x="0" y="1200150"/>
                </a:lnTo>
                <a:lnTo>
                  <a:pt x="0" y="50800"/>
                </a:lnTo>
                <a:arcTo hR="50800" wR="50800" stAng="10800000" swAng="5400000"/>
                <a:close/>
              </a:path>
            </a:pathLst>
          </a:custGeom>
          <a:solidFill>
            <a:srgbClr val="D9572B"/>
          </a:solidFill>
          <a:ln/>
        </p:spPr>
      </p:sp>
      <p:sp>
        <p:nvSpPr>
          <p:cNvPr id="17" name="Text 15"/>
          <p:cNvSpPr/>
          <p:nvPr/>
        </p:nvSpPr>
        <p:spPr>
          <a:xfrm>
            <a:off x="4039220" y="2865041"/>
            <a:ext cx="59561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1840"/>
                </a:solidFill>
                <a:latin typeface="Inter" pitchFamily="34" charset="0"/>
                <a:ea typeface="Inter" pitchFamily="34" charset="-122"/>
                <a:cs typeface="Inter" pitchFamily="34" charset="-120"/>
              </a:rPr>
              <a:t>99.9%</a:t>
            </a:r>
            <a:endParaRPr lang="en-US" sz="1200" dirty="0"/>
          </a:p>
        </p:txBody>
      </p:sp>
      <p:sp>
        <p:nvSpPr>
          <p:cNvPr id="18" name="Shape 16"/>
          <p:cNvSpPr/>
          <p:nvPr/>
        </p:nvSpPr>
        <p:spPr>
          <a:xfrm>
            <a:off x="4032250" y="3129161"/>
            <a:ext cx="609600" cy="1841500"/>
          </a:xfrm>
          <a:custGeom>
            <a:avLst/>
            <a:gdLst/>
            <a:ahLst/>
            <a:cxnLst/>
            <a:rect l="l" t="t" r="r" b="b"/>
            <a:pathLst>
              <a:path w="609600" h="1841500">
                <a:moveTo>
                  <a:pt x="50800" y="0"/>
                </a:moveTo>
                <a:lnTo>
                  <a:pt x="558800" y="0"/>
                </a:lnTo>
                <a:arcTo hR="50800" wR="50800" stAng="16200000" swAng="5400000"/>
                <a:lnTo>
                  <a:pt x="609600" y="1841500"/>
                </a:lnTo>
                <a:lnTo>
                  <a:pt x="0" y="1841500"/>
                </a:lnTo>
                <a:lnTo>
                  <a:pt x="0" y="50800"/>
                </a:lnTo>
                <a:arcTo hR="50800" wR="50800" stAng="10800000" swAng="5400000"/>
                <a:close/>
              </a:path>
            </a:pathLst>
          </a:custGeom>
          <a:solidFill>
            <a:srgbClr val="5E54C4"/>
          </a:solidFill>
          <a:ln/>
        </p:spPr>
      </p:sp>
      <p:sp>
        <p:nvSpPr>
          <p:cNvPr id="19" name="Text 17"/>
          <p:cNvSpPr/>
          <p:nvPr/>
        </p:nvSpPr>
        <p:spPr>
          <a:xfrm>
            <a:off x="4750777" y="4071541"/>
            <a:ext cx="59489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1840"/>
                </a:solidFill>
                <a:latin typeface="Inter" pitchFamily="34" charset="0"/>
                <a:ea typeface="Inter" pitchFamily="34" charset="-122"/>
                <a:cs typeface="Inter" pitchFamily="34" charset="-120"/>
              </a:rPr>
              <a:t>34.5%</a:t>
            </a:r>
            <a:endParaRPr lang="en-US" sz="1200" dirty="0"/>
          </a:p>
        </p:txBody>
      </p:sp>
      <p:sp>
        <p:nvSpPr>
          <p:cNvPr id="20" name="Shape 18"/>
          <p:cNvSpPr/>
          <p:nvPr/>
        </p:nvSpPr>
        <p:spPr>
          <a:xfrm>
            <a:off x="4743450" y="4335661"/>
            <a:ext cx="609600" cy="635000"/>
          </a:xfrm>
          <a:custGeom>
            <a:avLst/>
            <a:gdLst/>
            <a:ahLst/>
            <a:cxnLst/>
            <a:rect l="l" t="t" r="r" b="b"/>
            <a:pathLst>
              <a:path w="609600" h="635000">
                <a:moveTo>
                  <a:pt x="50800" y="0"/>
                </a:moveTo>
                <a:lnTo>
                  <a:pt x="558800" y="0"/>
                </a:lnTo>
                <a:arcTo hR="50800" wR="50800" stAng="16200000" swAng="5400000"/>
                <a:lnTo>
                  <a:pt x="609600" y="635000"/>
                </a:lnTo>
                <a:lnTo>
                  <a:pt x="0" y="635000"/>
                </a:lnTo>
                <a:lnTo>
                  <a:pt x="0" y="50800"/>
                </a:lnTo>
                <a:arcTo hR="50800" wR="50800" stAng="10800000" swAng="5400000"/>
                <a:close/>
              </a:path>
            </a:pathLst>
          </a:custGeom>
          <a:solidFill>
            <a:srgbClr val="D9572B"/>
          </a:solidFill>
          <a:ln/>
        </p:spPr>
      </p:sp>
      <p:sp>
        <p:nvSpPr>
          <p:cNvPr id="21" name="Text 19"/>
          <p:cNvSpPr/>
          <p:nvPr/>
        </p:nvSpPr>
        <p:spPr>
          <a:xfrm>
            <a:off x="1657350" y="5110361"/>
            <a:ext cx="13716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456A"/>
                </a:solidFill>
                <a:latin typeface="Inter" pitchFamily="34" charset="0"/>
                <a:ea typeface="Inter" pitchFamily="34" charset="-122"/>
                <a:cs typeface="Inter" pitchFamily="34" charset="-120"/>
              </a:rPr>
              <a:t>1 ms slots</a:t>
            </a:r>
            <a:endParaRPr lang="en-US" sz="1200" dirty="0"/>
          </a:p>
        </p:txBody>
      </p:sp>
      <p:sp>
        <p:nvSpPr>
          <p:cNvPr id="22" name="Text 20"/>
          <p:cNvSpPr/>
          <p:nvPr/>
        </p:nvSpPr>
        <p:spPr>
          <a:xfrm>
            <a:off x="4006850" y="5110361"/>
            <a:ext cx="13716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456A"/>
                </a:solidFill>
                <a:latin typeface="Inter" pitchFamily="34" charset="0"/>
                <a:ea typeface="Inter" pitchFamily="34" charset="-122"/>
                <a:cs typeface="Inter" pitchFamily="34" charset="-120"/>
              </a:rPr>
              <a:t>10 ms slots</a:t>
            </a:r>
            <a:endParaRPr lang="en-US" sz="1200" dirty="0"/>
          </a:p>
        </p:txBody>
      </p:sp>
      <p:sp>
        <p:nvSpPr>
          <p:cNvPr id="23" name="Shape 21"/>
          <p:cNvSpPr/>
          <p:nvPr/>
        </p:nvSpPr>
        <p:spPr>
          <a:xfrm>
            <a:off x="6426200" y="1854150"/>
            <a:ext cx="4851400" cy="1069231"/>
          </a:xfrm>
          <a:prstGeom prst="roundRect">
            <a:avLst>
              <a:gd name="adj" fmla="val 14253"/>
            </a:avLst>
          </a:prstGeom>
          <a:solidFill>
            <a:srgbClr val="F4F3FB"/>
          </a:solidFill>
          <a:ln/>
        </p:spPr>
      </p:sp>
      <p:sp>
        <p:nvSpPr>
          <p:cNvPr id="24" name="Text 22"/>
          <p:cNvSpPr/>
          <p:nvPr/>
        </p:nvSpPr>
        <p:spPr>
          <a:xfrm>
            <a:off x="6629400" y="2031950"/>
            <a:ext cx="457835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No collision drops at 1 ms either</a:t>
            </a:r>
            <a:endParaRPr lang="en-US" sz="1400" dirty="0"/>
          </a:p>
        </p:txBody>
      </p:sp>
      <p:sp>
        <p:nvSpPr>
          <p:cNvPr id="25" name="Text 23"/>
          <p:cNvSpPr/>
          <p:nvPr/>
        </p:nvSpPr>
        <p:spPr>
          <a:xfrm>
            <a:off x="6629400" y="2318941"/>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Optimizer schedule: 0 bytes lost to SINR, and 446,276 bytes lost to timing (Slot Error, Long).</a:t>
            </a:r>
            <a:endParaRPr lang="en-US" sz="1200" dirty="0"/>
          </a:p>
        </p:txBody>
      </p:sp>
      <p:sp>
        <p:nvSpPr>
          <p:cNvPr id="26" name="Shape 24"/>
          <p:cNvSpPr/>
          <p:nvPr/>
        </p:nvSpPr>
        <p:spPr>
          <a:xfrm>
            <a:off x="6426200" y="3050381"/>
            <a:ext cx="4851400" cy="1069231"/>
          </a:xfrm>
          <a:prstGeom prst="roundRect">
            <a:avLst>
              <a:gd name="adj" fmla="val 14253"/>
            </a:avLst>
          </a:prstGeom>
          <a:solidFill>
            <a:srgbClr val="F4F3FB"/>
          </a:solidFill>
          <a:ln/>
        </p:spPr>
      </p:sp>
      <p:sp>
        <p:nvSpPr>
          <p:cNvPr id="27" name="Text 25"/>
          <p:cNvSpPr/>
          <p:nvPr/>
        </p:nvSpPr>
        <p:spPr>
          <a:xfrm>
            <a:off x="6629400" y="3228181"/>
            <a:ext cx="457835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It varies from run to run</a:t>
            </a:r>
            <a:endParaRPr lang="en-US" sz="1400" dirty="0"/>
          </a:p>
        </p:txBody>
      </p:sp>
      <p:sp>
        <p:nvSpPr>
          <p:cNvPr id="28" name="Text 26"/>
          <p:cNvSpPr/>
          <p:nvPr/>
        </p:nvSpPr>
        <p:spPr>
          <a:xfrm>
            <a:off x="6629400" y="3515171"/>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At 1 ms, three runs delivered 99.4%, 88.1% and 83.4%. At 10 ms: 100%, 100% and 99.9%.</a:t>
            </a:r>
            <a:endParaRPr lang="en-US" sz="1200" dirty="0"/>
          </a:p>
        </p:txBody>
      </p:sp>
      <p:sp>
        <p:nvSpPr>
          <p:cNvPr id="29" name="Shape 27"/>
          <p:cNvSpPr/>
          <p:nvPr/>
        </p:nvSpPr>
        <p:spPr>
          <a:xfrm>
            <a:off x="6426200" y="4246612"/>
            <a:ext cx="4851400" cy="1282551"/>
          </a:xfrm>
          <a:prstGeom prst="roundRect">
            <a:avLst>
              <a:gd name="adj" fmla="val 11883"/>
            </a:avLst>
          </a:prstGeom>
          <a:solidFill>
            <a:srgbClr val="F4F3FB"/>
          </a:solidFill>
          <a:ln/>
        </p:spPr>
      </p:sp>
      <p:sp>
        <p:nvSpPr>
          <p:cNvPr id="30" name="Text 28"/>
          <p:cNvSpPr/>
          <p:nvPr/>
        </p:nvSpPr>
        <p:spPr>
          <a:xfrm>
            <a:off x="6629400" y="4424412"/>
            <a:ext cx="457835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Cause: emulator timing</a:t>
            </a:r>
            <a:endParaRPr lang="en-US" sz="1400" dirty="0"/>
          </a:p>
        </p:txBody>
      </p:sp>
      <p:sp>
        <p:nvSpPr>
          <p:cNvPr id="31" name="Text 29"/>
          <p:cNvSpPr/>
          <p:nvPr/>
        </p:nvSpPr>
        <p:spPr>
          <a:xfrm>
            <a:off x="6629400" y="4711402"/>
            <a:ext cx="457835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16 EMANE processes share a 4-CPU virtual machine, so some packets arrive after their 1 ms slot has ended and are discarded.</a:t>
            </a:r>
            <a:endParaRPr lang="en-US" sz="1200" dirty="0"/>
          </a:p>
        </p:txBody>
      </p:sp>
      <p:pic>
        <p:nvPicPr>
          <p:cNvPr id="32" name="Image 0" descr="Vaan Megam Networks">    </p:cNvPr>
          <p:cNvPicPr>
            <a:picLocks noChangeAspect="1"/>
          </p:cNvPicPr>
          <p:nvPr/>
        </p:nvPicPr>
        <p:blipFill>
          <a:blip r:embed="rId1"/>
          <a:srcRect l="0" r="0" t="-56" b="-56"/>
          <a:stretch/>
        </p:blipFill>
        <p:spPr>
          <a:xfrm>
            <a:off x="914400" y="6273800"/>
            <a:ext cx="628650" cy="177800"/>
          </a:xfrm>
          <a:prstGeom prst="rect">
            <a:avLst/>
          </a:prstGeom>
        </p:spPr>
      </p:pic>
      <p:sp>
        <p:nvSpPr>
          <p:cNvPr id="33" name="Text 30"/>
          <p:cNvSpPr/>
          <p:nvPr/>
        </p:nvSpPr>
        <p:spPr>
          <a:xfrm>
            <a:off x="1670050" y="6276380"/>
            <a:ext cx="5232400" cy="200620"/>
          </a:xfrm>
          <a:prstGeom prst="rect">
            <a:avLst/>
          </a:prstGeom>
          <a:noFill/>
          <a:ln/>
        </p:spPr>
        <p:txBody>
          <a:bodyPr wrap="square" lIns="0" tIns="0" rIns="0" bIns="0" rtlCol="0" anchor="t">
            <a:normAutofit/>
          </a:bodyPr>
          <a:lstStyle/>
          <a:p>
            <a:pPr algn="l" indent="0" marL="0">
              <a:lnSpc>
                <a:spcPts val="1380"/>
              </a:lnSpc>
              <a:buNone/>
            </a:pPr>
            <a:r>
              <a:rPr lang="en-US" sz="1200" dirty="0">
                <a:solidFill>
                  <a:srgbClr val="6D6A8C"/>
                </a:solidFill>
                <a:latin typeface="Inter" pitchFamily="34" charset="0"/>
                <a:ea typeface="Inter" pitchFamily="34" charset="-122"/>
                <a:cs typeface="Inter" pitchFamily="34" charset="-120"/>
              </a:rPr>
              <a:t>TDMA Schedule Optimizer</a:t>
            </a:r>
            <a:endParaRPr lang="en-US" sz="1200" dirty="0"/>
          </a:p>
        </p:txBody>
      </p:sp>
      <p:sp>
        <p:nvSpPr>
          <p:cNvPr id="34" name="Text 31"/>
          <p:cNvSpPr/>
          <p:nvPr/>
        </p:nvSpPr>
        <p:spPr>
          <a:xfrm>
            <a:off x="10464800" y="6276380"/>
            <a:ext cx="812800" cy="200620"/>
          </a:xfrm>
          <a:prstGeom prst="rect">
            <a:avLst/>
          </a:prstGeom>
          <a:noFill/>
          <a:ln/>
        </p:spPr>
        <p:txBody>
          <a:bodyPr wrap="square" lIns="0" tIns="0" rIns="0" bIns="0" rtlCol="0" anchor="t">
            <a:normAutofit/>
          </a:bodyPr>
          <a:lstStyle/>
          <a:p>
            <a:pPr algn="r" indent="0" marL="0">
              <a:lnSpc>
                <a:spcPts val="1380"/>
              </a:lnSpc>
              <a:buNone/>
            </a:pPr>
            <a:r>
              <a:rPr lang="en-US" sz="1200" dirty="0">
                <a:solidFill>
                  <a:srgbClr val="6D6A8C"/>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CE9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CE9FA"/>
              </a:gs>
              <a:gs pos="100000">
                <a:srgbClr val="E4F2FB"/>
              </a:gs>
            </a:gsLst>
            <a:lin ang="2700000" scaled="0"/>
          </a:gradFill>
          <a:ln/>
        </p:spPr>
      </p:sp>
      <p:sp>
        <p:nvSpPr>
          <p:cNvPr id="3" name="Shape 1"/>
          <p:cNvSpPr/>
          <p:nvPr/>
        </p:nvSpPr>
        <p:spPr>
          <a:xfrm>
            <a:off x="304800" y="304800"/>
            <a:ext cx="11582400" cy="6248400"/>
          </a:xfrm>
          <a:prstGeom prst="roundRect">
            <a:avLst>
              <a:gd name="adj" fmla="val 3659"/>
            </a:avLst>
          </a:prstGeom>
          <a:solidFill>
            <a:srgbClr val="FDFDFF"/>
          </a:solidFill>
          <a:ln/>
          <a:effectLst>
            <a:outerShdw sx="100000" sy="100000" kx="0" ky="0" algn="bl" rotWithShape="0" blurRad="355600" dist="101600" dir="5400000">
              <a:srgbClr val="281E6E">
                <a:alpha val="10000"/>
              </a:srgbClr>
            </a:outerShdw>
          </a:effectLst>
        </p:spPr>
      </p:sp>
      <p:sp>
        <p:nvSpPr>
          <p:cNvPr id="4" name="Text 2"/>
          <p:cNvSpPr/>
          <p:nvPr/>
        </p:nvSpPr>
        <p:spPr>
          <a:xfrm>
            <a:off x="914400" y="81280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54C4"/>
                </a:solidFill>
                <a:latin typeface="Inter" pitchFamily="34" charset="0"/>
                <a:ea typeface="Inter" pitchFamily="34" charset="-122"/>
                <a:cs typeface="Inter" pitchFamily="34" charset="-120"/>
              </a:rPr>
              <a:t>LIVE DEMO</a:t>
            </a:r>
            <a:endParaRPr lang="en-US" sz="1200" dirty="0"/>
          </a:p>
        </p:txBody>
      </p:sp>
      <p:sp>
        <p:nvSpPr>
          <p:cNvPr id="5" name="Text 3"/>
          <p:cNvSpPr/>
          <p:nvPr>
            <p:ph type="title"/>
          </p:nvPr>
        </p:nvSpPr>
        <p:spPr>
          <a:xfrm>
            <a:off x="914400" y="1102320"/>
            <a:ext cx="10674096" cy="47243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40"/>
                </a:solidFill>
                <a:latin typeface="Plus Jakarta Sans" pitchFamily="34" charset="0"/>
                <a:ea typeface="Plus Jakarta Sans" pitchFamily="34" charset="-122"/>
                <a:cs typeface="Plus Jakarta Sans" pitchFamily="34" charset="-120"/>
              </a:rPr>
              <a:t>Coordinates in, schedule out</a:t>
            </a:r>
            <a:endParaRPr lang="en-US" sz="3200" dirty="0"/>
          </a:p>
        </p:txBody>
      </p:sp>
      <p:sp>
        <p:nvSpPr>
          <p:cNvPr id="6" name="Text 4"/>
          <p:cNvSpPr/>
          <p:nvPr/>
        </p:nvSpPr>
        <p:spPr>
          <a:xfrm>
            <a:off x="914400" y="1854150"/>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5E54C4"/>
          </a:solidFill>
          <a:ln/>
        </p:spPr>
        <p:txBody>
          <a:bodyPr wrap="square" lIns="0" tIns="0" rIns="0" bIns="0" rtlCol="0" anchor="t">
            <a:normAutofit/>
          </a:bodyPr>
          <a:lstStyle/>
          <a:p>
            <a:pPr algn="ctr" indent="0" marL="0">
              <a:lnSpc>
                <a:spcPts val="2400"/>
              </a:lnSpc>
              <a:buNone/>
            </a:pPr>
            <a:r>
              <a:rPr lang="en-US" sz="1200" b="1" dirty="0">
                <a:solidFill>
                  <a:srgbClr val="FDFDFF"/>
                </a:solidFill>
                <a:latin typeface="Inter" pitchFamily="34" charset="0"/>
                <a:ea typeface="Inter" pitchFamily="34" charset="-122"/>
                <a:cs typeface="Inter" pitchFamily="34" charset="-120"/>
              </a:rPr>
              <a:t>1</a:t>
            </a:r>
            <a:endParaRPr lang="en-US" sz="1200" dirty="0"/>
          </a:p>
        </p:txBody>
      </p:sp>
      <p:sp>
        <p:nvSpPr>
          <p:cNvPr id="7" name="Text 5"/>
          <p:cNvSpPr/>
          <p:nvPr/>
        </p:nvSpPr>
        <p:spPr>
          <a:xfrm>
            <a:off x="1371600" y="1854150"/>
            <a:ext cx="60695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Generate the schedule</a:t>
            </a:r>
            <a:endParaRPr lang="en-US" sz="1400" dirty="0"/>
          </a:p>
        </p:txBody>
      </p:sp>
      <p:sp>
        <p:nvSpPr>
          <p:cNvPr id="8" name="Text 6"/>
          <p:cNvSpPr/>
          <p:nvPr/>
        </p:nvSpPr>
        <p:spPr>
          <a:xfrm>
            <a:off x="1371600" y="2166541"/>
            <a:ext cx="4003080" cy="365720"/>
          </a:xfrm>
          <a:prstGeom prst="roundRect">
            <a:avLst>
              <a:gd name="adj" fmla="val 20836"/>
            </a:avLst>
          </a:prstGeom>
          <a:solidFill>
            <a:srgbClr val="1B1840"/>
          </a:solidFill>
          <a:ln/>
        </p:spPr>
        <p:txBody>
          <a:bodyPr wrap="none" lIns="0" tIns="0" rIns="0" bIns="0" rtlCol="0" anchor="ctr">
            <a:normAutofit/>
          </a:bodyPr>
          <a:lstStyle/>
          <a:p>
            <a:pPr algn="ctr" indent="0" marL="0">
              <a:lnSpc>
                <a:spcPts val="1680"/>
              </a:lnSpc>
              <a:buNone/>
            </a:pPr>
            <a:r>
              <a:rPr lang="en-US" sz="1200" dirty="0">
                <a:solidFill>
                  <a:srgbClr val="E4E1FF"/>
                </a:solidFill>
                <a:latin typeface="JetBrains Mono" pitchFamily="49" charset="0"/>
                <a:ea typeface="JetBrains Mono" pitchFamily="49" charset="-122"/>
                <a:cs typeface="JetBrains Mono" pitchFamily="49" charset="-120"/>
              </a:rPr>
              <a:t>python src/cli.py --file data/grid16.json</a:t>
            </a:r>
            <a:endParaRPr lang="en-US" sz="1200" dirty="0"/>
          </a:p>
        </p:txBody>
      </p:sp>
      <p:sp>
        <p:nvSpPr>
          <p:cNvPr id="9" name="Text 7"/>
          <p:cNvSpPr/>
          <p:nvPr/>
        </p:nvSpPr>
        <p:spPr>
          <a:xfrm>
            <a:off x="914400" y="2684661"/>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5E54C4"/>
          </a:solidFill>
          <a:ln/>
        </p:spPr>
        <p:txBody>
          <a:bodyPr wrap="square" lIns="0" tIns="0" rIns="0" bIns="0" rtlCol="0" anchor="t">
            <a:normAutofit/>
          </a:bodyPr>
          <a:lstStyle/>
          <a:p>
            <a:pPr algn="ctr" indent="0" marL="0">
              <a:lnSpc>
                <a:spcPts val="2400"/>
              </a:lnSpc>
              <a:buNone/>
            </a:pPr>
            <a:r>
              <a:rPr lang="en-US" sz="1200" b="1" dirty="0">
                <a:solidFill>
                  <a:srgbClr val="FDFDFF"/>
                </a:solidFill>
                <a:latin typeface="Inter" pitchFamily="34" charset="0"/>
                <a:ea typeface="Inter" pitchFamily="34" charset="-122"/>
                <a:cs typeface="Inter" pitchFamily="34" charset="-120"/>
              </a:rPr>
              <a:t>2</a:t>
            </a:r>
            <a:endParaRPr lang="en-US" sz="1200" dirty="0"/>
          </a:p>
        </p:txBody>
      </p:sp>
      <p:sp>
        <p:nvSpPr>
          <p:cNvPr id="10" name="Text 8"/>
          <p:cNvSpPr/>
          <p:nvPr/>
        </p:nvSpPr>
        <p:spPr>
          <a:xfrm>
            <a:off x="1371600" y="2684661"/>
            <a:ext cx="60695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Show the 5-slot case</a:t>
            </a:r>
            <a:endParaRPr lang="en-US" sz="1400" dirty="0"/>
          </a:p>
        </p:txBody>
      </p:sp>
      <p:sp>
        <p:nvSpPr>
          <p:cNvPr id="11" name="Text 9"/>
          <p:cNvSpPr/>
          <p:nvPr/>
        </p:nvSpPr>
        <p:spPr>
          <a:xfrm>
            <a:off x="1371600" y="2997051"/>
            <a:ext cx="5100340" cy="365720"/>
          </a:xfrm>
          <a:prstGeom prst="roundRect">
            <a:avLst>
              <a:gd name="adj" fmla="val 20836"/>
            </a:avLst>
          </a:prstGeom>
          <a:solidFill>
            <a:srgbClr val="1B1840"/>
          </a:solidFill>
          <a:ln/>
        </p:spPr>
        <p:txBody>
          <a:bodyPr wrap="none" lIns="0" tIns="0" rIns="0" bIns="0" rtlCol="0" anchor="ctr">
            <a:normAutofit/>
          </a:bodyPr>
          <a:lstStyle/>
          <a:p>
            <a:pPr algn="ctr" indent="0" marL="0">
              <a:lnSpc>
                <a:spcPts val="1680"/>
              </a:lnSpc>
              <a:buNone/>
            </a:pPr>
            <a:r>
              <a:rPr lang="en-US" sz="1200" dirty="0">
                <a:solidFill>
                  <a:srgbClr val="E4E1FF"/>
                </a:solidFill>
                <a:latin typeface="JetBrains Mono" pitchFamily="49" charset="0"/>
                <a:ea typeface="JetBrains Mono" pitchFamily="49" charset="-122"/>
                <a:cs typeface="JetBrains Mono" pitchFamily="49" charset="-120"/>
              </a:rPr>
              <a:t>python src/cli.py --file data/grid16.json --range 350</a:t>
            </a:r>
            <a:endParaRPr lang="en-US" sz="1200" dirty="0"/>
          </a:p>
        </p:txBody>
      </p:sp>
      <p:sp>
        <p:nvSpPr>
          <p:cNvPr id="12" name="Text 10"/>
          <p:cNvSpPr/>
          <p:nvPr/>
        </p:nvSpPr>
        <p:spPr>
          <a:xfrm>
            <a:off x="914400" y="3515171"/>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5E54C4"/>
          </a:solidFill>
          <a:ln/>
        </p:spPr>
        <p:txBody>
          <a:bodyPr wrap="square" lIns="0" tIns="0" rIns="0" bIns="0" rtlCol="0" anchor="t">
            <a:normAutofit/>
          </a:bodyPr>
          <a:lstStyle/>
          <a:p>
            <a:pPr algn="ctr" indent="0" marL="0">
              <a:lnSpc>
                <a:spcPts val="2400"/>
              </a:lnSpc>
              <a:buNone/>
            </a:pPr>
            <a:r>
              <a:rPr lang="en-US" sz="1200" b="1" dirty="0">
                <a:solidFill>
                  <a:srgbClr val="FDFDFF"/>
                </a:solidFill>
                <a:latin typeface="Inter" pitchFamily="34" charset="0"/>
                <a:ea typeface="Inter" pitchFamily="34" charset="-122"/>
                <a:cs typeface="Inter" pitchFamily="34" charset="-120"/>
              </a:rPr>
              <a:t>3</a:t>
            </a:r>
            <a:endParaRPr lang="en-US" sz="1200" dirty="0"/>
          </a:p>
        </p:txBody>
      </p:sp>
      <p:sp>
        <p:nvSpPr>
          <p:cNvPr id="13" name="Text 11"/>
          <p:cNvSpPr/>
          <p:nvPr/>
        </p:nvSpPr>
        <p:spPr>
          <a:xfrm>
            <a:off x="1371600" y="3515171"/>
            <a:ext cx="60695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Run the test suite</a:t>
            </a:r>
            <a:endParaRPr lang="en-US" sz="1400" dirty="0"/>
          </a:p>
        </p:txBody>
      </p:sp>
      <p:sp>
        <p:nvSpPr>
          <p:cNvPr id="14" name="Text 12"/>
          <p:cNvSpPr/>
          <p:nvPr/>
        </p:nvSpPr>
        <p:spPr>
          <a:xfrm>
            <a:off x="1371600" y="3827562"/>
            <a:ext cx="1717080" cy="365720"/>
          </a:xfrm>
          <a:prstGeom prst="roundRect">
            <a:avLst>
              <a:gd name="adj" fmla="val 20836"/>
            </a:avLst>
          </a:prstGeom>
          <a:solidFill>
            <a:srgbClr val="1B1840"/>
          </a:solidFill>
          <a:ln/>
        </p:spPr>
        <p:txBody>
          <a:bodyPr wrap="none" lIns="0" tIns="0" rIns="0" bIns="0" rtlCol="0" anchor="ctr">
            <a:normAutofit/>
          </a:bodyPr>
          <a:lstStyle/>
          <a:p>
            <a:pPr algn="ctr" indent="0" marL="0">
              <a:lnSpc>
                <a:spcPts val="1680"/>
              </a:lnSpc>
              <a:buNone/>
            </a:pPr>
            <a:r>
              <a:rPr lang="en-US" sz="1200" dirty="0">
                <a:solidFill>
                  <a:srgbClr val="E4E1FF"/>
                </a:solidFill>
                <a:latin typeface="JetBrains Mono" pitchFamily="49" charset="0"/>
                <a:ea typeface="JetBrains Mono" pitchFamily="49" charset="-122"/>
                <a:cs typeface="JetBrains Mono" pitchFamily="49" charset="-120"/>
              </a:rPr>
              <a:t>python -m pytest</a:t>
            </a:r>
            <a:endParaRPr lang="en-US" sz="1200" dirty="0"/>
          </a:p>
        </p:txBody>
      </p:sp>
      <p:sp>
        <p:nvSpPr>
          <p:cNvPr id="15" name="Text 13"/>
          <p:cNvSpPr/>
          <p:nvPr/>
        </p:nvSpPr>
        <p:spPr>
          <a:xfrm>
            <a:off x="914400" y="4345682"/>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5E54C4"/>
          </a:solidFill>
          <a:ln/>
        </p:spPr>
        <p:txBody>
          <a:bodyPr wrap="square" lIns="0" tIns="0" rIns="0" bIns="0" rtlCol="0" anchor="t">
            <a:normAutofit/>
          </a:bodyPr>
          <a:lstStyle/>
          <a:p>
            <a:pPr algn="ctr" indent="0" marL="0">
              <a:lnSpc>
                <a:spcPts val="2400"/>
              </a:lnSpc>
              <a:buNone/>
            </a:pPr>
            <a:r>
              <a:rPr lang="en-US" sz="1200" b="1" dirty="0">
                <a:solidFill>
                  <a:srgbClr val="FDFDFF"/>
                </a:solidFill>
                <a:latin typeface="Inter" pitchFamily="34" charset="0"/>
                <a:ea typeface="Inter" pitchFamily="34" charset="-122"/>
                <a:cs typeface="Inter" pitchFamily="34" charset="-120"/>
              </a:rPr>
              <a:t>4</a:t>
            </a:r>
            <a:endParaRPr lang="en-US" sz="1200" dirty="0"/>
          </a:p>
        </p:txBody>
      </p:sp>
      <p:sp>
        <p:nvSpPr>
          <p:cNvPr id="16" name="Text 14"/>
          <p:cNvSpPr/>
          <p:nvPr/>
        </p:nvSpPr>
        <p:spPr>
          <a:xfrm>
            <a:off x="1371600" y="4345682"/>
            <a:ext cx="60695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840"/>
                </a:solidFill>
                <a:latin typeface="Inter" pitchFamily="34" charset="0"/>
                <a:ea typeface="Inter" pitchFamily="34" charset="-122"/>
                <a:cs typeface="Inter" pitchFamily="34" charset="-120"/>
              </a:rPr>
              <a:t>EMANE run (recorded log as backup)</a:t>
            </a:r>
            <a:endParaRPr lang="en-US" sz="1400" dirty="0"/>
          </a:p>
        </p:txBody>
      </p:sp>
      <p:sp>
        <p:nvSpPr>
          <p:cNvPr id="17" name="Text 15"/>
          <p:cNvSpPr/>
          <p:nvPr/>
        </p:nvSpPr>
        <p:spPr>
          <a:xfrm>
            <a:off x="1371600" y="4658072"/>
            <a:ext cx="3820170" cy="365720"/>
          </a:xfrm>
          <a:prstGeom prst="roundRect">
            <a:avLst>
              <a:gd name="adj" fmla="val 20836"/>
            </a:avLst>
          </a:prstGeom>
          <a:solidFill>
            <a:srgbClr val="1B1840"/>
          </a:solidFill>
          <a:ln/>
        </p:spPr>
        <p:txBody>
          <a:bodyPr wrap="none" lIns="0" tIns="0" rIns="0" bIns="0" rtlCol="0" anchor="ctr">
            <a:normAutofit/>
          </a:bodyPr>
          <a:lstStyle/>
          <a:p>
            <a:pPr algn="ctr" indent="0" marL="0">
              <a:lnSpc>
                <a:spcPts val="1680"/>
              </a:lnSpc>
              <a:buNone/>
            </a:pPr>
            <a:r>
              <a:rPr lang="en-US" sz="1200" dirty="0">
                <a:solidFill>
                  <a:srgbClr val="E4E1FF"/>
                </a:solidFill>
                <a:latin typeface="JetBrains Mono" pitchFamily="49" charset="0"/>
                <a:ea typeface="JetBrains Mono" pitchFamily="49" charset="-122"/>
                <a:cs typeface="JetBrains Mono" pitchFamily="49" charset="-120"/>
              </a:rPr>
              <a:t>docker run --rm --privileged tdma-emane</a:t>
            </a:r>
            <a:endParaRPr lang="en-US" sz="1200" dirty="0"/>
          </a:p>
        </p:txBody>
      </p:sp>
      <p:sp>
        <p:nvSpPr>
          <p:cNvPr id="18" name="Shape 16"/>
          <p:cNvSpPr/>
          <p:nvPr/>
        </p:nvSpPr>
        <p:spPr>
          <a:xfrm>
            <a:off x="7569200" y="1854150"/>
            <a:ext cx="3708400" cy="3169642"/>
          </a:xfrm>
          <a:prstGeom prst="roundRect">
            <a:avLst>
              <a:gd name="adj" fmla="val 5609"/>
            </a:avLst>
          </a:prstGeom>
          <a:solidFill>
            <a:srgbClr val="F4F3FB"/>
          </a:solidFill>
          <a:ln/>
        </p:spPr>
      </p:sp>
      <p:sp>
        <p:nvSpPr>
          <p:cNvPr id="19" name="Text 17"/>
          <p:cNvSpPr/>
          <p:nvPr/>
        </p:nvSpPr>
        <p:spPr>
          <a:xfrm>
            <a:off x="7797800" y="2082750"/>
            <a:ext cx="334873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54C4"/>
                </a:solidFill>
                <a:latin typeface="Inter" pitchFamily="34" charset="0"/>
                <a:ea typeface="Inter" pitchFamily="34" charset="-122"/>
                <a:cs typeface="Inter" pitchFamily="34" charset="-120"/>
              </a:rPr>
              <a:t>WHAT TO LOOK FOR</a:t>
            </a:r>
            <a:endParaRPr lang="en-US" sz="1200" dirty="0"/>
          </a:p>
        </p:txBody>
      </p:sp>
      <p:pic>
        <p:nvPicPr>
          <p:cNvPr id="20" name="Image 0" descr="CheckCircle">    </p:cNvPr>
          <p:cNvPicPr>
            <a:picLocks noChangeAspect="1"/>
          </p:cNvPicPr>
          <p:nvPr/>
        </p:nvPicPr>
        <p:blipFill>
          <a:blip r:embed="rId1"/>
          <a:srcRect l="0" r="0" t="0" b="0"/>
          <a:stretch/>
        </p:blipFill>
        <p:spPr>
          <a:xfrm>
            <a:off x="7797800" y="2397671"/>
            <a:ext cx="228600" cy="228600"/>
          </a:xfrm>
          <a:prstGeom prst="rect">
            <a:avLst/>
          </a:prstGeom>
        </p:spPr>
      </p:pic>
      <p:sp>
        <p:nvSpPr>
          <p:cNvPr id="21" name="Text 18"/>
          <p:cNvSpPr/>
          <p:nvPr/>
        </p:nvSpPr>
        <p:spPr>
          <a:xfrm>
            <a:off x="8128000" y="2397671"/>
            <a:ext cx="300863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840"/>
                </a:solidFill>
                <a:latin typeface="Inter" pitchFamily="34" charset="0"/>
                <a:ea typeface="Inter" pitchFamily="34" charset="-122"/>
                <a:cs typeface="Inter" pitchFamily="34" charset="-120"/>
              </a:rPr>
              <a:t>Frame length 9, marked "schedule is optimal"</a:t>
            </a:r>
            <a:endParaRPr lang="en-US" sz="1200" dirty="0"/>
          </a:p>
        </p:txBody>
      </p:sp>
      <p:pic>
        <p:nvPicPr>
          <p:cNvPr id="22" name="Image 1" descr="CheckCircle">    </p:cNvPr>
          <p:cNvPicPr>
            <a:picLocks noChangeAspect="1"/>
          </p:cNvPicPr>
          <p:nvPr/>
        </p:nvPicPr>
        <p:blipFill>
          <a:blip r:embed="rId2"/>
          <a:srcRect l="0" r="0" t="0" b="0"/>
          <a:stretch/>
        </p:blipFill>
        <p:spPr>
          <a:xfrm>
            <a:off x="7797800" y="2925911"/>
            <a:ext cx="228600" cy="228600"/>
          </a:xfrm>
          <a:prstGeom prst="rect">
            <a:avLst/>
          </a:prstGeom>
        </p:spPr>
      </p:pic>
      <p:sp>
        <p:nvSpPr>
          <p:cNvPr id="23" name="Text 19"/>
          <p:cNvSpPr/>
          <p:nvPr/>
        </p:nvSpPr>
        <p:spPr>
          <a:xfrm>
            <a:off x="8128000" y="2925911"/>
            <a:ext cx="300863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840"/>
                </a:solidFill>
                <a:latin typeface="Inter" pitchFamily="34" charset="0"/>
                <a:ea typeface="Inter" pitchFamily="34" charset="-122"/>
                <a:cs typeface="Inter" pitchFamily="34" charset="-120"/>
              </a:rPr>
              <a:t>Slot × Node matrix: exactly one 1 in every column</a:t>
            </a:r>
            <a:endParaRPr lang="en-US" sz="1200" dirty="0"/>
          </a:p>
        </p:txBody>
      </p:sp>
      <p:pic>
        <p:nvPicPr>
          <p:cNvPr id="24" name="Image 2" descr="CheckCircle">    </p:cNvPr>
          <p:cNvPicPr>
            <a:picLocks noChangeAspect="1"/>
          </p:cNvPicPr>
          <p:nvPr/>
        </p:nvPicPr>
        <p:blipFill>
          <a:blip r:embed="rId3"/>
          <a:srcRect l="0" r="0" t="0" b="0"/>
          <a:stretch/>
        </p:blipFill>
        <p:spPr>
          <a:xfrm>
            <a:off x="7797800" y="3454152"/>
            <a:ext cx="228600" cy="228600"/>
          </a:xfrm>
          <a:prstGeom prst="rect">
            <a:avLst/>
          </a:prstGeom>
        </p:spPr>
      </p:pic>
      <p:sp>
        <p:nvSpPr>
          <p:cNvPr id="25" name="Text 20"/>
          <p:cNvSpPr/>
          <p:nvPr/>
        </p:nvSpPr>
        <p:spPr>
          <a:xfrm>
            <a:off x="8128000" y="3454152"/>
            <a:ext cx="30086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840"/>
                </a:solidFill>
                <a:latin typeface="Inter" pitchFamily="34" charset="0"/>
                <a:ea typeface="Inter" pitchFamily="34" charset="-122"/>
                <a:cs typeface="Inter" pitchFamily="34" charset="-120"/>
              </a:rPr>
              <a:t>At 350 m: exactly 5 slots</a:t>
            </a:r>
            <a:endParaRPr lang="en-US" sz="1200" dirty="0"/>
          </a:p>
        </p:txBody>
      </p:sp>
      <p:pic>
        <p:nvPicPr>
          <p:cNvPr id="26" name="Image 3" descr="CheckCircle">    </p:cNvPr>
          <p:cNvPicPr>
            <a:picLocks noChangeAspect="1"/>
          </p:cNvPicPr>
          <p:nvPr/>
        </p:nvPicPr>
        <p:blipFill>
          <a:blip r:embed="rId4"/>
          <a:srcRect l="0" r="0" t="0" b="0"/>
          <a:stretch/>
        </p:blipFill>
        <p:spPr>
          <a:xfrm>
            <a:off x="7797800" y="3784352"/>
            <a:ext cx="228600" cy="228600"/>
          </a:xfrm>
          <a:prstGeom prst="rect">
            <a:avLst/>
          </a:prstGeom>
        </p:spPr>
      </p:pic>
      <p:sp>
        <p:nvSpPr>
          <p:cNvPr id="27" name="Text 21"/>
          <p:cNvSpPr/>
          <p:nvPr/>
        </p:nvSpPr>
        <p:spPr>
          <a:xfrm>
            <a:off x="8128000" y="3784352"/>
            <a:ext cx="30086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840"/>
                </a:solidFill>
                <a:latin typeface="Inter" pitchFamily="34" charset="0"/>
                <a:ea typeface="Inter" pitchFamily="34" charset="-122"/>
                <a:cs typeface="Inter" pitchFamily="34" charset="-120"/>
              </a:rPr>
              <a:t>All 98 tests pass</a:t>
            </a:r>
            <a:endParaRPr lang="en-US" sz="1200" dirty="0"/>
          </a:p>
        </p:txBody>
      </p:sp>
      <p:pic>
        <p:nvPicPr>
          <p:cNvPr id="28" name="Image 4" descr="CheckCircle">    </p:cNvPr>
          <p:cNvPicPr>
            <a:picLocks noChangeAspect="1"/>
          </p:cNvPicPr>
          <p:nvPr/>
        </p:nvPicPr>
        <p:blipFill>
          <a:blip r:embed="rId5"/>
          <a:srcRect l="0" r="0" t="0" b="0"/>
          <a:stretch/>
        </p:blipFill>
        <p:spPr>
          <a:xfrm>
            <a:off x="7797800" y="4114552"/>
            <a:ext cx="228600" cy="228600"/>
          </a:xfrm>
          <a:prstGeom prst="rect">
            <a:avLst/>
          </a:prstGeom>
        </p:spPr>
      </p:pic>
      <p:sp>
        <p:nvSpPr>
          <p:cNvPr id="29" name="Text 22"/>
          <p:cNvSpPr/>
          <p:nvPr/>
        </p:nvSpPr>
        <p:spPr>
          <a:xfrm>
            <a:off x="8128000" y="4114552"/>
            <a:ext cx="300863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840"/>
                </a:solidFill>
                <a:latin typeface="Inter" pitchFamily="34" charset="0"/>
                <a:ea typeface="Inter" pitchFamily="34" charset="-122"/>
                <a:cs typeface="Inter" pitchFamily="34" charset="-120"/>
              </a:rPr>
              <a:t>EMANE log: 0 SINR drops with the optimizer's schedule</a:t>
            </a:r>
            <a:endParaRPr lang="en-US" sz="1200" dirty="0"/>
          </a:p>
        </p:txBody>
      </p:sp>
      <p:pic>
        <p:nvPicPr>
          <p:cNvPr id="30" name="Image 5" descr="Vaan Megam Networks">    </p:cNvPr>
          <p:cNvPicPr>
            <a:picLocks noChangeAspect="1"/>
          </p:cNvPicPr>
          <p:nvPr/>
        </p:nvPicPr>
        <p:blipFill>
          <a:blip r:embed="rId6"/>
          <a:srcRect l="0" r="0" t="-56" b="-56"/>
          <a:stretch/>
        </p:blipFill>
        <p:spPr>
          <a:xfrm>
            <a:off x="914400" y="6273800"/>
            <a:ext cx="628650" cy="177800"/>
          </a:xfrm>
          <a:prstGeom prst="rect">
            <a:avLst/>
          </a:prstGeom>
        </p:spPr>
      </p:pic>
      <p:sp>
        <p:nvSpPr>
          <p:cNvPr id="31" name="Text 23"/>
          <p:cNvSpPr/>
          <p:nvPr/>
        </p:nvSpPr>
        <p:spPr>
          <a:xfrm>
            <a:off x="1670050" y="6276380"/>
            <a:ext cx="5232400" cy="200620"/>
          </a:xfrm>
          <a:prstGeom prst="rect">
            <a:avLst/>
          </a:prstGeom>
          <a:noFill/>
          <a:ln/>
        </p:spPr>
        <p:txBody>
          <a:bodyPr wrap="square" lIns="0" tIns="0" rIns="0" bIns="0" rtlCol="0" anchor="t">
            <a:normAutofit/>
          </a:bodyPr>
          <a:lstStyle/>
          <a:p>
            <a:pPr algn="l" indent="0" marL="0">
              <a:lnSpc>
                <a:spcPts val="1380"/>
              </a:lnSpc>
              <a:buNone/>
            </a:pPr>
            <a:r>
              <a:rPr lang="en-US" sz="1200" dirty="0">
                <a:solidFill>
                  <a:srgbClr val="6D6A8C"/>
                </a:solidFill>
                <a:latin typeface="Inter" pitchFamily="34" charset="0"/>
                <a:ea typeface="Inter" pitchFamily="34" charset="-122"/>
                <a:cs typeface="Inter" pitchFamily="34" charset="-120"/>
              </a:rPr>
              <a:t>TDMA Schedule Optimizer</a:t>
            </a:r>
            <a:endParaRPr lang="en-US" sz="1200" dirty="0"/>
          </a:p>
        </p:txBody>
      </p:sp>
      <p:sp>
        <p:nvSpPr>
          <p:cNvPr id="32" name="Text 24"/>
          <p:cNvSpPr/>
          <p:nvPr/>
        </p:nvSpPr>
        <p:spPr>
          <a:xfrm>
            <a:off x="10464800" y="6276380"/>
            <a:ext cx="812800" cy="200620"/>
          </a:xfrm>
          <a:prstGeom prst="rect">
            <a:avLst/>
          </a:prstGeom>
          <a:noFill/>
          <a:ln/>
        </p:spPr>
        <p:txBody>
          <a:bodyPr wrap="square" lIns="0" tIns="0" rIns="0" bIns="0" rtlCol="0" anchor="t">
            <a:normAutofit/>
          </a:bodyPr>
          <a:lstStyle/>
          <a:p>
            <a:pPr algn="r" indent="0" marL="0">
              <a:lnSpc>
                <a:spcPts val="1380"/>
              </a:lnSpc>
              <a:buNone/>
            </a:pPr>
            <a:r>
              <a:rPr lang="en-US" sz="1200" dirty="0">
                <a:solidFill>
                  <a:srgbClr val="6D6A8C"/>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CE9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CE9FA"/>
              </a:gs>
              <a:gs pos="100000">
                <a:srgbClr val="E4F2FB"/>
              </a:gs>
            </a:gsLst>
            <a:lin ang="2700000" scaled="0"/>
          </a:gradFill>
          <a:ln/>
        </p:spPr>
      </p:sp>
      <p:sp>
        <p:nvSpPr>
          <p:cNvPr id="3" name="Shape 1"/>
          <p:cNvSpPr/>
          <p:nvPr/>
        </p:nvSpPr>
        <p:spPr>
          <a:xfrm>
            <a:off x="304800" y="304800"/>
            <a:ext cx="11582400" cy="6248400"/>
          </a:xfrm>
          <a:prstGeom prst="roundRect">
            <a:avLst>
              <a:gd name="adj" fmla="val 3659"/>
            </a:avLst>
          </a:prstGeom>
          <a:solidFill>
            <a:srgbClr val="FDFDFF"/>
          </a:solidFill>
          <a:ln/>
          <a:effectLst>
            <a:outerShdw sx="100000" sy="100000" kx="0" ky="0" algn="bl" rotWithShape="0" blurRad="355600" dist="101600" dir="5400000">
              <a:srgbClr val="281E6E">
                <a:alpha val="10000"/>
              </a:srgbClr>
            </a:outerShdw>
          </a:effectLst>
        </p:spPr>
      </p:sp>
      <p:sp>
        <p:nvSpPr>
          <p:cNvPr id="4" name="Text 2"/>
          <p:cNvSpPr/>
          <p:nvPr/>
        </p:nvSpPr>
        <p:spPr>
          <a:xfrm>
            <a:off x="914400" y="81280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54C4"/>
                </a:solidFill>
                <a:latin typeface="Inter" pitchFamily="34" charset="0"/>
                <a:ea typeface="Inter" pitchFamily="34" charset="-122"/>
                <a:cs typeface="Inter" pitchFamily="34" charset="-120"/>
              </a:rPr>
              <a:t>WRAP-UP</a:t>
            </a:r>
            <a:endParaRPr lang="en-US" sz="1200" dirty="0"/>
          </a:p>
        </p:txBody>
      </p:sp>
      <p:sp>
        <p:nvSpPr>
          <p:cNvPr id="5" name="Text 3"/>
          <p:cNvSpPr/>
          <p:nvPr>
            <p:ph type="title"/>
          </p:nvPr>
        </p:nvSpPr>
        <p:spPr>
          <a:xfrm>
            <a:off x="914400" y="1102320"/>
            <a:ext cx="10674096" cy="47243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B1840"/>
                </a:solidFill>
                <a:latin typeface="Plus Jakarta Sans" pitchFamily="34" charset="0"/>
                <a:ea typeface="Plus Jakarta Sans" pitchFamily="34" charset="-122"/>
                <a:cs typeface="Plus Jakarta Sans" pitchFamily="34" charset="-120"/>
              </a:rPr>
              <a:t>Limitations and next steps</a:t>
            </a:r>
            <a:endParaRPr lang="en-US" sz="3200" dirty="0"/>
          </a:p>
        </p:txBody>
      </p:sp>
      <p:sp>
        <p:nvSpPr>
          <p:cNvPr id="6" name="Shape 4"/>
          <p:cNvSpPr/>
          <p:nvPr/>
        </p:nvSpPr>
        <p:spPr>
          <a:xfrm>
            <a:off x="914400" y="1854150"/>
            <a:ext cx="3318917" cy="1503561"/>
          </a:xfrm>
          <a:prstGeom prst="roundRect">
            <a:avLst>
              <a:gd name="adj" fmla="val 10136"/>
            </a:avLst>
          </a:prstGeom>
          <a:solidFill>
            <a:srgbClr val="F4F3FB"/>
          </a:solidFill>
          <a:ln/>
        </p:spPr>
      </p:sp>
      <p:sp>
        <p:nvSpPr>
          <p:cNvPr id="7" name="Shape 5"/>
          <p:cNvSpPr/>
          <p:nvPr/>
        </p:nvSpPr>
        <p:spPr>
          <a:xfrm>
            <a:off x="1117600" y="2057350"/>
            <a:ext cx="355600" cy="355600"/>
          </a:xfrm>
          <a:prstGeom prst="roundRect">
            <a:avLst>
              <a:gd name="adj" fmla="val 28571"/>
            </a:avLst>
          </a:prstGeom>
          <a:solidFill>
            <a:srgbClr val="E4E1F7"/>
          </a:solidFill>
          <a:ln/>
        </p:spPr>
      </p:sp>
      <p:pic>
        <p:nvPicPr>
          <p:cNvPr id="8" name="Image 0" descr="Globe">    </p:cNvPr>
          <p:cNvPicPr>
            <a:picLocks noChangeAspect="1"/>
          </p:cNvPicPr>
          <p:nvPr/>
        </p:nvPicPr>
        <p:blipFill>
          <a:blip r:embed="rId1"/>
          <a:srcRect l="0" r="0" t="0" b="0"/>
          <a:stretch/>
        </p:blipFill>
        <p:spPr>
          <a:xfrm>
            <a:off x="1181100" y="2120850"/>
            <a:ext cx="228600" cy="228600"/>
          </a:xfrm>
          <a:prstGeom prst="rect">
            <a:avLst/>
          </a:prstGeom>
        </p:spPr>
      </p:pic>
      <p:sp>
        <p:nvSpPr>
          <p:cNvPr id="9" name="Text 6"/>
          <p:cNvSpPr/>
          <p:nvPr/>
        </p:nvSpPr>
        <p:spPr>
          <a:xfrm>
            <a:off x="1574800" y="2128490"/>
            <a:ext cx="252897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1840"/>
                </a:solidFill>
                <a:latin typeface="Inter" pitchFamily="34" charset="0"/>
                <a:ea typeface="Inter" pitchFamily="34" charset="-122"/>
                <a:cs typeface="Inter" pitchFamily="34" charset="-120"/>
              </a:rPr>
              <a:t>Assumed coordinates</a:t>
            </a:r>
            <a:endParaRPr lang="en-US" sz="1400" dirty="0"/>
          </a:p>
        </p:txBody>
      </p:sp>
      <p:sp>
        <p:nvSpPr>
          <p:cNvPr id="10" name="Text 7"/>
          <p:cNvSpPr/>
          <p:nvPr/>
        </p:nvSpPr>
        <p:spPr>
          <a:xfrm>
            <a:off x="1117600" y="2514550"/>
            <a:ext cx="29998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Only 3 of the 16 positions are given. Any other layout needs only a new input file.</a:t>
            </a:r>
            <a:endParaRPr lang="en-US" sz="1200" dirty="0"/>
          </a:p>
        </p:txBody>
      </p:sp>
      <p:sp>
        <p:nvSpPr>
          <p:cNvPr id="11" name="Shape 8"/>
          <p:cNvSpPr/>
          <p:nvPr/>
        </p:nvSpPr>
        <p:spPr>
          <a:xfrm>
            <a:off x="4436517" y="1854150"/>
            <a:ext cx="3318917" cy="1503561"/>
          </a:xfrm>
          <a:prstGeom prst="roundRect">
            <a:avLst>
              <a:gd name="adj" fmla="val 10136"/>
            </a:avLst>
          </a:prstGeom>
          <a:solidFill>
            <a:srgbClr val="F4F3FB"/>
          </a:solidFill>
          <a:ln/>
        </p:spPr>
      </p:sp>
      <p:sp>
        <p:nvSpPr>
          <p:cNvPr id="12" name="Shape 9"/>
          <p:cNvSpPr/>
          <p:nvPr/>
        </p:nvSpPr>
        <p:spPr>
          <a:xfrm>
            <a:off x="4639717" y="2057350"/>
            <a:ext cx="355600" cy="355600"/>
          </a:xfrm>
          <a:prstGeom prst="roundRect">
            <a:avLst>
              <a:gd name="adj" fmla="val 28571"/>
            </a:avLst>
          </a:prstGeom>
          <a:solidFill>
            <a:srgbClr val="E4E1F7"/>
          </a:solidFill>
          <a:ln/>
        </p:spPr>
      </p:sp>
      <p:pic>
        <p:nvPicPr>
          <p:cNvPr id="13" name="Image 1" descr="Activity">    </p:cNvPr>
          <p:cNvPicPr>
            <a:picLocks noChangeAspect="1"/>
          </p:cNvPicPr>
          <p:nvPr/>
        </p:nvPicPr>
        <p:blipFill>
          <a:blip r:embed="rId2"/>
          <a:srcRect l="0" r="0" t="0" b="0"/>
          <a:stretch/>
        </p:blipFill>
        <p:spPr>
          <a:xfrm>
            <a:off x="4703217" y="2120850"/>
            <a:ext cx="228600" cy="228600"/>
          </a:xfrm>
          <a:prstGeom prst="rect">
            <a:avLst/>
          </a:prstGeom>
        </p:spPr>
      </p:pic>
      <p:sp>
        <p:nvSpPr>
          <p:cNvPr id="14" name="Text 10"/>
          <p:cNvSpPr/>
          <p:nvPr/>
        </p:nvSpPr>
        <p:spPr>
          <a:xfrm>
            <a:off x="5096917" y="2128490"/>
            <a:ext cx="252897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1840"/>
                </a:solidFill>
                <a:latin typeface="Inter" pitchFamily="34" charset="0"/>
                <a:ea typeface="Inter" pitchFamily="34" charset="-122"/>
                <a:cs typeface="Inter" pitchFamily="34" charset="-120"/>
              </a:rPr>
              <a:t>Disc interference model</a:t>
            </a:r>
            <a:endParaRPr lang="en-US" sz="1400" dirty="0"/>
          </a:p>
        </p:txBody>
      </p:sp>
      <p:sp>
        <p:nvSpPr>
          <p:cNvPr id="15" name="Text 11"/>
          <p:cNvSpPr/>
          <p:nvPr/>
        </p:nvSpPr>
        <p:spPr>
          <a:xfrm>
            <a:off x="4639717" y="2514550"/>
            <a:ext cx="29998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Radios beyond 500 m count as silent. An SINR-based model would be more realistic.</a:t>
            </a:r>
            <a:endParaRPr lang="en-US" sz="1200" dirty="0"/>
          </a:p>
        </p:txBody>
      </p:sp>
      <p:sp>
        <p:nvSpPr>
          <p:cNvPr id="16" name="Shape 12"/>
          <p:cNvSpPr/>
          <p:nvPr/>
        </p:nvSpPr>
        <p:spPr>
          <a:xfrm>
            <a:off x="7958634" y="1854150"/>
            <a:ext cx="3318966" cy="1503561"/>
          </a:xfrm>
          <a:prstGeom prst="roundRect">
            <a:avLst>
              <a:gd name="adj" fmla="val 10136"/>
            </a:avLst>
          </a:prstGeom>
          <a:solidFill>
            <a:srgbClr val="F4F3FB"/>
          </a:solidFill>
          <a:ln/>
        </p:spPr>
      </p:sp>
      <p:sp>
        <p:nvSpPr>
          <p:cNvPr id="17" name="Shape 13"/>
          <p:cNvSpPr/>
          <p:nvPr/>
        </p:nvSpPr>
        <p:spPr>
          <a:xfrm>
            <a:off x="8161834" y="2057350"/>
            <a:ext cx="355600" cy="355600"/>
          </a:xfrm>
          <a:prstGeom prst="roundRect">
            <a:avLst>
              <a:gd name="adj" fmla="val 28571"/>
            </a:avLst>
          </a:prstGeom>
          <a:solidFill>
            <a:srgbClr val="E4E1F7"/>
          </a:solidFill>
          <a:ln/>
        </p:spPr>
      </p:sp>
      <p:pic>
        <p:nvPicPr>
          <p:cNvPr id="18" name="Image 2" descr="Users">    </p:cNvPr>
          <p:cNvPicPr>
            <a:picLocks noChangeAspect="1"/>
          </p:cNvPicPr>
          <p:nvPr/>
        </p:nvPicPr>
        <p:blipFill>
          <a:blip r:embed="rId3"/>
          <a:srcRect l="0" r="0" t="0" b="0"/>
          <a:stretch/>
        </p:blipFill>
        <p:spPr>
          <a:xfrm>
            <a:off x="8225334" y="2120850"/>
            <a:ext cx="228600" cy="228600"/>
          </a:xfrm>
          <a:prstGeom prst="rect">
            <a:avLst/>
          </a:prstGeom>
        </p:spPr>
      </p:pic>
      <p:sp>
        <p:nvSpPr>
          <p:cNvPr id="19" name="Text 14"/>
          <p:cNvSpPr/>
          <p:nvPr/>
        </p:nvSpPr>
        <p:spPr>
          <a:xfrm>
            <a:off x="8619034" y="2128490"/>
            <a:ext cx="25290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1840"/>
                </a:solidFill>
                <a:latin typeface="Inter" pitchFamily="34" charset="0"/>
                <a:ea typeface="Inter" pitchFamily="34" charset="-122"/>
                <a:cs typeface="Inter" pitchFamily="34" charset="-120"/>
              </a:rPr>
              <a:t>One slot per radio</a:t>
            </a:r>
            <a:endParaRPr lang="en-US" sz="1400" dirty="0"/>
          </a:p>
        </p:txBody>
      </p:sp>
      <p:sp>
        <p:nvSpPr>
          <p:cNvPr id="20" name="Text 15"/>
          <p:cNvSpPr/>
          <p:nvPr/>
        </p:nvSpPr>
        <p:spPr>
          <a:xfrm>
            <a:off x="8161834" y="2514550"/>
            <a:ext cx="299994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Busy relays get the same share as edge radios. Next: extra slots where the frame has room.</a:t>
            </a:r>
            <a:endParaRPr lang="en-US" sz="1200" dirty="0"/>
          </a:p>
        </p:txBody>
      </p:sp>
      <p:sp>
        <p:nvSpPr>
          <p:cNvPr id="21" name="Shape 16"/>
          <p:cNvSpPr/>
          <p:nvPr/>
        </p:nvSpPr>
        <p:spPr>
          <a:xfrm>
            <a:off x="914400" y="3560911"/>
            <a:ext cx="3318917" cy="1503561"/>
          </a:xfrm>
          <a:prstGeom prst="roundRect">
            <a:avLst>
              <a:gd name="adj" fmla="val 10136"/>
            </a:avLst>
          </a:prstGeom>
          <a:solidFill>
            <a:srgbClr val="F4F3FB"/>
          </a:solidFill>
          <a:ln/>
        </p:spPr>
      </p:sp>
      <p:sp>
        <p:nvSpPr>
          <p:cNvPr id="22" name="Shape 17"/>
          <p:cNvSpPr/>
          <p:nvPr/>
        </p:nvSpPr>
        <p:spPr>
          <a:xfrm>
            <a:off x="1117600" y="3764111"/>
            <a:ext cx="355600" cy="355600"/>
          </a:xfrm>
          <a:prstGeom prst="roundRect">
            <a:avLst>
              <a:gd name="adj" fmla="val 28571"/>
            </a:avLst>
          </a:prstGeom>
          <a:solidFill>
            <a:srgbClr val="E4E1F7"/>
          </a:solidFill>
          <a:ln/>
        </p:spPr>
      </p:sp>
      <p:pic>
        <p:nvPicPr>
          <p:cNvPr id="23" name="Image 3" descr="Settings">    </p:cNvPr>
          <p:cNvPicPr>
            <a:picLocks noChangeAspect="1"/>
          </p:cNvPicPr>
          <p:nvPr/>
        </p:nvPicPr>
        <p:blipFill>
          <a:blip r:embed="rId4"/>
          <a:srcRect l="0" r="0" t="0" b="0"/>
          <a:stretch/>
        </p:blipFill>
        <p:spPr>
          <a:xfrm>
            <a:off x="1181100" y="3827611"/>
            <a:ext cx="228600" cy="228600"/>
          </a:xfrm>
          <a:prstGeom prst="rect">
            <a:avLst/>
          </a:prstGeom>
        </p:spPr>
      </p:pic>
      <p:sp>
        <p:nvSpPr>
          <p:cNvPr id="24" name="Text 18"/>
          <p:cNvSpPr/>
          <p:nvPr/>
        </p:nvSpPr>
        <p:spPr>
          <a:xfrm>
            <a:off x="1574800" y="3835251"/>
            <a:ext cx="252897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1840"/>
                </a:solidFill>
                <a:latin typeface="Inter" pitchFamily="34" charset="0"/>
                <a:ea typeface="Inter" pitchFamily="34" charset="-122"/>
                <a:cs typeface="Inter" pitchFamily="34" charset="-120"/>
              </a:rPr>
              <a:t>Static and centralised</a:t>
            </a:r>
            <a:endParaRPr lang="en-US" sz="1400" dirty="0"/>
          </a:p>
        </p:txBody>
      </p:sp>
      <p:sp>
        <p:nvSpPr>
          <p:cNvPr id="25" name="Text 19"/>
          <p:cNvSpPr/>
          <p:nvPr/>
        </p:nvSpPr>
        <p:spPr>
          <a:xfrm>
            <a:off x="1117600" y="4221311"/>
            <a:ext cx="29998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Moving radios mean recomputing the schedule and sending a new schedule event.</a:t>
            </a:r>
            <a:endParaRPr lang="en-US" sz="1200" dirty="0"/>
          </a:p>
        </p:txBody>
      </p:sp>
      <p:sp>
        <p:nvSpPr>
          <p:cNvPr id="26" name="Shape 20"/>
          <p:cNvSpPr/>
          <p:nvPr/>
        </p:nvSpPr>
        <p:spPr>
          <a:xfrm>
            <a:off x="4436517" y="3560911"/>
            <a:ext cx="3318917" cy="1503561"/>
          </a:xfrm>
          <a:prstGeom prst="roundRect">
            <a:avLst>
              <a:gd name="adj" fmla="val 10136"/>
            </a:avLst>
          </a:prstGeom>
          <a:solidFill>
            <a:srgbClr val="F4F3FB"/>
          </a:solidFill>
          <a:ln/>
        </p:spPr>
      </p:sp>
      <p:sp>
        <p:nvSpPr>
          <p:cNvPr id="27" name="Shape 21"/>
          <p:cNvSpPr/>
          <p:nvPr/>
        </p:nvSpPr>
        <p:spPr>
          <a:xfrm>
            <a:off x="4639717" y="3764111"/>
            <a:ext cx="355600" cy="355600"/>
          </a:xfrm>
          <a:prstGeom prst="roundRect">
            <a:avLst>
              <a:gd name="adj" fmla="val 28571"/>
            </a:avLst>
          </a:prstGeom>
          <a:solidFill>
            <a:srgbClr val="E4E1F7"/>
          </a:solidFill>
          <a:ln/>
        </p:spPr>
      </p:sp>
      <p:pic>
        <p:nvPicPr>
          <p:cNvPr id="28" name="Image 4" descr="Search">    </p:cNvPr>
          <p:cNvPicPr>
            <a:picLocks noChangeAspect="1"/>
          </p:cNvPicPr>
          <p:nvPr/>
        </p:nvPicPr>
        <p:blipFill>
          <a:blip r:embed="rId5"/>
          <a:srcRect l="0" r="0" t="0" b="0"/>
          <a:stretch/>
        </p:blipFill>
        <p:spPr>
          <a:xfrm>
            <a:off x="4703217" y="3827611"/>
            <a:ext cx="228600" cy="228600"/>
          </a:xfrm>
          <a:prstGeom prst="rect">
            <a:avLst/>
          </a:prstGeom>
        </p:spPr>
      </p:pic>
      <p:sp>
        <p:nvSpPr>
          <p:cNvPr id="29" name="Text 22"/>
          <p:cNvSpPr/>
          <p:nvPr/>
        </p:nvSpPr>
        <p:spPr>
          <a:xfrm>
            <a:off x="5096917" y="3835251"/>
            <a:ext cx="252897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1840"/>
                </a:solidFill>
                <a:latin typeface="Inter" pitchFamily="34" charset="0"/>
                <a:ea typeface="Inter" pitchFamily="34" charset="-122"/>
                <a:cs typeface="Inter" pitchFamily="34" charset="-120"/>
              </a:rPr>
              <a:t>Heuristic, not exact</a:t>
            </a:r>
            <a:endParaRPr lang="en-US" sz="1400" dirty="0"/>
          </a:p>
        </p:txBody>
      </p:sp>
      <p:sp>
        <p:nvSpPr>
          <p:cNvPr id="30" name="Text 23"/>
          <p:cNvSpPr/>
          <p:nvPr/>
        </p:nvSpPr>
        <p:spPr>
          <a:xfrm>
            <a:off x="4639717" y="4221311"/>
            <a:ext cx="29998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An exact solver could close the gap when a result sits above the lower bound.</a:t>
            </a:r>
            <a:endParaRPr lang="en-US" sz="1200" dirty="0"/>
          </a:p>
        </p:txBody>
      </p:sp>
      <p:sp>
        <p:nvSpPr>
          <p:cNvPr id="31" name="Shape 24"/>
          <p:cNvSpPr/>
          <p:nvPr/>
        </p:nvSpPr>
        <p:spPr>
          <a:xfrm>
            <a:off x="7958634" y="3560911"/>
            <a:ext cx="3318966" cy="1503561"/>
          </a:xfrm>
          <a:prstGeom prst="roundRect">
            <a:avLst>
              <a:gd name="adj" fmla="val 10136"/>
            </a:avLst>
          </a:prstGeom>
          <a:solidFill>
            <a:srgbClr val="F4F3FB"/>
          </a:solidFill>
          <a:ln/>
        </p:spPr>
      </p:sp>
      <p:sp>
        <p:nvSpPr>
          <p:cNvPr id="32" name="Shape 25"/>
          <p:cNvSpPr/>
          <p:nvPr/>
        </p:nvSpPr>
        <p:spPr>
          <a:xfrm>
            <a:off x="8161834" y="3764111"/>
            <a:ext cx="355600" cy="355600"/>
          </a:xfrm>
          <a:prstGeom prst="roundRect">
            <a:avLst>
              <a:gd name="adj" fmla="val 28571"/>
            </a:avLst>
          </a:prstGeom>
          <a:solidFill>
            <a:srgbClr val="E4E1F7"/>
          </a:solidFill>
          <a:ln/>
        </p:spPr>
      </p:sp>
      <p:pic>
        <p:nvPicPr>
          <p:cNvPr id="33" name="Image 5" descr="Clock">    </p:cNvPr>
          <p:cNvPicPr>
            <a:picLocks noChangeAspect="1"/>
          </p:cNvPicPr>
          <p:nvPr/>
        </p:nvPicPr>
        <p:blipFill>
          <a:blip r:embed="rId6"/>
          <a:srcRect l="0" r="0" t="0" b="0"/>
          <a:stretch/>
        </p:blipFill>
        <p:spPr>
          <a:xfrm>
            <a:off x="8225334" y="3827611"/>
            <a:ext cx="228600" cy="228600"/>
          </a:xfrm>
          <a:prstGeom prst="rect">
            <a:avLst/>
          </a:prstGeom>
        </p:spPr>
      </p:pic>
      <p:sp>
        <p:nvSpPr>
          <p:cNvPr id="34" name="Text 26"/>
          <p:cNvSpPr/>
          <p:nvPr/>
        </p:nvSpPr>
        <p:spPr>
          <a:xfrm>
            <a:off x="8619034" y="3835251"/>
            <a:ext cx="25290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1840"/>
                </a:solidFill>
                <a:latin typeface="Inter" pitchFamily="34" charset="0"/>
                <a:ea typeface="Inter" pitchFamily="34" charset="-122"/>
                <a:cs typeface="Inter" pitchFamily="34" charset="-120"/>
              </a:rPr>
              <a:t>Emulator timing</a:t>
            </a:r>
            <a:endParaRPr lang="en-US" sz="1400" dirty="0"/>
          </a:p>
        </p:txBody>
      </p:sp>
      <p:sp>
        <p:nvSpPr>
          <p:cNvPr id="35" name="Text 27"/>
          <p:cNvSpPr/>
          <p:nvPr/>
        </p:nvSpPr>
        <p:spPr>
          <a:xfrm>
            <a:off x="8161834" y="4221311"/>
            <a:ext cx="299994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56A"/>
                </a:solidFill>
                <a:latin typeface="Inter" pitchFamily="34" charset="0"/>
                <a:ea typeface="Inter" pitchFamily="34" charset="-122"/>
                <a:cs typeface="Inter" pitchFamily="34" charset="-120"/>
              </a:rPr>
              <a:t>1 ms slots were only tested in a VM. Bare-metal Linux with more cores is untested.</a:t>
            </a:r>
            <a:endParaRPr lang="en-US" sz="1200" dirty="0"/>
          </a:p>
        </p:txBody>
      </p:sp>
      <p:pic>
        <p:nvPicPr>
          <p:cNvPr id="36" name="Image 6" descr="Vaan Megam Networks">    </p:cNvPr>
          <p:cNvPicPr>
            <a:picLocks noChangeAspect="1"/>
          </p:cNvPicPr>
          <p:nvPr/>
        </p:nvPicPr>
        <p:blipFill>
          <a:blip r:embed="rId7"/>
          <a:srcRect l="0" r="0" t="-56" b="-56"/>
          <a:stretch/>
        </p:blipFill>
        <p:spPr>
          <a:xfrm>
            <a:off x="914400" y="6273800"/>
            <a:ext cx="628650" cy="177800"/>
          </a:xfrm>
          <a:prstGeom prst="rect">
            <a:avLst/>
          </a:prstGeom>
        </p:spPr>
      </p:pic>
      <p:sp>
        <p:nvSpPr>
          <p:cNvPr id="37" name="Text 28"/>
          <p:cNvSpPr/>
          <p:nvPr/>
        </p:nvSpPr>
        <p:spPr>
          <a:xfrm>
            <a:off x="1670050" y="6276380"/>
            <a:ext cx="5232400" cy="200620"/>
          </a:xfrm>
          <a:prstGeom prst="rect">
            <a:avLst/>
          </a:prstGeom>
          <a:noFill/>
          <a:ln/>
        </p:spPr>
        <p:txBody>
          <a:bodyPr wrap="square" lIns="0" tIns="0" rIns="0" bIns="0" rtlCol="0" anchor="t">
            <a:normAutofit/>
          </a:bodyPr>
          <a:lstStyle/>
          <a:p>
            <a:pPr algn="l" indent="0" marL="0">
              <a:lnSpc>
                <a:spcPts val="1380"/>
              </a:lnSpc>
              <a:buNone/>
            </a:pPr>
            <a:r>
              <a:rPr lang="en-US" sz="1200" dirty="0">
                <a:solidFill>
                  <a:srgbClr val="6D6A8C"/>
                </a:solidFill>
                <a:latin typeface="Inter" pitchFamily="34" charset="0"/>
                <a:ea typeface="Inter" pitchFamily="34" charset="-122"/>
                <a:cs typeface="Inter" pitchFamily="34" charset="-120"/>
              </a:rPr>
              <a:t>TDMA Schedule Optimizer</a:t>
            </a:r>
            <a:endParaRPr lang="en-US" sz="1200" dirty="0"/>
          </a:p>
        </p:txBody>
      </p:sp>
      <p:sp>
        <p:nvSpPr>
          <p:cNvPr id="38" name="Text 29"/>
          <p:cNvSpPr/>
          <p:nvPr/>
        </p:nvSpPr>
        <p:spPr>
          <a:xfrm>
            <a:off x="10464800" y="6276380"/>
            <a:ext cx="812800" cy="200620"/>
          </a:xfrm>
          <a:prstGeom prst="rect">
            <a:avLst/>
          </a:prstGeom>
          <a:noFill/>
          <a:ln/>
        </p:spPr>
        <p:txBody>
          <a:bodyPr wrap="square" lIns="0" tIns="0" rIns="0" bIns="0" rtlCol="0" anchor="t">
            <a:normAutofit/>
          </a:bodyPr>
          <a:lstStyle/>
          <a:p>
            <a:pPr algn="r" indent="0" marL="0">
              <a:lnSpc>
                <a:spcPts val="1380"/>
              </a:lnSpc>
              <a:buNone/>
            </a:pPr>
            <a:r>
              <a:rPr lang="en-US" sz="1200" dirty="0">
                <a:solidFill>
                  <a:srgbClr val="6D6A8C"/>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143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7143A"/>
              </a:gs>
              <a:gs pos="58000">
                <a:srgbClr val="262062"/>
              </a:gs>
              <a:gs pos="100000">
                <a:srgbClr val="1D4A72"/>
              </a:gs>
            </a:gsLst>
            <a:lin ang="2700000" scaled="0"/>
          </a:gradFill>
          <a:ln/>
        </p:spPr>
      </p:sp>
      <p:pic>
        <p:nvPicPr>
          <p:cNvPr id="3"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4" name="Shape 1"/>
          <p:cNvSpPr/>
          <p:nvPr/>
        </p:nvSpPr>
        <p:spPr>
          <a:xfrm>
            <a:off x="812800" y="609600"/>
            <a:ext cx="1612900" cy="584200"/>
          </a:xfrm>
          <a:prstGeom prst="roundRect">
            <a:avLst>
              <a:gd name="adj" fmla="val 21739"/>
            </a:avLst>
          </a:prstGeom>
          <a:solidFill>
            <a:srgbClr val="FDFDFF"/>
          </a:solidFill>
          <a:ln/>
        </p:spPr>
      </p:sp>
      <p:pic>
        <p:nvPicPr>
          <p:cNvPr id="5" name="Image 1" descr="Vaan Megam Networks">    </p:cNvPr>
          <p:cNvPicPr>
            <a:picLocks noChangeAspect="1"/>
          </p:cNvPicPr>
          <p:nvPr/>
        </p:nvPicPr>
        <p:blipFill>
          <a:blip r:embed="rId2"/>
          <a:srcRect l="0" r="0" t="-56" b="-56"/>
          <a:stretch/>
        </p:blipFill>
        <p:spPr>
          <a:xfrm>
            <a:off x="990600" y="723900"/>
            <a:ext cx="1257300" cy="355600"/>
          </a:xfrm>
          <a:prstGeom prst="rect">
            <a:avLst/>
          </a:prstGeom>
        </p:spPr>
      </p:pic>
      <p:sp>
        <p:nvSpPr>
          <p:cNvPr id="6" name="Text 2"/>
          <p:cNvSpPr/>
          <p:nvPr/>
        </p:nvSpPr>
        <p:spPr>
          <a:xfrm>
            <a:off x="812800" y="1769219"/>
            <a:ext cx="65405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FD3F7"/>
                </a:solidFill>
                <a:latin typeface="Inter" pitchFamily="34" charset="0"/>
                <a:ea typeface="Inter" pitchFamily="34" charset="-122"/>
                <a:cs typeface="Inter" pitchFamily="34" charset="-120"/>
              </a:rPr>
              <a:t>SUMMARY</a:t>
            </a:r>
            <a:endParaRPr lang="en-US" sz="1200" dirty="0"/>
          </a:p>
        </p:txBody>
      </p:sp>
      <p:sp>
        <p:nvSpPr>
          <p:cNvPr id="7" name="Shape 3"/>
          <p:cNvSpPr/>
          <p:nvPr/>
        </p:nvSpPr>
        <p:spPr>
          <a:xfrm>
            <a:off x="812800" y="2160339"/>
            <a:ext cx="355600" cy="355600"/>
          </a:xfrm>
          <a:prstGeom prst="roundRect">
            <a:avLst>
              <a:gd name="adj" fmla="val 28571"/>
            </a:avLst>
          </a:prstGeom>
          <a:solidFill>
            <a:srgbClr val="FFFFFF">
              <a:alpha val="10000"/>
            </a:srgbClr>
          </a:solidFill>
          <a:ln/>
        </p:spPr>
      </p:sp>
      <p:pic>
        <p:nvPicPr>
          <p:cNvPr id="8" name="Image 2" descr="CheckCircle">    </p:cNvPr>
          <p:cNvPicPr>
            <a:picLocks noChangeAspect="1"/>
          </p:cNvPicPr>
          <p:nvPr/>
        </p:nvPicPr>
        <p:blipFill>
          <a:blip r:embed="rId3"/>
          <a:srcRect l="0" r="0" t="0" b="0"/>
          <a:stretch/>
        </p:blipFill>
        <p:spPr>
          <a:xfrm>
            <a:off x="876300" y="2223839"/>
            <a:ext cx="228600" cy="228600"/>
          </a:xfrm>
          <a:prstGeom prst="rect">
            <a:avLst/>
          </a:prstGeom>
        </p:spPr>
      </p:pic>
      <p:sp>
        <p:nvSpPr>
          <p:cNvPr id="9" name="Text 4"/>
          <p:cNvSpPr/>
          <p:nvPr/>
        </p:nvSpPr>
        <p:spPr>
          <a:xfrm>
            <a:off x="1295400" y="2160339"/>
            <a:ext cx="6043422"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4E1FF"/>
                </a:solidFill>
                <a:latin typeface="Inter" pitchFamily="34" charset="0"/>
                <a:ea typeface="Inter" pitchFamily="34" charset="-122"/>
                <a:cs typeface="Inter" pitchFamily="34" charset="-120"/>
              </a:rPr>
              <a:t>Part 1:</a:t>
            </a:r>
            <a:r>
              <a:rPr lang="en-US" sz="1400" dirty="0">
                <a:solidFill>
                  <a:srgbClr val="E4E1FF"/>
                </a:solidFill>
                <a:latin typeface="Inter" pitchFamily="34" charset="0"/>
                <a:ea typeface="Inter" pitchFamily="34" charset="-122"/>
                <a:cs typeface="Inter" pitchFamily="34" charset="-120"/>
              </a:rPr>
              <a:t> a 9-slot schedule for the 16-node grid, with zero collisions and proof that 9 is the minimum.</a:t>
            </a:r>
            <a:endParaRPr lang="en-US" sz="1400" dirty="0"/>
          </a:p>
        </p:txBody>
      </p:sp>
      <p:sp>
        <p:nvSpPr>
          <p:cNvPr id="10" name="Shape 5"/>
          <p:cNvSpPr/>
          <p:nvPr/>
        </p:nvSpPr>
        <p:spPr>
          <a:xfrm>
            <a:off x="812800" y="2835920"/>
            <a:ext cx="355600" cy="355600"/>
          </a:xfrm>
          <a:prstGeom prst="roundRect">
            <a:avLst>
              <a:gd name="adj" fmla="val 28571"/>
            </a:avLst>
          </a:prstGeom>
          <a:solidFill>
            <a:srgbClr val="FFFFFF">
              <a:alpha val="10000"/>
            </a:srgbClr>
          </a:solidFill>
          <a:ln/>
        </p:spPr>
      </p:sp>
      <p:pic>
        <p:nvPicPr>
          <p:cNvPr id="11" name="Image 3" descr="CheckCircle">    </p:cNvPr>
          <p:cNvPicPr>
            <a:picLocks noChangeAspect="1"/>
          </p:cNvPicPr>
          <p:nvPr/>
        </p:nvPicPr>
        <p:blipFill>
          <a:blip r:embed="rId4"/>
          <a:srcRect l="0" r="0" t="0" b="0"/>
          <a:stretch/>
        </p:blipFill>
        <p:spPr>
          <a:xfrm>
            <a:off x="876300" y="2899420"/>
            <a:ext cx="228600" cy="228600"/>
          </a:xfrm>
          <a:prstGeom prst="rect">
            <a:avLst/>
          </a:prstGeom>
        </p:spPr>
      </p:pic>
      <p:sp>
        <p:nvSpPr>
          <p:cNvPr id="12" name="Text 6"/>
          <p:cNvSpPr/>
          <p:nvPr/>
        </p:nvSpPr>
        <p:spPr>
          <a:xfrm>
            <a:off x="1295400" y="2835920"/>
            <a:ext cx="6043422"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4E1FF"/>
                </a:solidFill>
                <a:latin typeface="Inter" pitchFamily="34" charset="0"/>
                <a:ea typeface="Inter" pitchFamily="34" charset="-122"/>
                <a:cs typeface="Inter" pitchFamily="34" charset="-120"/>
              </a:rPr>
              <a:t>Part 2:</a:t>
            </a:r>
            <a:r>
              <a:rPr lang="en-US" sz="1400" dirty="0">
                <a:solidFill>
                  <a:srgbClr val="E4E1FF"/>
                </a:solidFill>
                <a:latin typeface="Inter" pitchFamily="34" charset="0"/>
                <a:ea typeface="Inter" pitchFamily="34" charset="-122"/>
                <a:cs typeface="Inter" pitchFamily="34" charset="-120"/>
              </a:rPr>
              <a:t> in EMANE, no collision drops with the optimizer's schedule, against 34.5% delivery without hidden-terminal protection.</a:t>
            </a:r>
            <a:endParaRPr lang="en-US" sz="1400" dirty="0"/>
          </a:p>
        </p:txBody>
      </p:sp>
      <p:sp>
        <p:nvSpPr>
          <p:cNvPr id="13" name="Shape 7"/>
          <p:cNvSpPr/>
          <p:nvPr/>
        </p:nvSpPr>
        <p:spPr>
          <a:xfrm>
            <a:off x="812800" y="3511500"/>
            <a:ext cx="355600" cy="355600"/>
          </a:xfrm>
          <a:prstGeom prst="roundRect">
            <a:avLst>
              <a:gd name="adj" fmla="val 28571"/>
            </a:avLst>
          </a:prstGeom>
          <a:solidFill>
            <a:srgbClr val="FFFFFF">
              <a:alpha val="10000"/>
            </a:srgbClr>
          </a:solidFill>
          <a:ln/>
        </p:spPr>
      </p:sp>
      <p:pic>
        <p:nvPicPr>
          <p:cNvPr id="14" name="Image 4" descr="Link">    </p:cNvPr>
          <p:cNvPicPr>
            <a:picLocks noChangeAspect="1"/>
          </p:cNvPicPr>
          <p:nvPr/>
        </p:nvPicPr>
        <p:blipFill>
          <a:blip r:embed="rId5"/>
          <a:srcRect l="0" r="0" t="0" b="0"/>
          <a:stretch/>
        </p:blipFill>
        <p:spPr>
          <a:xfrm>
            <a:off x="876300" y="3575000"/>
            <a:ext cx="228600" cy="228600"/>
          </a:xfrm>
          <a:prstGeom prst="rect">
            <a:avLst/>
          </a:prstGeom>
        </p:spPr>
      </p:pic>
      <p:sp>
        <p:nvSpPr>
          <p:cNvPr id="15" name="Text 8"/>
          <p:cNvSpPr/>
          <p:nvPr/>
        </p:nvSpPr>
        <p:spPr>
          <a:xfrm>
            <a:off x="1295400" y="3511500"/>
            <a:ext cx="604342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1FF"/>
                </a:solidFill>
                <a:latin typeface="Inter" pitchFamily="34" charset="0"/>
                <a:ea typeface="Inter" pitchFamily="34" charset="-122"/>
                <a:cs typeface="Inter" pitchFamily="34" charset="-120"/>
              </a:rPr>
              <a:t>Code, documentation and slides:</a:t>
            </a:r>
            <a:endParaRPr lang="en-US" sz="1400" dirty="0"/>
          </a:p>
          <a:p>
            <a:pPr algn="l" indent="0" marL="0">
              <a:lnSpc>
                <a:spcPts val="1960"/>
              </a:lnSpc>
              <a:buNone/>
            </a:pPr>
            <a:r>
              <a:rPr lang="en-US" sz="1400" u="sng" dirty="0">
                <a:solidFill>
                  <a:srgbClr val="6FD3F7"/>
                </a:solidFill>
                <a:latin typeface="Inter" pitchFamily="34" charset="0"/>
                <a:ea typeface="Inter" pitchFamily="34" charset="-122"/>
                <a:cs typeface="Int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github.com/srikarreddyram/tdma-schedule-optimizer</a:t>
            </a:r>
            <a:endParaRPr lang="en-US" sz="1400" dirty="0"/>
          </a:p>
        </p:txBody>
      </p:sp>
      <p:sp>
        <p:nvSpPr>
          <p:cNvPr id="16" name="Text 9"/>
          <p:cNvSpPr/>
          <p:nvPr>
            <p:ph type="title"/>
          </p:nvPr>
        </p:nvSpPr>
        <p:spPr>
          <a:xfrm>
            <a:off x="812800" y="4288681"/>
            <a:ext cx="6540500" cy="825500"/>
          </a:xfrm>
          <a:prstGeom prst="rect">
            <a:avLst/>
          </a:prstGeom>
          <a:noFill/>
          <a:ln/>
        </p:spPr>
        <p:txBody>
          <a:bodyPr wrap="square" lIns="0" tIns="0" rIns="0" bIns="0" rtlCol="0" anchor="t">
            <a:normAutofit/>
          </a:bodyPr>
          <a:lstStyle/>
          <a:p>
            <a:pPr algn="l" indent="0" marL="0">
              <a:lnSpc>
                <a:spcPts val="6300"/>
              </a:lnSpc>
              <a:buNone/>
            </a:pPr>
            <a:r>
              <a:rPr lang="en-US" sz="6000" b="1" i="0" spc="-150" kern="0" dirty="0">
                <a:solidFill>
                  <a:srgbClr val="F5F4FC"/>
                </a:solidFill>
                <a:latin typeface="Plus Jakarta Sans" pitchFamily="34" charset="0"/>
                <a:ea typeface="Plus Jakarta Sans" pitchFamily="34" charset="-122"/>
                <a:cs typeface="Plus Jakarta Sans" pitchFamily="34" charset="-120"/>
              </a:rPr>
              <a:t>Questions?</a:t>
            </a:r>
            <a:endParaRPr lang="en-US" sz="6000" dirty="0"/>
          </a:p>
        </p:txBody>
      </p:sp>
      <p:sp>
        <p:nvSpPr>
          <p:cNvPr id="17" name="Shape 10"/>
          <p:cNvSpPr/>
          <p:nvPr/>
        </p:nvSpPr>
        <p:spPr>
          <a:xfrm>
            <a:off x="7623175" y="1273175"/>
            <a:ext cx="3752850" cy="4311650"/>
          </a:xfrm>
          <a:prstGeom prst="roundRect">
            <a:avLst>
              <a:gd name="adj" fmla="val 5330"/>
            </a:avLst>
          </a:prstGeom>
          <a:solidFill>
            <a:srgbClr val="FFFFFF">
              <a:alpha val="5000"/>
            </a:srgbClr>
          </a:solidFill>
          <a:ln w="6350">
            <a:solidFill>
              <a:srgbClr val="FFFFFF">
                <a:alpha val="14000"/>
              </a:srgbClr>
            </a:solidFill>
            <a:prstDash val="solid"/>
          </a:ln>
        </p:spPr>
      </p:sp>
      <p:pic>
        <p:nvPicPr>
          <p:cNvPr id="18" name="Image 5" descr="preencoded.png">    </p:cNvPr>
          <p:cNvPicPr>
            <a:picLocks noChangeAspect="1"/>
          </p:cNvPicPr>
          <p:nvPr/>
        </p:nvPicPr>
        <p:blipFill>
          <a:blip r:embed="rId7"/>
          <a:srcRect l="0" r="0" t="0" b="0"/>
          <a:stretch/>
        </p:blipFill>
        <p:spPr>
          <a:xfrm>
            <a:off x="7620000" y="1270000"/>
            <a:ext cx="3759200" cy="4318000"/>
          </a:xfrm>
          <a:prstGeom prst="rect">
            <a:avLst/>
          </a:prstGeom>
        </p:spPr>
      </p:pic>
      <p:sp>
        <p:nvSpPr>
          <p:cNvPr id="19" name="Text 11"/>
          <p:cNvSpPr/>
          <p:nvPr/>
        </p:nvSpPr>
        <p:spPr>
          <a:xfrm>
            <a:off x="7962900" y="16510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0</a:t>
            </a:r>
            <a:endParaRPr lang="en-US" sz="1400" dirty="0"/>
          </a:p>
        </p:txBody>
      </p:sp>
      <p:sp>
        <p:nvSpPr>
          <p:cNvPr id="20" name="Text 12"/>
          <p:cNvSpPr/>
          <p:nvPr/>
        </p:nvSpPr>
        <p:spPr>
          <a:xfrm>
            <a:off x="8826500" y="16510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1</a:t>
            </a:r>
            <a:endParaRPr lang="en-US" sz="1400" dirty="0"/>
          </a:p>
        </p:txBody>
      </p:sp>
      <p:sp>
        <p:nvSpPr>
          <p:cNvPr id="21" name="Text 13"/>
          <p:cNvSpPr/>
          <p:nvPr/>
        </p:nvSpPr>
        <p:spPr>
          <a:xfrm>
            <a:off x="9690100" y="16510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2</a:t>
            </a:r>
            <a:endParaRPr lang="en-US" sz="1400" dirty="0"/>
          </a:p>
        </p:txBody>
      </p:sp>
      <p:sp>
        <p:nvSpPr>
          <p:cNvPr id="22" name="Text 14"/>
          <p:cNvSpPr/>
          <p:nvPr/>
        </p:nvSpPr>
        <p:spPr>
          <a:xfrm>
            <a:off x="10553700" y="16510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0</a:t>
            </a:r>
            <a:endParaRPr lang="en-US" sz="1400" dirty="0"/>
          </a:p>
        </p:txBody>
      </p:sp>
      <p:sp>
        <p:nvSpPr>
          <p:cNvPr id="23" name="Text 15"/>
          <p:cNvSpPr/>
          <p:nvPr/>
        </p:nvSpPr>
        <p:spPr>
          <a:xfrm>
            <a:off x="7962900" y="25146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3</a:t>
            </a:r>
            <a:endParaRPr lang="en-US" sz="1400" dirty="0"/>
          </a:p>
        </p:txBody>
      </p:sp>
      <p:sp>
        <p:nvSpPr>
          <p:cNvPr id="24" name="Text 16"/>
          <p:cNvSpPr/>
          <p:nvPr/>
        </p:nvSpPr>
        <p:spPr>
          <a:xfrm>
            <a:off x="8836025" y="2524125"/>
            <a:ext cx="463550" cy="463550"/>
          </a:xfrm>
          <a:custGeom>
            <a:avLst/>
            <a:gdLst/>
            <a:ahLst/>
            <a:cxnLst/>
            <a:rect l="l" t="t" r="r" b="b"/>
            <a:pathLst>
              <a:path w="463550" h="463550">
                <a:moveTo>
                  <a:pt x="231775" y="0"/>
                </a:moveTo>
                <a:lnTo>
                  <a:pt x="231775" y="0"/>
                </a:lnTo>
                <a:arcTo hR="231775" wR="231775" stAng="16200000" swAng="5400000"/>
                <a:lnTo>
                  <a:pt x="463550" y="231775"/>
                </a:lnTo>
                <a:arcTo hR="231775" wR="231775" stAng="0" swAng="5400000"/>
                <a:lnTo>
                  <a:pt x="231775" y="463550"/>
                </a:lnTo>
                <a:arcTo hR="231775" wR="231775" stAng="5400000" swAng="5400000"/>
                <a:lnTo>
                  <a:pt x="0" y="231775"/>
                </a:lnTo>
                <a:arcTo hR="231775" wR="231775" stAng="10800000" swAng="5400000"/>
                <a:close/>
              </a:path>
            </a:pathLst>
          </a:custGeom>
          <a:solidFill>
            <a:srgbClr val="262062"/>
          </a:solidFill>
          <a:ln w="19050">
            <a:solidFill>
              <a:srgbClr val="E4E1FF"/>
            </a:solidFill>
            <a:prstDash val="solid"/>
          </a:ln>
        </p:spPr>
        <p:txBody>
          <a:bodyPr wrap="square" lIns="0" tIns="9525" rIns="0" bIns="0" rtlCol="0" anchor="t">
            <a:normAutofit/>
          </a:bodyPr>
          <a:lstStyle/>
          <a:p>
            <a:pPr algn="ctr" indent="0" marL="0">
              <a:lnSpc>
                <a:spcPts val="3500"/>
              </a:lnSpc>
              <a:buNone/>
            </a:pPr>
            <a:r>
              <a:rPr lang="en-US" sz="1400" b="1" dirty="0">
                <a:solidFill>
                  <a:srgbClr val="F5F4FC"/>
                </a:solidFill>
                <a:latin typeface="Inter" pitchFamily="34" charset="0"/>
                <a:ea typeface="Inter" pitchFamily="34" charset="-122"/>
                <a:cs typeface="Inter" pitchFamily="34" charset="-120"/>
              </a:rPr>
              <a:t>4</a:t>
            </a:r>
            <a:endParaRPr lang="en-US" sz="1400" dirty="0"/>
          </a:p>
        </p:txBody>
      </p:sp>
      <p:sp>
        <p:nvSpPr>
          <p:cNvPr id="25" name="Text 17"/>
          <p:cNvSpPr/>
          <p:nvPr/>
        </p:nvSpPr>
        <p:spPr>
          <a:xfrm>
            <a:off x="9699625" y="2524125"/>
            <a:ext cx="463550" cy="463550"/>
          </a:xfrm>
          <a:custGeom>
            <a:avLst/>
            <a:gdLst/>
            <a:ahLst/>
            <a:cxnLst/>
            <a:rect l="l" t="t" r="r" b="b"/>
            <a:pathLst>
              <a:path w="463550" h="463550">
                <a:moveTo>
                  <a:pt x="231775" y="0"/>
                </a:moveTo>
                <a:lnTo>
                  <a:pt x="231775" y="0"/>
                </a:lnTo>
                <a:arcTo hR="231775" wR="231775" stAng="16200000" swAng="5400000"/>
                <a:lnTo>
                  <a:pt x="463550" y="231775"/>
                </a:lnTo>
                <a:arcTo hR="231775" wR="231775" stAng="0" swAng="5400000"/>
                <a:lnTo>
                  <a:pt x="231775" y="463550"/>
                </a:lnTo>
                <a:arcTo hR="231775" wR="231775" stAng="5400000" swAng="5400000"/>
                <a:lnTo>
                  <a:pt x="0" y="231775"/>
                </a:lnTo>
                <a:arcTo hR="231775" wR="231775" stAng="10800000" swAng="5400000"/>
                <a:close/>
              </a:path>
            </a:pathLst>
          </a:custGeom>
          <a:solidFill>
            <a:srgbClr val="262062"/>
          </a:solidFill>
          <a:ln w="19050">
            <a:solidFill>
              <a:srgbClr val="E4E1FF"/>
            </a:solidFill>
            <a:prstDash val="solid"/>
          </a:ln>
        </p:spPr>
        <p:txBody>
          <a:bodyPr wrap="square" lIns="0" tIns="9525" rIns="0" bIns="0" rtlCol="0" anchor="t">
            <a:normAutofit/>
          </a:bodyPr>
          <a:lstStyle/>
          <a:p>
            <a:pPr algn="ctr" indent="0" marL="0">
              <a:lnSpc>
                <a:spcPts val="3500"/>
              </a:lnSpc>
              <a:buNone/>
            </a:pPr>
            <a:r>
              <a:rPr lang="en-US" sz="1400" b="1" dirty="0">
                <a:solidFill>
                  <a:srgbClr val="F5F4FC"/>
                </a:solidFill>
                <a:latin typeface="Inter" pitchFamily="34" charset="0"/>
                <a:ea typeface="Inter" pitchFamily="34" charset="-122"/>
                <a:cs typeface="Inter" pitchFamily="34" charset="-120"/>
              </a:rPr>
              <a:t>5</a:t>
            </a:r>
            <a:endParaRPr lang="en-US" sz="1400" dirty="0"/>
          </a:p>
        </p:txBody>
      </p:sp>
      <p:sp>
        <p:nvSpPr>
          <p:cNvPr id="26" name="Text 18"/>
          <p:cNvSpPr/>
          <p:nvPr/>
        </p:nvSpPr>
        <p:spPr>
          <a:xfrm>
            <a:off x="10553700" y="25146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3</a:t>
            </a:r>
            <a:endParaRPr lang="en-US" sz="1400" dirty="0"/>
          </a:p>
        </p:txBody>
      </p:sp>
      <p:sp>
        <p:nvSpPr>
          <p:cNvPr id="27" name="Text 19"/>
          <p:cNvSpPr/>
          <p:nvPr/>
        </p:nvSpPr>
        <p:spPr>
          <a:xfrm>
            <a:off x="7962900" y="33782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6</a:t>
            </a:r>
            <a:endParaRPr lang="en-US" sz="1400" dirty="0"/>
          </a:p>
        </p:txBody>
      </p:sp>
      <p:sp>
        <p:nvSpPr>
          <p:cNvPr id="28" name="Text 20"/>
          <p:cNvSpPr/>
          <p:nvPr/>
        </p:nvSpPr>
        <p:spPr>
          <a:xfrm>
            <a:off x="8836025" y="3387725"/>
            <a:ext cx="463550" cy="463550"/>
          </a:xfrm>
          <a:custGeom>
            <a:avLst/>
            <a:gdLst/>
            <a:ahLst/>
            <a:cxnLst/>
            <a:rect l="l" t="t" r="r" b="b"/>
            <a:pathLst>
              <a:path w="463550" h="463550">
                <a:moveTo>
                  <a:pt x="231775" y="0"/>
                </a:moveTo>
                <a:lnTo>
                  <a:pt x="231775" y="0"/>
                </a:lnTo>
                <a:arcTo hR="231775" wR="231775" stAng="16200000" swAng="5400000"/>
                <a:lnTo>
                  <a:pt x="463550" y="231775"/>
                </a:lnTo>
                <a:arcTo hR="231775" wR="231775" stAng="0" swAng="5400000"/>
                <a:lnTo>
                  <a:pt x="231775" y="463550"/>
                </a:lnTo>
                <a:arcTo hR="231775" wR="231775" stAng="5400000" swAng="5400000"/>
                <a:lnTo>
                  <a:pt x="0" y="231775"/>
                </a:lnTo>
                <a:arcTo hR="231775" wR="231775" stAng="10800000" swAng="5400000"/>
                <a:close/>
              </a:path>
            </a:pathLst>
          </a:custGeom>
          <a:solidFill>
            <a:srgbClr val="262062"/>
          </a:solidFill>
          <a:ln w="19050">
            <a:solidFill>
              <a:srgbClr val="E4E1FF"/>
            </a:solidFill>
            <a:prstDash val="solid"/>
          </a:ln>
        </p:spPr>
        <p:txBody>
          <a:bodyPr wrap="square" lIns="0" tIns="9525" rIns="0" bIns="0" rtlCol="0" anchor="t">
            <a:normAutofit/>
          </a:bodyPr>
          <a:lstStyle/>
          <a:p>
            <a:pPr algn="ctr" indent="0" marL="0">
              <a:lnSpc>
                <a:spcPts val="3500"/>
              </a:lnSpc>
              <a:buNone/>
            </a:pPr>
            <a:r>
              <a:rPr lang="en-US" sz="1400" b="1" dirty="0">
                <a:solidFill>
                  <a:srgbClr val="F5F4FC"/>
                </a:solidFill>
                <a:latin typeface="Inter" pitchFamily="34" charset="0"/>
                <a:ea typeface="Inter" pitchFamily="34" charset="-122"/>
                <a:cs typeface="Inter" pitchFamily="34" charset="-120"/>
              </a:rPr>
              <a:t>7</a:t>
            </a:r>
            <a:endParaRPr lang="en-US" sz="1400" dirty="0"/>
          </a:p>
        </p:txBody>
      </p:sp>
      <p:sp>
        <p:nvSpPr>
          <p:cNvPr id="29" name="Text 21"/>
          <p:cNvSpPr/>
          <p:nvPr/>
        </p:nvSpPr>
        <p:spPr>
          <a:xfrm>
            <a:off x="9699625" y="3387725"/>
            <a:ext cx="463550" cy="463550"/>
          </a:xfrm>
          <a:custGeom>
            <a:avLst/>
            <a:gdLst/>
            <a:ahLst/>
            <a:cxnLst/>
            <a:rect l="l" t="t" r="r" b="b"/>
            <a:pathLst>
              <a:path w="463550" h="463550">
                <a:moveTo>
                  <a:pt x="231775" y="0"/>
                </a:moveTo>
                <a:lnTo>
                  <a:pt x="231775" y="0"/>
                </a:lnTo>
                <a:arcTo hR="231775" wR="231775" stAng="16200000" swAng="5400000"/>
                <a:lnTo>
                  <a:pt x="463550" y="231775"/>
                </a:lnTo>
                <a:arcTo hR="231775" wR="231775" stAng="0" swAng="5400000"/>
                <a:lnTo>
                  <a:pt x="231775" y="463550"/>
                </a:lnTo>
                <a:arcTo hR="231775" wR="231775" stAng="5400000" swAng="5400000"/>
                <a:lnTo>
                  <a:pt x="0" y="231775"/>
                </a:lnTo>
                <a:arcTo hR="231775" wR="231775" stAng="10800000" swAng="5400000"/>
                <a:close/>
              </a:path>
            </a:pathLst>
          </a:custGeom>
          <a:solidFill>
            <a:srgbClr val="262062"/>
          </a:solidFill>
          <a:ln w="19050">
            <a:solidFill>
              <a:srgbClr val="E4E1FF"/>
            </a:solidFill>
            <a:prstDash val="solid"/>
          </a:ln>
        </p:spPr>
        <p:txBody>
          <a:bodyPr wrap="square" lIns="0" tIns="9525" rIns="0" bIns="0" rtlCol="0" anchor="t">
            <a:normAutofit/>
          </a:bodyPr>
          <a:lstStyle/>
          <a:p>
            <a:pPr algn="ctr" indent="0" marL="0">
              <a:lnSpc>
                <a:spcPts val="3500"/>
              </a:lnSpc>
              <a:buNone/>
            </a:pPr>
            <a:r>
              <a:rPr lang="en-US" sz="1400" b="1" dirty="0">
                <a:solidFill>
                  <a:srgbClr val="F5F4FC"/>
                </a:solidFill>
                <a:latin typeface="Inter" pitchFamily="34" charset="0"/>
                <a:ea typeface="Inter" pitchFamily="34" charset="-122"/>
                <a:cs typeface="Inter" pitchFamily="34" charset="-120"/>
              </a:rPr>
              <a:t>8</a:t>
            </a:r>
            <a:endParaRPr lang="en-US" sz="1400" dirty="0"/>
          </a:p>
        </p:txBody>
      </p:sp>
      <p:sp>
        <p:nvSpPr>
          <p:cNvPr id="30" name="Text 22"/>
          <p:cNvSpPr/>
          <p:nvPr/>
        </p:nvSpPr>
        <p:spPr>
          <a:xfrm>
            <a:off x="10553700" y="33782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6</a:t>
            </a:r>
            <a:endParaRPr lang="en-US" sz="1400" dirty="0"/>
          </a:p>
        </p:txBody>
      </p:sp>
      <p:sp>
        <p:nvSpPr>
          <p:cNvPr id="31" name="Text 23"/>
          <p:cNvSpPr/>
          <p:nvPr/>
        </p:nvSpPr>
        <p:spPr>
          <a:xfrm>
            <a:off x="7962900" y="42418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0</a:t>
            </a:r>
            <a:endParaRPr lang="en-US" sz="1400" dirty="0"/>
          </a:p>
        </p:txBody>
      </p:sp>
      <p:sp>
        <p:nvSpPr>
          <p:cNvPr id="32" name="Text 24"/>
          <p:cNvSpPr/>
          <p:nvPr/>
        </p:nvSpPr>
        <p:spPr>
          <a:xfrm>
            <a:off x="8826500" y="42418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1</a:t>
            </a:r>
            <a:endParaRPr lang="en-US" sz="1400" dirty="0"/>
          </a:p>
        </p:txBody>
      </p:sp>
      <p:sp>
        <p:nvSpPr>
          <p:cNvPr id="33" name="Text 25"/>
          <p:cNvSpPr/>
          <p:nvPr/>
        </p:nvSpPr>
        <p:spPr>
          <a:xfrm>
            <a:off x="9690100" y="42418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2</a:t>
            </a:r>
            <a:endParaRPr lang="en-US" sz="1400" dirty="0"/>
          </a:p>
        </p:txBody>
      </p:sp>
      <p:sp>
        <p:nvSpPr>
          <p:cNvPr id="34" name="Text 26"/>
          <p:cNvSpPr/>
          <p:nvPr/>
        </p:nvSpPr>
        <p:spPr>
          <a:xfrm>
            <a:off x="10553700" y="4241800"/>
            <a:ext cx="482600" cy="481806"/>
          </a:xfrm>
          <a:custGeom>
            <a:avLst/>
            <a:gdLst/>
            <a:ahLst/>
            <a:cxnLst/>
            <a:rect l="l" t="t" r="r" b="b"/>
            <a:pathLst>
              <a:path w="482600" h="481806">
                <a:moveTo>
                  <a:pt x="240903" y="0"/>
                </a:moveTo>
                <a:lnTo>
                  <a:pt x="241697" y="0"/>
                </a:lnTo>
                <a:arcTo hR="240903" wR="240903" stAng="16200000" swAng="5400000"/>
                <a:lnTo>
                  <a:pt x="482600" y="240903"/>
                </a:lnTo>
                <a:arcTo hR="240903" wR="240903" stAng="0" swAng="5400000"/>
                <a:lnTo>
                  <a:pt x="240903" y="481806"/>
                </a:lnTo>
                <a:arcTo hR="240903" wR="240903" stAng="5400000" swAng="5400000"/>
                <a:lnTo>
                  <a:pt x="0" y="240903"/>
                </a:lnTo>
                <a:arcTo hR="240903" wR="240903" stAng="10800000" swAng="5400000"/>
                <a:close/>
              </a:path>
            </a:pathLst>
          </a:custGeom>
          <a:solidFill>
            <a:srgbClr val="5CC8F2"/>
          </a:solidFill>
          <a:ln/>
        </p:spPr>
        <p:txBody>
          <a:bodyPr wrap="square" lIns="0" tIns="0" rIns="0" bIns="0" rtlCol="0" anchor="t">
            <a:normAutofit/>
          </a:bodyPr>
          <a:lstStyle/>
          <a:p>
            <a:pPr algn="ctr" indent="0" marL="0">
              <a:lnSpc>
                <a:spcPts val="3794"/>
              </a:lnSpc>
              <a:buNone/>
            </a:pPr>
            <a:r>
              <a:rPr lang="en-US" sz="1400" b="1" dirty="0">
                <a:solidFill>
                  <a:srgbClr val="17143A"/>
                </a:solidFill>
                <a:latin typeface="Inter" pitchFamily="34" charset="0"/>
                <a:ea typeface="Inter" pitchFamily="34" charset="-122"/>
                <a:cs typeface="Inter" pitchFamily="34" charset="-120"/>
              </a:rPr>
              <a:t>0</a:t>
            </a:r>
            <a:endParaRPr lang="en-US" sz="1400" dirty="0"/>
          </a:p>
        </p:txBody>
      </p:sp>
      <p:sp>
        <p:nvSpPr>
          <p:cNvPr id="35" name="Text 27"/>
          <p:cNvSpPr/>
          <p:nvPr/>
        </p:nvSpPr>
        <p:spPr>
          <a:xfrm>
            <a:off x="7720584" y="4978400"/>
            <a:ext cx="3558032"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A5D6"/>
                </a:solidFill>
                <a:latin typeface="Inter" pitchFamily="34" charset="0"/>
                <a:ea typeface="Inter" pitchFamily="34" charset="-122"/>
                <a:cs typeface="Inter" pitchFamily="34" charset="-120"/>
              </a:rPr>
              <a:t>16 radios, 9 slots, zero collisions.</a:t>
            </a:r>
            <a:endParaRPr lang="en-US" sz="1200" dirty="0"/>
          </a:p>
          <a:p>
            <a:pPr algn="ctr" indent="0" marL="0">
              <a:lnSpc>
                <a:spcPts val="1680"/>
              </a:lnSpc>
              <a:buNone/>
            </a:pPr>
            <a:r>
              <a:rPr lang="en-US" sz="1200" dirty="0">
                <a:solidFill>
                  <a:srgbClr val="A9A5D6"/>
                </a:solidFill>
                <a:latin typeface="Inter" pitchFamily="34" charset="0"/>
                <a:ea typeface="Inter" pitchFamily="34" charset="-122"/>
                <a:cs typeface="Inter" pitchFamily="34" charset="-120"/>
              </a:rPr>
              <a:t>Cyan circles share their slot with another radio.</a:t>
            </a:r>
            <a:endParaRPr lang="en-US" sz="1200" dirty="0"/>
          </a:p>
        </p:txBody>
      </p:sp>
    </p:spTree>
  </p:cSld>
  <p:clrMapOvr>
    <a:masterClrMapping/>
  </p:clrMapOvr>
</p:sld>
</file>

<file path=ppt/theme/theme1.xml><?xml version="1.0" encoding="utf-8"?>
<a:theme xmlns:a="http://schemas.openxmlformats.org/drawingml/2006/main" name="TDMA Schedule Optimizer">
  <a:themeElements>
    <a:clrScheme name="TDMA Schedule Optimizer">
      <a:dk1>
        <a:srgbClr val="141413"/>
      </a:dk1>
      <a:lt1>
        <a:srgbClr val="ECE9FA"/>
      </a:lt1>
      <a:dk2>
        <a:srgbClr val="4A494D"/>
      </a:dk2>
      <a:lt2>
        <a:srgbClr val="D6D4E3"/>
      </a:lt2>
      <a:accent1>
        <a:srgbClr val="1B1840"/>
      </a:accent1>
      <a:accent2>
        <a:srgbClr val="5E54C4"/>
      </a:accent2>
      <a:accent3>
        <a:srgbClr val="5CC8F2"/>
      </a:accent3>
      <a:accent4>
        <a:srgbClr val="262062"/>
      </a:accent4>
      <a:accent5>
        <a:srgbClr val="D9572B"/>
      </a:accent5>
      <a:accent6>
        <a:srgbClr val="4D4593"/>
      </a:accent6>
      <a:hlink>
        <a:srgbClr val="0563C1"/>
      </a:hlink>
      <a:folHlink>
        <a:srgbClr val="954F72"/>
      </a:folHlink>
    </a:clrScheme>
    <a:fontScheme name="TDMA Schedule Optimizer">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TDMA Schedule Optimizer</dc:title>
  <dc:subject/>
  <dc:creator/>
  <cp:lastModifiedBy/>
  <cp:revision>1</cp:revision>
  <dcterms:created xsi:type="dcterms:W3CDTF">2026-10-13T07:11:33Z</dcterms:created>
  <dcterms:modified xsi:type="dcterms:W3CDTF">2026-10-13T07:11:33Z</dcterms:modified>
</cp:coreProperties>
</file>