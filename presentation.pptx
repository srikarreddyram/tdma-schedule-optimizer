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358647a-90cf-b7d3-fb61-b1b5da8c0118}">
          <p14:sldIdLst>
            <p14:sldId id="256"/>
            <p14:sldId id="257"/>
          </p14:sldIdLst>
        </p14:section>
        <p14:section name="Part 1" id="{df0ac25a-3a49-edc2-abdf-fac24a05af23}">
          <p14:sldIdLst>
            <p14:sldId id="258"/>
            <p14:sldId id="259"/>
            <p14:sldId id="260"/>
            <p14:sldId id="261"/>
            <p14:sldId id="262"/>
          </p14:sldIdLst>
        </p14:section>
        <p14:section name="Part 2" id="{6d403b89-67b1-078a-5bd4-0ad0b0b008d4}">
          <p14:sldIdLst>
            <p14:sldId id="263"/>
            <p14:sldId id="264"/>
            <p14:sldId id="265"/>
            <p14:sldId id="266"/>
          </p14:sldIdLst>
        </p14:section>
        <p14:section name="Wrap-up" id="{ce2b6c4a-5dcd-a9d1-3602-21580af9cf22}">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mn-lt"/>
              </a:defRPr>
            </a:pPr>
            <a:r>
              <a:rPr sz="1100" b="0" i="0" u="none" strike="noStrike">
                <a:solidFill>
                  <a:srgbClr val="52514E"/>
                </a:solidFill>
                <a:latin typeface="+mn-lt"/>
              </a:rPr>
              <a:t>Layouts (of 500) where one heuristic used fewer slots</a:t>
            </a:r>
          </a:p>
        </c:rich>
      </c:tx>
      <c:layout/>
      <c:overlay val="0"/>
    </c:title>
    <c:autoTitleDeleted val="0"/>
    <c:plotArea>
      <c:layout/>
      <c:barChart>
        <c:barDir val="col"/>
        <c:grouping val="clustered"/>
        <c:varyColors val="0"/>
        <c:ser>
          <c:idx val="0"/>
          <c:order val="0"/>
          <c:tx>
            <c:strRef>
              <c:f>Sheet1!$B$1</c:f>
              <c:strCache>
                <c:ptCount val="1"/>
                <c:pt idx="0">
                  <c:v>DSATUR shorter</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Sheet1!$A$2:$A$4</c:f>
              <c:multiLvlStrCache>
                <c:ptCount val="3"/>
                <c:lvl>
                  <c:pt idx="0">
                    <c:v>16 radios</c:v>
                  </c:pt>
                  <c:pt idx="1">
                    <c:v>30 radios</c:v>
                  </c:pt>
                  <c:pt idx="2">
                    <c:v>60 radios</c:v>
                  </c:pt>
                </c:lvl>
              </c:multiLvlStrCache>
            </c:multiLvlStrRef>
          </c:cat>
          <c:val>
            <c:numRef>
              <c:f>Sheet1!$B$2:$B$4</c:f>
              <c:numCache>
                <c:formatCode>General</c:formatCode>
                <c:ptCount val="3"/>
                <c:pt idx="0">
                  <c:v>3</c:v>
                </c:pt>
                <c:pt idx="1">
                  <c:v>25</c:v>
                </c:pt>
                <c:pt idx="2">
                  <c:v>142</c:v>
                </c:pt>
              </c:numCache>
            </c:numRef>
          </c:val>
        </c:ser>
        <c:ser>
          <c:idx val="1"/>
          <c:order val="1"/>
          <c:tx>
            <c:strRef>
              <c:f>Sheet1!$C$1</c:f>
              <c:strCache>
                <c:ptCount val="1"/>
                <c:pt idx="0">
                  <c:v>largest_first shorter</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Sheet1!$A$2:$A$4</c:f>
              <c:multiLvlStrCache>
                <c:ptCount val="3"/>
                <c:lvl>
                  <c:pt idx="0">
                    <c:v>16 radios</c:v>
                  </c:pt>
                  <c:pt idx="1">
                    <c:v>30 radios</c:v>
                  </c:pt>
                  <c:pt idx="2">
                    <c:v>60 radios</c:v>
                  </c:pt>
                </c:lvl>
              </c:multiLvlStrCache>
            </c:multiLvlStrRef>
          </c:cat>
          <c:val>
            <c:numRef>
              <c:f>Sheet1!$C$2:$C$4</c:f>
              <c:numCache>
                <c:formatCode>General</c:formatCode>
                <c:ptCount val="3"/>
                <c:pt idx="0">
                  <c:v>0</c:v>
                </c:pt>
                <c:pt idx="1">
                  <c:v>1</c:v>
                </c:pt>
                <c:pt idx="2">
                  <c:v>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0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9878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2514E"/>
                </a:solidFill>
                <a:latin typeface="+mn-lt"/>
              </a:defRPr>
            </a:pPr>
            <a:r>
              <a:rPr sz="1100" b="0" i="0" u="none" strike="noStrike">
                <a:solidFill>
                  <a:srgbClr val="52514E"/>
                </a:solidFill>
                <a:latin typeface="+mn-lt"/>
              </a:rPr>
              <a:t>Packets delivered over in-range links (%)</a:t>
            </a:r>
          </a:p>
        </c:rich>
      </c:tx>
      <c:layout/>
      <c:overlay val="0"/>
    </c:title>
    <c:autoTitleDeleted val="0"/>
    <c:plotArea>
      <c:layout/>
      <c:barChart>
        <c:barDir val="col"/>
        <c:grouping val="clustered"/>
        <c:varyColors val="0"/>
        <c:ser>
          <c:idx val="0"/>
          <c:order val="0"/>
          <c:tx>
            <c:strRef>
              <c:f>Sheet1!$B$1</c:f>
              <c:strCache>
                <c:ptCount val="1"/>
                <c:pt idx="0">
                  <c:v>Optimizer schedule</c:v>
                </c:pt>
              </c:strCache>
            </c:strRef>
          </c:tx>
          <c:spPr>
            <a:solidFill>
              <a:srgbClr val="2A78D6"/>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Sheet1!$A$2:$A$3</c:f>
              <c:multiLvlStrCache>
                <c:ptCount val="2"/>
                <c:lvl>
                  <c:pt idx="0">
                    <c:v>1 ms slots</c:v>
                  </c:pt>
                  <c:pt idx="1">
                    <c:v>10 ms slots</c:v>
                  </c:pt>
                </c:lvl>
              </c:multiLvlStrCache>
            </c:multiLvlStrRef>
          </c:cat>
          <c:val>
            <c:numRef>
              <c:f>Sheet1!$B$2:$B$3</c:f>
              <c:numCache>
                <c:formatCode>General</c:formatCode>
                <c:ptCount val="2"/>
                <c:pt idx="0">
                  <c:v>83.4</c:v>
                </c:pt>
                <c:pt idx="1">
                  <c:v>99.9</c:v>
                </c:pt>
              </c:numCache>
            </c:numRef>
          </c:val>
        </c:ser>
        <c:ser>
          <c:idx val="1"/>
          <c:order val="1"/>
          <c:tx>
            <c:strRef>
              <c:f>Sheet1!$C$1</c:f>
              <c:strCache>
                <c:ptCount val="1"/>
                <c:pt idx="0">
                  <c:v>Distance-1 control</c:v>
                </c:pt>
              </c:strCache>
            </c:strRef>
          </c:tx>
          <c:spPr>
            <a:solidFill>
              <a:srgbClr val="EB6834"/>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Sheet1!$A$2:$A$3</c:f>
              <c:multiLvlStrCache>
                <c:ptCount val="2"/>
                <c:lvl>
                  <c:pt idx="0">
                    <c:v>1 ms slots</c:v>
                  </c:pt>
                  <c:pt idx="1">
                    <c:v>10 ms slots</c:v>
                  </c:pt>
                </c:lvl>
              </c:multiLvlStrCache>
            </c:multiLvlStrRef>
          </c:cat>
          <c:val>
            <c:numRef>
              <c:f>Sheet1!$C$2:$C$3</c:f>
              <c:numCache>
                <c:formatCode>General</c:formatCode>
                <c:ptCount val="2"/>
                <c:pt idx="0">
                  <c:v>65.2</c:v>
                </c:pt>
                <c:pt idx="1">
                  <c:v>34.5</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1E0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98781"/>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picture is the actual result: 16 radios on a grid, each labelled with the time slot the optimizer gave it. Blue radios share their slot with another radio.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radios share one frequency. Case 1: neighbours cannot talk at once. Case 2 is the hidden terminal: A and C cannot hear each other, so neither knows the other is transmitting, but both signals land on B. Anything more than two hops apart is safe to reuse.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key idea is step 2: the two interference rules are exactly 'within two hops', so squaring the graph turns the problem into ordinary graph colouring, where each colour is a time slot. Steps 4 and 5 are there so the result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Greedy colouring never collides; only the visiting order changes how many slots it needs. Both are written by hand in graph_engine.py and checked against networkx. DSATUR adapts as it goes and is usually better, more so on bigger networks. largest_first still wins sometimes, so the tool runs both. Numbers are from 500 random layouts per size in a 2 km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in each radio is its slot. The four corners share slot 0, and four more slots are each shared by two radios on opposite edges. The four interior radios are within two hops of everyone, so each needs its own slot: 1 + 4 + 4 = 9. The lower bound is also 9, so no schedule can do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asked. With 500 m range and 300 m spacing, diagonal neighbours at 424 m are in range, so Node_06 has 8 neighbours and those nine radios are pairwise within two hops. Nine is forced. The sample's 5-slot table, applied to this grid, breaks the task's own hidden-terminal rule, so I treated it as a format example. With 350 m range the tool gives exactly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Inside the tool, the validator recomputes interference from coordinates and never looks at the conflict graph, so a bug in graph construction cannot hide a collision. Outside the tool, 98 pytest tests cover the edge cases the task implies, and check the hand-written colouring against networkx.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EMANE is compiled from source in the image, so it runs on ARM as well as x86. Each radio is one EMANE instance in its own network namespace, using EMANE's native TDMA radio model. The bridge carries EMANE's over-the-air and event multicast. The schedule and the pathloss both arrive as EMANE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mapping is one-to-one. Node order gives NEM ids, each colour becomes a slot element listing its transmitters, and EMANE treats every other slot as receive. EMANE has no range setting, so the 500 m rule becomes pathloss: free-space loss inside 500 m, 300 dB outside. The schedule is sent with EMANE's own emaneevent-tdmaschedule tool and confirmed from each radio's ScheduleInfoTable.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16 radios broadcast at once, 300 packets each. Each cell is one radio and shows the share of its neighbours' packets it received, with 10 ms slots. With the optimizer's schedule EMANE recorded zero SINR drops. The control schedule only separates direct neighbours; 55 of 84 links lost packets. Node_11 hears nothing because every one of its neighbours shares a slot with another neighbour. Corners are fine because their three neighbours all have different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asks for 1 ms slots. With the optimizer's schedule, delivery at 1 ms was 83.4% in the recorded run and 88.1% and 99.4% in two others, and every dropped byte had a timing reason (Slot Error or Long), none SINR. EMANE's slot statistics show transmissions leaving a quarter to half a millisecond into the slot, so some arrive after the slot ends and are discarded. That is 16 EMANE processes sharing a 4-CPU virtual machine. The control looks better at 1 ms than at 10 ms only because radios use about one in four of their slots at this traffic rate, so shared slots collide less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these. The coordinates are an assumption. The disc model ignores summed interference from far radios. Every radio gets one slot regardless of traffic. The schedule is static and centralised. The heuristic is not exact, though the lower bound shows when it is optimal. And 1 ms timing was only tested in a virtual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two results, then run the CLI live. The EMANE demo is 'docker run --rm --privileged tdma-emane' if they want to see it; recorded output is in emane/out/demo_log.txt.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024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36592"/>
            <a:ext cx="4572000" cy="228600"/>
          </a:xfrm>
          <a:prstGeom prst="rect">
            <a:avLst/>
          </a:prstGeom>
          <a:noFill/>
          <a:ln/>
        </p:spPr>
        <p:txBody>
          <a:bodyPr wrap="square" lIns="0" tIns="0" rIns="0" bIns="0" rtlCol="0" anchor="ctr"/>
          <a:lstStyle/>
          <a:p>
            <a:pPr indent="0" marL="0">
              <a:buNone/>
            </a:pPr>
            <a:r>
              <a:rPr lang="en-US" sz="900" dirty="0">
                <a:solidFill>
                  <a:schemeClr val="accent4"/>
                </a:solidFill>
              </a:rPr>
              <a:t>TDMA Schedule Optimizer</a:t>
            </a:r>
            <a:endParaRPr lang="en-US" sz="9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lIns="0" tIns="0" rIns="0" bIns="0" rtlCol="0" anchor="b"/>
          <a:lstStyle/>
          <a:p>
            <a:pPr algn="l" indent="0" marL="0">
              <a:buNone/>
            </a:pPr>
            <a:r>
              <a:rPr lang="en-US" sz="3800" b="1" dirty="0">
                <a:solidFill>
                  <a:schemeClr val="bg1"/>
                </a:solidFill>
              </a:rPr>
              <a:t>TDMA Schedule Optimizer</a:t>
            </a: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lIns="0" tIns="0" rIns="0" bIns="0" rtlCol="0" anchor="t"/>
          <a:lstStyle/>
          <a:p>
            <a:pPr algn="l" indent="0" marL="0">
              <a:buNone/>
            </a:pPr>
            <a:r>
              <a:rPr lang="en-US" sz="1600" dirty="0">
                <a:solidFill>
                  <a:schemeClr val="accent6"/>
                </a:solidFill>
              </a:rPr>
              <a:t>Collision-free time slots from distance-2 graph colouring, checked in an EMANE emulation</a:t>
            </a:r>
            <a:endParaRPr lang="en-US" sz="1600" dirty="0"/>
          </a:p>
          <a:p>
            <a:pPr algn="l" indent="0" marL="0">
              <a:buNone/>
            </a:pPr>
            <a:r>
              <a:rPr lang="en-US" sz="800" dirty="0">
                <a:solidFill>
                  <a:schemeClr val="accent6"/>
                </a:solidFill>
              </a:rPr>
              <a:t> </a:t>
            </a:r>
            <a:endParaRPr lang="en-US" sz="1600" dirty="0"/>
          </a:p>
          <a:p>
            <a:pPr algn="l" indent="0" marL="0">
              <a:buNone/>
            </a:pPr>
            <a:r>
              <a:rPr lang="en-US" sz="1200" dirty="0">
                <a:solidFill>
                  <a:schemeClr val="accent5"/>
                </a:solidFill>
              </a:rPr>
              <a:t>Ramachandra TejSrikar Reddy  |  Vaan Megam Networks task  |  October 2026</a:t>
            </a:r>
            <a:endParaRPr lang="en-US" sz="1600" dirty="0"/>
          </a:p>
        </p:txBody>
      </p:sp>
      <p:sp>
        <p:nvSpPr>
          <p:cNvPr id="4" name="Link 1"/>
          <p:cNvSpPr/>
          <p:nvPr/>
        </p:nvSpPr>
        <p:spPr>
          <a:xfrm>
            <a:off x="6025896" y="1316736"/>
            <a:ext cx="798576" cy="0"/>
          </a:xfrm>
          <a:prstGeom prst="line">
            <a:avLst/>
          </a:prstGeom>
          <a:noFill/>
          <a:ln w="9525">
            <a:solidFill>
              <a:srgbClr val="3A5273"/>
            </a:solidFill>
            <a:prstDash val="solid"/>
          </a:ln>
        </p:spPr>
      </p:sp>
      <p:sp>
        <p:nvSpPr>
          <p:cNvPr id="5" name="Link 2"/>
          <p:cNvSpPr/>
          <p:nvPr/>
        </p:nvSpPr>
        <p:spPr>
          <a:xfrm>
            <a:off x="6025896" y="1316736"/>
            <a:ext cx="0" cy="798576"/>
          </a:xfrm>
          <a:prstGeom prst="line">
            <a:avLst/>
          </a:prstGeom>
          <a:noFill/>
          <a:ln w="9525">
            <a:solidFill>
              <a:srgbClr val="3A5273"/>
            </a:solidFill>
            <a:prstDash val="solid"/>
          </a:ln>
        </p:spPr>
      </p:sp>
      <p:sp>
        <p:nvSpPr>
          <p:cNvPr id="6" name="Link 3"/>
          <p:cNvSpPr/>
          <p:nvPr/>
        </p:nvSpPr>
        <p:spPr>
          <a:xfrm>
            <a:off x="6025896" y="1316736"/>
            <a:ext cx="798576" cy="798576"/>
          </a:xfrm>
          <a:prstGeom prst="line">
            <a:avLst/>
          </a:prstGeom>
          <a:noFill/>
          <a:ln w="9525">
            <a:solidFill>
              <a:srgbClr val="3A5273"/>
            </a:solidFill>
            <a:prstDash val="solid"/>
          </a:ln>
        </p:spPr>
      </p:sp>
      <p:sp>
        <p:nvSpPr>
          <p:cNvPr id="7" name="Link 4"/>
          <p:cNvSpPr/>
          <p:nvPr/>
        </p:nvSpPr>
        <p:spPr>
          <a:xfrm>
            <a:off x="6824472" y="1316736"/>
            <a:ext cx="798576" cy="0"/>
          </a:xfrm>
          <a:prstGeom prst="line">
            <a:avLst/>
          </a:prstGeom>
          <a:noFill/>
          <a:ln w="9525">
            <a:solidFill>
              <a:srgbClr val="3A5273"/>
            </a:solidFill>
            <a:prstDash val="solid"/>
          </a:ln>
        </p:spPr>
      </p:sp>
      <p:sp>
        <p:nvSpPr>
          <p:cNvPr id="8" name="Link 5"/>
          <p:cNvSpPr/>
          <p:nvPr/>
        </p:nvSpPr>
        <p:spPr>
          <a:xfrm flipV="1">
            <a:off x="6025896" y="1316736"/>
            <a:ext cx="798576" cy="798576"/>
          </a:xfrm>
          <a:prstGeom prst="line">
            <a:avLst/>
          </a:prstGeom>
          <a:noFill/>
          <a:ln w="9525">
            <a:solidFill>
              <a:srgbClr val="3A5273"/>
            </a:solidFill>
            <a:prstDash val="solid"/>
          </a:ln>
        </p:spPr>
      </p:sp>
      <p:sp>
        <p:nvSpPr>
          <p:cNvPr id="9" name="Link 6"/>
          <p:cNvSpPr/>
          <p:nvPr/>
        </p:nvSpPr>
        <p:spPr>
          <a:xfrm>
            <a:off x="6824472" y="1316736"/>
            <a:ext cx="0" cy="798576"/>
          </a:xfrm>
          <a:prstGeom prst="line">
            <a:avLst/>
          </a:prstGeom>
          <a:noFill/>
          <a:ln w="9525">
            <a:solidFill>
              <a:srgbClr val="3A5273"/>
            </a:solidFill>
            <a:prstDash val="solid"/>
          </a:ln>
        </p:spPr>
      </p:sp>
      <p:sp>
        <p:nvSpPr>
          <p:cNvPr id="10" name="Link 7"/>
          <p:cNvSpPr/>
          <p:nvPr/>
        </p:nvSpPr>
        <p:spPr>
          <a:xfrm>
            <a:off x="6824472" y="1316736"/>
            <a:ext cx="798576" cy="798576"/>
          </a:xfrm>
          <a:prstGeom prst="line">
            <a:avLst/>
          </a:prstGeom>
          <a:noFill/>
          <a:ln w="9525">
            <a:solidFill>
              <a:srgbClr val="3A5273"/>
            </a:solidFill>
            <a:prstDash val="solid"/>
          </a:ln>
        </p:spPr>
      </p:sp>
      <p:sp>
        <p:nvSpPr>
          <p:cNvPr id="11" name="Link 8"/>
          <p:cNvSpPr/>
          <p:nvPr/>
        </p:nvSpPr>
        <p:spPr>
          <a:xfrm>
            <a:off x="7623048" y="1316736"/>
            <a:ext cx="798576" cy="0"/>
          </a:xfrm>
          <a:prstGeom prst="line">
            <a:avLst/>
          </a:prstGeom>
          <a:noFill/>
          <a:ln w="9525">
            <a:solidFill>
              <a:srgbClr val="3A5273"/>
            </a:solidFill>
            <a:prstDash val="solid"/>
          </a:ln>
        </p:spPr>
      </p:sp>
      <p:sp>
        <p:nvSpPr>
          <p:cNvPr id="12" name="Link 9"/>
          <p:cNvSpPr/>
          <p:nvPr/>
        </p:nvSpPr>
        <p:spPr>
          <a:xfrm flipV="1">
            <a:off x="6824472" y="1316736"/>
            <a:ext cx="798576" cy="798576"/>
          </a:xfrm>
          <a:prstGeom prst="line">
            <a:avLst/>
          </a:prstGeom>
          <a:noFill/>
          <a:ln w="9525">
            <a:solidFill>
              <a:srgbClr val="3A5273"/>
            </a:solidFill>
            <a:prstDash val="solid"/>
          </a:ln>
        </p:spPr>
      </p:sp>
      <p:sp>
        <p:nvSpPr>
          <p:cNvPr id="13" name="Link 10"/>
          <p:cNvSpPr/>
          <p:nvPr/>
        </p:nvSpPr>
        <p:spPr>
          <a:xfrm>
            <a:off x="7623048" y="1316736"/>
            <a:ext cx="0" cy="798576"/>
          </a:xfrm>
          <a:prstGeom prst="line">
            <a:avLst/>
          </a:prstGeom>
          <a:noFill/>
          <a:ln w="9525">
            <a:solidFill>
              <a:srgbClr val="3A5273"/>
            </a:solidFill>
            <a:prstDash val="solid"/>
          </a:ln>
        </p:spPr>
      </p:sp>
      <p:sp>
        <p:nvSpPr>
          <p:cNvPr id="14" name="Link 11"/>
          <p:cNvSpPr/>
          <p:nvPr/>
        </p:nvSpPr>
        <p:spPr>
          <a:xfrm>
            <a:off x="7623048" y="1316736"/>
            <a:ext cx="798576" cy="798576"/>
          </a:xfrm>
          <a:prstGeom prst="line">
            <a:avLst/>
          </a:prstGeom>
          <a:noFill/>
          <a:ln w="9525">
            <a:solidFill>
              <a:srgbClr val="3A5273"/>
            </a:solidFill>
            <a:prstDash val="solid"/>
          </a:ln>
        </p:spPr>
      </p:sp>
      <p:sp>
        <p:nvSpPr>
          <p:cNvPr id="15" name="Link 12"/>
          <p:cNvSpPr/>
          <p:nvPr/>
        </p:nvSpPr>
        <p:spPr>
          <a:xfrm flipV="1">
            <a:off x="7623048" y="1316736"/>
            <a:ext cx="798576" cy="798576"/>
          </a:xfrm>
          <a:prstGeom prst="line">
            <a:avLst/>
          </a:prstGeom>
          <a:noFill/>
          <a:ln w="9525">
            <a:solidFill>
              <a:srgbClr val="3A5273"/>
            </a:solidFill>
            <a:prstDash val="solid"/>
          </a:ln>
        </p:spPr>
      </p:sp>
      <p:sp>
        <p:nvSpPr>
          <p:cNvPr id="16" name="Link 13"/>
          <p:cNvSpPr/>
          <p:nvPr/>
        </p:nvSpPr>
        <p:spPr>
          <a:xfrm>
            <a:off x="8421624" y="1316736"/>
            <a:ext cx="0" cy="798576"/>
          </a:xfrm>
          <a:prstGeom prst="line">
            <a:avLst/>
          </a:prstGeom>
          <a:noFill/>
          <a:ln w="9525">
            <a:solidFill>
              <a:srgbClr val="3A5273"/>
            </a:solidFill>
            <a:prstDash val="solid"/>
          </a:ln>
        </p:spPr>
      </p:sp>
      <p:sp>
        <p:nvSpPr>
          <p:cNvPr id="17" name="Link 14"/>
          <p:cNvSpPr/>
          <p:nvPr/>
        </p:nvSpPr>
        <p:spPr>
          <a:xfrm>
            <a:off x="6025896" y="2115312"/>
            <a:ext cx="798576" cy="0"/>
          </a:xfrm>
          <a:prstGeom prst="line">
            <a:avLst/>
          </a:prstGeom>
          <a:noFill/>
          <a:ln w="9525">
            <a:solidFill>
              <a:srgbClr val="3A5273"/>
            </a:solidFill>
            <a:prstDash val="solid"/>
          </a:ln>
        </p:spPr>
      </p:sp>
      <p:sp>
        <p:nvSpPr>
          <p:cNvPr id="18" name="Link 15"/>
          <p:cNvSpPr/>
          <p:nvPr/>
        </p:nvSpPr>
        <p:spPr>
          <a:xfrm>
            <a:off x="6025896" y="2115312"/>
            <a:ext cx="0" cy="798576"/>
          </a:xfrm>
          <a:prstGeom prst="line">
            <a:avLst/>
          </a:prstGeom>
          <a:noFill/>
          <a:ln w="9525">
            <a:solidFill>
              <a:srgbClr val="3A5273"/>
            </a:solidFill>
            <a:prstDash val="solid"/>
          </a:ln>
        </p:spPr>
      </p:sp>
      <p:sp>
        <p:nvSpPr>
          <p:cNvPr id="19" name="Link 16"/>
          <p:cNvSpPr/>
          <p:nvPr/>
        </p:nvSpPr>
        <p:spPr>
          <a:xfrm>
            <a:off x="6025896" y="2115312"/>
            <a:ext cx="798576" cy="798576"/>
          </a:xfrm>
          <a:prstGeom prst="line">
            <a:avLst/>
          </a:prstGeom>
          <a:noFill/>
          <a:ln w="9525">
            <a:solidFill>
              <a:srgbClr val="3A5273"/>
            </a:solidFill>
            <a:prstDash val="solid"/>
          </a:ln>
        </p:spPr>
      </p:sp>
      <p:sp>
        <p:nvSpPr>
          <p:cNvPr id="20" name="Link 17"/>
          <p:cNvSpPr/>
          <p:nvPr/>
        </p:nvSpPr>
        <p:spPr>
          <a:xfrm>
            <a:off x="6824472" y="2115312"/>
            <a:ext cx="798576" cy="0"/>
          </a:xfrm>
          <a:prstGeom prst="line">
            <a:avLst/>
          </a:prstGeom>
          <a:noFill/>
          <a:ln w="9525">
            <a:solidFill>
              <a:srgbClr val="3A5273"/>
            </a:solidFill>
            <a:prstDash val="solid"/>
          </a:ln>
        </p:spPr>
      </p:sp>
      <p:sp>
        <p:nvSpPr>
          <p:cNvPr id="21" name="Link 18"/>
          <p:cNvSpPr/>
          <p:nvPr/>
        </p:nvSpPr>
        <p:spPr>
          <a:xfrm flipV="1">
            <a:off x="6025896" y="2115312"/>
            <a:ext cx="798576" cy="798576"/>
          </a:xfrm>
          <a:prstGeom prst="line">
            <a:avLst/>
          </a:prstGeom>
          <a:noFill/>
          <a:ln w="9525">
            <a:solidFill>
              <a:srgbClr val="3A5273"/>
            </a:solidFill>
            <a:prstDash val="solid"/>
          </a:ln>
        </p:spPr>
      </p:sp>
      <p:sp>
        <p:nvSpPr>
          <p:cNvPr id="22" name="Link 19"/>
          <p:cNvSpPr/>
          <p:nvPr/>
        </p:nvSpPr>
        <p:spPr>
          <a:xfrm>
            <a:off x="6824472" y="2115312"/>
            <a:ext cx="0" cy="798576"/>
          </a:xfrm>
          <a:prstGeom prst="line">
            <a:avLst/>
          </a:prstGeom>
          <a:noFill/>
          <a:ln w="9525">
            <a:solidFill>
              <a:srgbClr val="3A5273"/>
            </a:solidFill>
            <a:prstDash val="solid"/>
          </a:ln>
        </p:spPr>
      </p:sp>
      <p:sp>
        <p:nvSpPr>
          <p:cNvPr id="23" name="Link 20"/>
          <p:cNvSpPr/>
          <p:nvPr/>
        </p:nvSpPr>
        <p:spPr>
          <a:xfrm>
            <a:off x="6824472" y="2115312"/>
            <a:ext cx="798576" cy="798576"/>
          </a:xfrm>
          <a:prstGeom prst="line">
            <a:avLst/>
          </a:prstGeom>
          <a:noFill/>
          <a:ln w="9525">
            <a:solidFill>
              <a:srgbClr val="3A5273"/>
            </a:solidFill>
            <a:prstDash val="solid"/>
          </a:ln>
        </p:spPr>
      </p:sp>
      <p:sp>
        <p:nvSpPr>
          <p:cNvPr id="24" name="Link 21"/>
          <p:cNvSpPr/>
          <p:nvPr/>
        </p:nvSpPr>
        <p:spPr>
          <a:xfrm>
            <a:off x="7623048" y="2115312"/>
            <a:ext cx="798576" cy="0"/>
          </a:xfrm>
          <a:prstGeom prst="line">
            <a:avLst/>
          </a:prstGeom>
          <a:noFill/>
          <a:ln w="9525">
            <a:solidFill>
              <a:srgbClr val="3A5273"/>
            </a:solidFill>
            <a:prstDash val="solid"/>
          </a:ln>
        </p:spPr>
      </p:sp>
      <p:sp>
        <p:nvSpPr>
          <p:cNvPr id="25" name="Link 22"/>
          <p:cNvSpPr/>
          <p:nvPr/>
        </p:nvSpPr>
        <p:spPr>
          <a:xfrm flipV="1">
            <a:off x="6824472" y="2115312"/>
            <a:ext cx="798576" cy="798576"/>
          </a:xfrm>
          <a:prstGeom prst="line">
            <a:avLst/>
          </a:prstGeom>
          <a:noFill/>
          <a:ln w="9525">
            <a:solidFill>
              <a:srgbClr val="3A5273"/>
            </a:solidFill>
            <a:prstDash val="solid"/>
          </a:ln>
        </p:spPr>
      </p:sp>
      <p:sp>
        <p:nvSpPr>
          <p:cNvPr id="26" name="Link 23"/>
          <p:cNvSpPr/>
          <p:nvPr/>
        </p:nvSpPr>
        <p:spPr>
          <a:xfrm>
            <a:off x="7623048" y="2115312"/>
            <a:ext cx="0" cy="798576"/>
          </a:xfrm>
          <a:prstGeom prst="line">
            <a:avLst/>
          </a:prstGeom>
          <a:noFill/>
          <a:ln w="9525">
            <a:solidFill>
              <a:srgbClr val="3A5273"/>
            </a:solidFill>
            <a:prstDash val="solid"/>
          </a:ln>
        </p:spPr>
      </p:sp>
      <p:sp>
        <p:nvSpPr>
          <p:cNvPr id="27" name="Link 24"/>
          <p:cNvSpPr/>
          <p:nvPr/>
        </p:nvSpPr>
        <p:spPr>
          <a:xfrm>
            <a:off x="7623048" y="2115312"/>
            <a:ext cx="798576" cy="798576"/>
          </a:xfrm>
          <a:prstGeom prst="line">
            <a:avLst/>
          </a:prstGeom>
          <a:noFill/>
          <a:ln w="9525">
            <a:solidFill>
              <a:srgbClr val="3A5273"/>
            </a:solidFill>
            <a:prstDash val="solid"/>
          </a:ln>
        </p:spPr>
      </p:sp>
      <p:sp>
        <p:nvSpPr>
          <p:cNvPr id="28" name="Link 25"/>
          <p:cNvSpPr/>
          <p:nvPr/>
        </p:nvSpPr>
        <p:spPr>
          <a:xfrm flipV="1">
            <a:off x="7623048" y="2115312"/>
            <a:ext cx="798576" cy="798576"/>
          </a:xfrm>
          <a:prstGeom prst="line">
            <a:avLst/>
          </a:prstGeom>
          <a:noFill/>
          <a:ln w="9525">
            <a:solidFill>
              <a:srgbClr val="3A5273"/>
            </a:solidFill>
            <a:prstDash val="solid"/>
          </a:ln>
        </p:spPr>
      </p:sp>
      <p:sp>
        <p:nvSpPr>
          <p:cNvPr id="29" name="Link 26"/>
          <p:cNvSpPr/>
          <p:nvPr/>
        </p:nvSpPr>
        <p:spPr>
          <a:xfrm>
            <a:off x="8421624" y="2115312"/>
            <a:ext cx="0" cy="798576"/>
          </a:xfrm>
          <a:prstGeom prst="line">
            <a:avLst/>
          </a:prstGeom>
          <a:noFill/>
          <a:ln w="9525">
            <a:solidFill>
              <a:srgbClr val="3A5273"/>
            </a:solidFill>
            <a:prstDash val="solid"/>
          </a:ln>
        </p:spPr>
      </p:sp>
      <p:sp>
        <p:nvSpPr>
          <p:cNvPr id="30" name="Link 27"/>
          <p:cNvSpPr/>
          <p:nvPr/>
        </p:nvSpPr>
        <p:spPr>
          <a:xfrm>
            <a:off x="6025896" y="2913888"/>
            <a:ext cx="798576" cy="0"/>
          </a:xfrm>
          <a:prstGeom prst="line">
            <a:avLst/>
          </a:prstGeom>
          <a:noFill/>
          <a:ln w="9525">
            <a:solidFill>
              <a:srgbClr val="3A5273"/>
            </a:solidFill>
            <a:prstDash val="solid"/>
          </a:ln>
        </p:spPr>
      </p:sp>
      <p:sp>
        <p:nvSpPr>
          <p:cNvPr id="31" name="Link 28"/>
          <p:cNvSpPr/>
          <p:nvPr/>
        </p:nvSpPr>
        <p:spPr>
          <a:xfrm>
            <a:off x="6025896" y="2913888"/>
            <a:ext cx="0" cy="798576"/>
          </a:xfrm>
          <a:prstGeom prst="line">
            <a:avLst/>
          </a:prstGeom>
          <a:noFill/>
          <a:ln w="9525">
            <a:solidFill>
              <a:srgbClr val="3A5273"/>
            </a:solidFill>
            <a:prstDash val="solid"/>
          </a:ln>
        </p:spPr>
      </p:sp>
      <p:sp>
        <p:nvSpPr>
          <p:cNvPr id="32" name="Link 29"/>
          <p:cNvSpPr/>
          <p:nvPr/>
        </p:nvSpPr>
        <p:spPr>
          <a:xfrm>
            <a:off x="6025896" y="2913888"/>
            <a:ext cx="798576" cy="798576"/>
          </a:xfrm>
          <a:prstGeom prst="line">
            <a:avLst/>
          </a:prstGeom>
          <a:noFill/>
          <a:ln w="9525">
            <a:solidFill>
              <a:srgbClr val="3A5273"/>
            </a:solidFill>
            <a:prstDash val="solid"/>
          </a:ln>
        </p:spPr>
      </p:sp>
      <p:sp>
        <p:nvSpPr>
          <p:cNvPr id="33" name="Link 30"/>
          <p:cNvSpPr/>
          <p:nvPr/>
        </p:nvSpPr>
        <p:spPr>
          <a:xfrm>
            <a:off x="6824472" y="2913888"/>
            <a:ext cx="798576" cy="0"/>
          </a:xfrm>
          <a:prstGeom prst="line">
            <a:avLst/>
          </a:prstGeom>
          <a:noFill/>
          <a:ln w="9525">
            <a:solidFill>
              <a:srgbClr val="3A5273"/>
            </a:solidFill>
            <a:prstDash val="solid"/>
          </a:ln>
        </p:spPr>
      </p:sp>
      <p:sp>
        <p:nvSpPr>
          <p:cNvPr id="34" name="Link 31"/>
          <p:cNvSpPr/>
          <p:nvPr/>
        </p:nvSpPr>
        <p:spPr>
          <a:xfrm flipV="1">
            <a:off x="6025896" y="2913888"/>
            <a:ext cx="798576" cy="798576"/>
          </a:xfrm>
          <a:prstGeom prst="line">
            <a:avLst/>
          </a:prstGeom>
          <a:noFill/>
          <a:ln w="9525">
            <a:solidFill>
              <a:srgbClr val="3A5273"/>
            </a:solidFill>
            <a:prstDash val="solid"/>
          </a:ln>
        </p:spPr>
      </p:sp>
      <p:sp>
        <p:nvSpPr>
          <p:cNvPr id="35" name="Link 32"/>
          <p:cNvSpPr/>
          <p:nvPr/>
        </p:nvSpPr>
        <p:spPr>
          <a:xfrm>
            <a:off x="6824472" y="2913888"/>
            <a:ext cx="0" cy="798576"/>
          </a:xfrm>
          <a:prstGeom prst="line">
            <a:avLst/>
          </a:prstGeom>
          <a:noFill/>
          <a:ln w="9525">
            <a:solidFill>
              <a:srgbClr val="3A5273"/>
            </a:solidFill>
            <a:prstDash val="solid"/>
          </a:ln>
        </p:spPr>
      </p:sp>
      <p:sp>
        <p:nvSpPr>
          <p:cNvPr id="36" name="Link 33"/>
          <p:cNvSpPr/>
          <p:nvPr/>
        </p:nvSpPr>
        <p:spPr>
          <a:xfrm>
            <a:off x="6824472" y="2913888"/>
            <a:ext cx="798576" cy="798576"/>
          </a:xfrm>
          <a:prstGeom prst="line">
            <a:avLst/>
          </a:prstGeom>
          <a:noFill/>
          <a:ln w="9525">
            <a:solidFill>
              <a:srgbClr val="3A5273"/>
            </a:solidFill>
            <a:prstDash val="solid"/>
          </a:ln>
        </p:spPr>
      </p:sp>
      <p:sp>
        <p:nvSpPr>
          <p:cNvPr id="37" name="Link 34"/>
          <p:cNvSpPr/>
          <p:nvPr/>
        </p:nvSpPr>
        <p:spPr>
          <a:xfrm>
            <a:off x="7623048" y="2913888"/>
            <a:ext cx="798576" cy="0"/>
          </a:xfrm>
          <a:prstGeom prst="line">
            <a:avLst/>
          </a:prstGeom>
          <a:noFill/>
          <a:ln w="9525">
            <a:solidFill>
              <a:srgbClr val="3A5273"/>
            </a:solidFill>
            <a:prstDash val="solid"/>
          </a:ln>
        </p:spPr>
      </p:sp>
      <p:sp>
        <p:nvSpPr>
          <p:cNvPr id="38" name="Link 35"/>
          <p:cNvSpPr/>
          <p:nvPr/>
        </p:nvSpPr>
        <p:spPr>
          <a:xfrm flipV="1">
            <a:off x="6824472" y="2913888"/>
            <a:ext cx="798576" cy="798576"/>
          </a:xfrm>
          <a:prstGeom prst="line">
            <a:avLst/>
          </a:prstGeom>
          <a:noFill/>
          <a:ln w="9525">
            <a:solidFill>
              <a:srgbClr val="3A5273"/>
            </a:solidFill>
            <a:prstDash val="solid"/>
          </a:ln>
        </p:spPr>
      </p:sp>
      <p:sp>
        <p:nvSpPr>
          <p:cNvPr id="39" name="Link 36"/>
          <p:cNvSpPr/>
          <p:nvPr/>
        </p:nvSpPr>
        <p:spPr>
          <a:xfrm>
            <a:off x="7623048" y="2913888"/>
            <a:ext cx="0" cy="798576"/>
          </a:xfrm>
          <a:prstGeom prst="line">
            <a:avLst/>
          </a:prstGeom>
          <a:noFill/>
          <a:ln w="9525">
            <a:solidFill>
              <a:srgbClr val="3A5273"/>
            </a:solidFill>
            <a:prstDash val="solid"/>
          </a:ln>
        </p:spPr>
      </p:sp>
      <p:sp>
        <p:nvSpPr>
          <p:cNvPr id="40" name="Link 37"/>
          <p:cNvSpPr/>
          <p:nvPr/>
        </p:nvSpPr>
        <p:spPr>
          <a:xfrm>
            <a:off x="7623048" y="2913888"/>
            <a:ext cx="798576" cy="798576"/>
          </a:xfrm>
          <a:prstGeom prst="line">
            <a:avLst/>
          </a:prstGeom>
          <a:noFill/>
          <a:ln w="9525">
            <a:solidFill>
              <a:srgbClr val="3A5273"/>
            </a:solidFill>
            <a:prstDash val="solid"/>
          </a:ln>
        </p:spPr>
      </p:sp>
      <p:sp>
        <p:nvSpPr>
          <p:cNvPr id="41" name="Link 38"/>
          <p:cNvSpPr/>
          <p:nvPr/>
        </p:nvSpPr>
        <p:spPr>
          <a:xfrm flipV="1">
            <a:off x="7623048" y="2913888"/>
            <a:ext cx="798576" cy="798576"/>
          </a:xfrm>
          <a:prstGeom prst="line">
            <a:avLst/>
          </a:prstGeom>
          <a:noFill/>
          <a:ln w="9525">
            <a:solidFill>
              <a:srgbClr val="3A5273"/>
            </a:solidFill>
            <a:prstDash val="solid"/>
          </a:ln>
        </p:spPr>
      </p:sp>
      <p:sp>
        <p:nvSpPr>
          <p:cNvPr id="42" name="Link 39"/>
          <p:cNvSpPr/>
          <p:nvPr/>
        </p:nvSpPr>
        <p:spPr>
          <a:xfrm>
            <a:off x="8421624" y="2913888"/>
            <a:ext cx="0" cy="798576"/>
          </a:xfrm>
          <a:prstGeom prst="line">
            <a:avLst/>
          </a:prstGeom>
          <a:noFill/>
          <a:ln w="9525">
            <a:solidFill>
              <a:srgbClr val="3A5273"/>
            </a:solidFill>
            <a:prstDash val="solid"/>
          </a:ln>
        </p:spPr>
      </p:sp>
      <p:sp>
        <p:nvSpPr>
          <p:cNvPr id="43" name="Link 40"/>
          <p:cNvSpPr/>
          <p:nvPr/>
        </p:nvSpPr>
        <p:spPr>
          <a:xfrm>
            <a:off x="6025896" y="3712464"/>
            <a:ext cx="798576" cy="0"/>
          </a:xfrm>
          <a:prstGeom prst="line">
            <a:avLst/>
          </a:prstGeom>
          <a:noFill/>
          <a:ln w="9525">
            <a:solidFill>
              <a:srgbClr val="3A5273"/>
            </a:solidFill>
            <a:prstDash val="solid"/>
          </a:ln>
        </p:spPr>
      </p:sp>
      <p:sp>
        <p:nvSpPr>
          <p:cNvPr id="44" name="Link 41"/>
          <p:cNvSpPr/>
          <p:nvPr/>
        </p:nvSpPr>
        <p:spPr>
          <a:xfrm>
            <a:off x="6824472" y="3712464"/>
            <a:ext cx="798576" cy="0"/>
          </a:xfrm>
          <a:prstGeom prst="line">
            <a:avLst/>
          </a:prstGeom>
          <a:noFill/>
          <a:ln w="9525">
            <a:solidFill>
              <a:srgbClr val="3A5273"/>
            </a:solidFill>
            <a:prstDash val="solid"/>
          </a:ln>
        </p:spPr>
      </p:sp>
      <p:sp>
        <p:nvSpPr>
          <p:cNvPr id="45" name="Link 42"/>
          <p:cNvSpPr/>
          <p:nvPr/>
        </p:nvSpPr>
        <p:spPr>
          <a:xfrm>
            <a:off x="7623048" y="3712464"/>
            <a:ext cx="798576" cy="0"/>
          </a:xfrm>
          <a:prstGeom prst="line">
            <a:avLst/>
          </a:prstGeom>
          <a:noFill/>
          <a:ln w="9525">
            <a:solidFill>
              <a:srgbClr val="3A5273"/>
            </a:solidFill>
            <a:prstDash val="solid"/>
          </a:ln>
        </p:spPr>
      </p:sp>
      <p:sp>
        <p:nvSpPr>
          <p:cNvPr id="46" name="Radio 43"/>
          <p:cNvSpPr/>
          <p:nvPr/>
        </p:nvSpPr>
        <p:spPr>
          <a:xfrm>
            <a:off x="5806440"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47" name="Radio 44"/>
          <p:cNvSpPr/>
          <p:nvPr/>
        </p:nvSpPr>
        <p:spPr>
          <a:xfrm>
            <a:off x="6605016"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48" name="Radio 45"/>
          <p:cNvSpPr/>
          <p:nvPr/>
        </p:nvSpPr>
        <p:spPr>
          <a:xfrm>
            <a:off x="7403592"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9" name="Radio 46"/>
          <p:cNvSpPr/>
          <p:nvPr/>
        </p:nvSpPr>
        <p:spPr>
          <a:xfrm>
            <a:off x="8202168"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0" name="Radio 47"/>
          <p:cNvSpPr/>
          <p:nvPr/>
        </p:nvSpPr>
        <p:spPr>
          <a:xfrm>
            <a:off x="5806440"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1" name="Radio 48"/>
          <p:cNvSpPr/>
          <p:nvPr/>
        </p:nvSpPr>
        <p:spPr>
          <a:xfrm>
            <a:off x="6605016"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52" name="Radio 49"/>
          <p:cNvSpPr/>
          <p:nvPr/>
        </p:nvSpPr>
        <p:spPr>
          <a:xfrm>
            <a:off x="7403592"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5</a:t>
            </a:r>
            <a:endParaRPr lang="en-US" sz="1300" dirty="0"/>
          </a:p>
        </p:txBody>
      </p:sp>
      <p:sp>
        <p:nvSpPr>
          <p:cNvPr id="53" name="Radio 50"/>
          <p:cNvSpPr/>
          <p:nvPr/>
        </p:nvSpPr>
        <p:spPr>
          <a:xfrm>
            <a:off x="8202168"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4" name="Radio 51"/>
          <p:cNvSpPr/>
          <p:nvPr/>
        </p:nvSpPr>
        <p:spPr>
          <a:xfrm>
            <a:off x="5806440"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5" name="Radio 52"/>
          <p:cNvSpPr/>
          <p:nvPr/>
        </p:nvSpPr>
        <p:spPr>
          <a:xfrm>
            <a:off x="6605016"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7</a:t>
            </a:r>
            <a:endParaRPr lang="en-US" sz="1300" dirty="0"/>
          </a:p>
        </p:txBody>
      </p:sp>
      <p:sp>
        <p:nvSpPr>
          <p:cNvPr id="56" name="Radio 53"/>
          <p:cNvSpPr/>
          <p:nvPr/>
        </p:nvSpPr>
        <p:spPr>
          <a:xfrm>
            <a:off x="7403592"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8</a:t>
            </a:r>
            <a:endParaRPr lang="en-US" sz="1300" dirty="0"/>
          </a:p>
        </p:txBody>
      </p:sp>
      <p:sp>
        <p:nvSpPr>
          <p:cNvPr id="57" name="Radio 54"/>
          <p:cNvSpPr/>
          <p:nvPr/>
        </p:nvSpPr>
        <p:spPr>
          <a:xfrm>
            <a:off x="8202168"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8" name="Radio 55"/>
          <p:cNvSpPr/>
          <p:nvPr/>
        </p:nvSpPr>
        <p:spPr>
          <a:xfrm>
            <a:off x="5806440"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9" name="Radio 56"/>
          <p:cNvSpPr/>
          <p:nvPr/>
        </p:nvSpPr>
        <p:spPr>
          <a:xfrm>
            <a:off x="6605016"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0" name="Radio 57"/>
          <p:cNvSpPr/>
          <p:nvPr/>
        </p:nvSpPr>
        <p:spPr>
          <a:xfrm>
            <a:off x="7403592"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61" name="Radio 58"/>
          <p:cNvSpPr/>
          <p:nvPr/>
        </p:nvSpPr>
        <p:spPr>
          <a:xfrm>
            <a:off x="8202168"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The problem: two ways radios collide</a:t>
            </a:r>
            <a:endParaRPr lang="en-US" sz="2800" dirty="0"/>
          </a:p>
        </p:txBody>
      </p:sp>
      <p:sp>
        <p:nvSpPr>
          <p:cNvPr id="4" name="Text 59"/>
          <p:cNvSpPr txBox="1"/>
          <p:nvPr/>
        </p:nvSpPr>
        <p:spPr>
          <a:xfrm>
            <a:off x="457200" y="1188720"/>
            <a:ext cx="3566160" cy="1097280"/>
          </a:xfrm>
          <a:prstGeom prst="rect">
            <a:avLst/>
          </a:prstGeom>
          <a:noFill/>
          <a:ln/>
        </p:spPr>
        <p:txBody>
          <a:bodyPr wrap="square" lIns="0" tIns="0" rIns="0" bIns="0" rtlCol="0" anchor="t"/>
          <a:lstStyle/>
          <a:p>
            <a:pPr indent="0" marL="0">
              <a:buNone/>
            </a:pPr>
            <a:r>
              <a:rPr lang="en-US" sz="1600" dirty="0">
                <a:solidFill>
                  <a:schemeClr val="tx1"/>
                </a:solidFill>
              </a:rPr>
              <a:t>Radios share one frequency and take turns in time slots. Two radios may use the same slot only if no receiver hears both.</a:t>
            </a:r>
            <a:endParaRPr lang="en-US" sz="1600" dirty="0"/>
          </a:p>
        </p:txBody>
      </p:sp>
      <p:sp>
        <p:nvSpPr>
          <p:cNvPr id="5" name="Text 60"/>
          <p:cNvSpPr txBox="1"/>
          <p:nvPr/>
        </p:nvSpPr>
        <p:spPr>
          <a:xfrm>
            <a:off x="457200" y="2514600"/>
            <a:ext cx="3566160" cy="1920240"/>
          </a:xfrm>
          <a:prstGeom prst="rect">
            <a:avLst/>
          </a:prstGeom>
          <a:noFill/>
          <a:ln/>
        </p:spPr>
        <p:txBody>
          <a:bodyPr wrap="square" lIns="0" tIns="0" rIns="0" bIns="0" rtlCol="0" anchor="t"/>
          <a:lstStyle/>
          <a:p>
            <a:pPr indent="0" marL="0">
              <a:buNone/>
            </a:pPr>
            <a:r>
              <a:rPr lang="en-US" sz="1400" b="1" dirty="0">
                <a:solidFill>
                  <a:schemeClr val="accent3"/>
                </a:solidFill>
              </a:rPr>
              <a:t>Goal</a:t>
            </a:r>
            <a:endParaRPr lang="en-US" sz="1400" dirty="0"/>
          </a:p>
          <a:p>
            <a:pPr indent="0" marL="0">
              <a:buNone/>
            </a:pPr>
            <a:r>
              <a:rPr lang="en-US" sz="1400" dirty="0">
                <a:solidFill>
                  <a:schemeClr val="accent3"/>
                </a:solidFill>
              </a:rPr>
              <a:t>Give every radio a slot, with no collisions, using as few slots as possible.</a:t>
            </a:r>
            <a:endParaRPr lang="en-US" sz="1400" dirty="0"/>
          </a:p>
          <a:p>
            <a:pPr indent="0" marL="0">
              <a:buNone/>
            </a:pPr>
            <a:r>
              <a:rPr lang="en-US" sz="800" dirty="0">
                <a:solidFill>
                  <a:schemeClr val="accent3"/>
                </a:solidFill>
              </a:rPr>
              <a:t> </a:t>
            </a:r>
            <a:endParaRPr lang="en-US" sz="1400" dirty="0"/>
          </a:p>
          <a:p>
            <a:pPr indent="0" marL="0">
              <a:buNone/>
            </a:pPr>
            <a:r>
              <a:rPr lang="en-US" sz="1400" b="1" dirty="0">
                <a:solidFill>
                  <a:schemeClr val="accent3"/>
                </a:solidFill>
              </a:rPr>
              <a:t>Spatial reuse</a:t>
            </a:r>
            <a:endParaRPr lang="en-US" sz="1400" dirty="0"/>
          </a:p>
          <a:p>
            <a:pPr indent="0" marL="0">
              <a:buNone/>
            </a:pPr>
            <a:r>
              <a:rPr lang="en-US" sz="1400" dirty="0">
                <a:solidFill>
                  <a:schemeClr val="accent3"/>
                </a:solidFill>
              </a:rPr>
              <a:t>Radios more than 2 hops apart may share a slot. That is what keeps the frame short.</a:t>
            </a:r>
            <a:endParaRPr lang="en-US" sz="1400" dirty="0"/>
          </a:p>
        </p:txBody>
      </p:sp>
      <p:sp>
        <p:nvSpPr>
          <p:cNvPr id="6" name="Card 61"/>
          <p:cNvSpPr/>
          <p:nvPr/>
        </p:nvSpPr>
        <p:spPr>
          <a:xfrm>
            <a:off x="4480560" y="1188720"/>
            <a:ext cx="4206240" cy="1508760"/>
          </a:xfrm>
          <a:prstGeom prst="roundRect">
            <a:avLst>
              <a:gd name="adj" fmla="val 4848"/>
            </a:avLst>
          </a:prstGeom>
          <a:solidFill>
            <a:schemeClr val="bg2"/>
          </a:solidFill>
          <a:ln w="12700">
            <a:solidFill>
              <a:schemeClr val="bg2"/>
            </a:solidFill>
            <a:prstDash val="solid"/>
          </a:ln>
        </p:spPr>
      </p:sp>
      <p:sp>
        <p:nvSpPr>
          <p:cNvPr id="7" name="Text 62"/>
          <p:cNvSpPr txBox="1"/>
          <p:nvPr/>
        </p:nvSpPr>
        <p:spPr>
          <a:xfrm>
            <a:off x="4709160" y="1298448"/>
            <a:ext cx="3749040" cy="274320"/>
          </a:xfrm>
          <a:prstGeom prst="rect">
            <a:avLst/>
          </a:prstGeom>
          <a:noFill/>
          <a:ln/>
        </p:spPr>
        <p:txBody>
          <a:bodyPr wrap="square" lIns="0" tIns="0" rIns="0" bIns="0" rtlCol="0" anchor="t"/>
          <a:lstStyle/>
          <a:p>
            <a:pPr indent="0" marL="0">
              <a:buNone/>
            </a:pPr>
            <a:r>
              <a:rPr lang="en-US" sz="1400" b="1" dirty="0">
                <a:solidFill>
                  <a:schemeClr val="tx1"/>
                </a:solidFill>
              </a:rPr>
              <a:t>Direct interference (1 hop)</a:t>
            </a:r>
            <a:endParaRPr lang="en-US" sz="1400" dirty="0"/>
          </a:p>
        </p:txBody>
      </p:sp>
      <p:sp>
        <p:nvSpPr>
          <p:cNvPr id="8" name="Link 63"/>
          <p:cNvSpPr/>
          <p:nvPr/>
        </p:nvSpPr>
        <p:spPr>
          <a:xfrm>
            <a:off x="5577840" y="2011680"/>
            <a:ext cx="2011680" cy="0"/>
          </a:xfrm>
          <a:prstGeom prst="line">
            <a:avLst/>
          </a:prstGeom>
          <a:noFill/>
          <a:ln w="19050">
            <a:solidFill>
              <a:schemeClr val="accent3"/>
            </a:solidFill>
            <a:prstDash val="solid"/>
          </a:ln>
        </p:spPr>
      </p:sp>
      <p:sp>
        <p:nvSpPr>
          <p:cNvPr id="9" name="Radio 64"/>
          <p:cNvSpPr/>
          <p:nvPr/>
        </p:nvSpPr>
        <p:spPr>
          <a:xfrm>
            <a:off x="5358384" y="179222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0" name="Radio 65"/>
          <p:cNvSpPr/>
          <p:nvPr/>
        </p:nvSpPr>
        <p:spPr>
          <a:xfrm>
            <a:off x="7370064" y="179222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1" name="Text 66"/>
          <p:cNvSpPr txBox="1"/>
          <p:nvPr/>
        </p:nvSpPr>
        <p:spPr>
          <a:xfrm>
            <a:off x="4709160" y="2340864"/>
            <a:ext cx="3749040" cy="274320"/>
          </a:xfrm>
          <a:prstGeom prst="rect">
            <a:avLst/>
          </a:prstGeom>
          <a:noFill/>
          <a:ln/>
        </p:spPr>
        <p:txBody>
          <a:bodyPr wrap="square" lIns="0" tIns="0" rIns="0" bIns="0" rtlCol="0" anchor="t"/>
          <a:lstStyle/>
          <a:p>
            <a:pPr indent="0" marL="0">
              <a:buNone/>
            </a:pPr>
            <a:r>
              <a:rPr lang="en-US" sz="1200" dirty="0">
                <a:solidFill>
                  <a:schemeClr val="accent3"/>
                </a:solidFill>
              </a:rPr>
              <a:t>A and B hear each other, so they need different slots.</a:t>
            </a:r>
            <a:endParaRPr lang="en-US" sz="1200" dirty="0"/>
          </a:p>
        </p:txBody>
      </p:sp>
      <p:sp>
        <p:nvSpPr>
          <p:cNvPr id="12" name="Card 67"/>
          <p:cNvSpPr/>
          <p:nvPr/>
        </p:nvSpPr>
        <p:spPr>
          <a:xfrm>
            <a:off x="4480560" y="2926080"/>
            <a:ext cx="4206240" cy="1508760"/>
          </a:xfrm>
          <a:prstGeom prst="roundRect">
            <a:avLst>
              <a:gd name="adj" fmla="val 4848"/>
            </a:avLst>
          </a:prstGeom>
          <a:solidFill>
            <a:schemeClr val="bg2"/>
          </a:solidFill>
          <a:ln w="12700">
            <a:solidFill>
              <a:schemeClr val="bg2"/>
            </a:solidFill>
            <a:prstDash val="solid"/>
          </a:ln>
        </p:spPr>
      </p:sp>
      <p:sp>
        <p:nvSpPr>
          <p:cNvPr id="13" name="Text 68"/>
          <p:cNvSpPr txBox="1"/>
          <p:nvPr/>
        </p:nvSpPr>
        <p:spPr>
          <a:xfrm>
            <a:off x="4709160" y="3035808"/>
            <a:ext cx="3749040" cy="274320"/>
          </a:xfrm>
          <a:prstGeom prst="rect">
            <a:avLst/>
          </a:prstGeom>
          <a:noFill/>
          <a:ln/>
        </p:spPr>
        <p:txBody>
          <a:bodyPr wrap="square" lIns="0" tIns="0" rIns="0" bIns="0" rtlCol="0" anchor="t"/>
          <a:lstStyle/>
          <a:p>
            <a:pPr indent="0" marL="0">
              <a:buNone/>
            </a:pPr>
            <a:r>
              <a:rPr lang="en-US" sz="1400" b="1" dirty="0">
                <a:solidFill>
                  <a:schemeClr val="tx1"/>
                </a:solidFill>
              </a:rPr>
              <a:t>Hidden terminal (2 hops)</a:t>
            </a:r>
            <a:endParaRPr lang="en-US" sz="1400" dirty="0"/>
          </a:p>
        </p:txBody>
      </p:sp>
      <p:sp>
        <p:nvSpPr>
          <p:cNvPr id="14" name="Arrow 69"/>
          <p:cNvSpPr/>
          <p:nvPr/>
        </p:nvSpPr>
        <p:spPr>
          <a:xfrm>
            <a:off x="5349240" y="3749040"/>
            <a:ext cx="978408" cy="0"/>
          </a:xfrm>
          <a:prstGeom prst="line">
            <a:avLst/>
          </a:prstGeom>
          <a:noFill/>
          <a:ln w="15875">
            <a:solidFill>
              <a:schemeClr val="accent3"/>
            </a:solidFill>
            <a:prstDash val="solid"/>
            <a:tailEnd type="triangle"/>
          </a:ln>
        </p:spPr>
      </p:sp>
      <p:sp>
        <p:nvSpPr>
          <p:cNvPr id="15" name="Arrow 70"/>
          <p:cNvSpPr/>
          <p:nvPr/>
        </p:nvSpPr>
        <p:spPr>
          <a:xfrm flipH="1">
            <a:off x="6839712" y="3749040"/>
            <a:ext cx="978408" cy="0"/>
          </a:xfrm>
          <a:prstGeom prst="line">
            <a:avLst/>
          </a:prstGeom>
          <a:noFill/>
          <a:ln w="15875">
            <a:solidFill>
              <a:schemeClr val="accent3"/>
            </a:solidFill>
            <a:prstDash val="solid"/>
            <a:tailEnd type="triangle"/>
          </a:ln>
        </p:spPr>
      </p:sp>
      <p:sp>
        <p:nvSpPr>
          <p:cNvPr id="16" name="Radio 71"/>
          <p:cNvSpPr/>
          <p:nvPr/>
        </p:nvSpPr>
        <p:spPr>
          <a:xfrm>
            <a:off x="4901184" y="352958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A</a:t>
            </a:r>
            <a:endParaRPr lang="en-US" sz="1200" dirty="0"/>
          </a:p>
        </p:txBody>
      </p:sp>
      <p:sp>
        <p:nvSpPr>
          <p:cNvPr id="17" name="Radio 72"/>
          <p:cNvSpPr/>
          <p:nvPr/>
        </p:nvSpPr>
        <p:spPr>
          <a:xfrm>
            <a:off x="6364224" y="3529584"/>
            <a:ext cx="438912" cy="438912"/>
          </a:xfrm>
          <a:prstGeom prst="ellipse">
            <a:avLst/>
          </a:prstGeom>
          <a:solidFill>
            <a:schemeClr val="accent2"/>
          </a:solidFill>
          <a:ln w="19050">
            <a:solidFill>
              <a:schemeClr val="bg1"/>
            </a:solidFill>
          </a:ln>
        </p:spPr>
        <p:txBody>
          <a:bodyPr wrap="square" lIns="0" tIns="0" rIns="0" bIns="0" rtlCol="0" anchor="ctr"/>
          <a:lstStyle/>
          <a:p>
            <a:pPr algn="ctr" indent="0" marL="0">
              <a:buNone/>
            </a:pPr>
            <a:r>
              <a:rPr lang="en-US" sz="1200" b="1" dirty="0">
                <a:solidFill>
                  <a:schemeClr val="bg1"/>
                </a:solidFill>
              </a:rPr>
              <a:t>B</a:t>
            </a:r>
            <a:endParaRPr lang="en-US" sz="1200" dirty="0"/>
          </a:p>
        </p:txBody>
      </p:sp>
      <p:sp>
        <p:nvSpPr>
          <p:cNvPr id="18" name="Radio 73"/>
          <p:cNvSpPr/>
          <p:nvPr/>
        </p:nvSpPr>
        <p:spPr>
          <a:xfrm>
            <a:off x="7827264" y="3529584"/>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200" b="1" dirty="0">
                <a:solidFill>
                  <a:schemeClr val="bg1"/>
                </a:solidFill>
              </a:rPr>
              <a:t>C</a:t>
            </a:r>
            <a:endParaRPr lang="en-US" sz="1200" dirty="0"/>
          </a:p>
        </p:txBody>
      </p:sp>
      <p:sp>
        <p:nvSpPr>
          <p:cNvPr id="19" name="Text 74"/>
          <p:cNvSpPr txBox="1"/>
          <p:nvPr/>
        </p:nvSpPr>
        <p:spPr>
          <a:xfrm>
            <a:off x="4709160" y="4078224"/>
            <a:ext cx="3749040" cy="274320"/>
          </a:xfrm>
          <a:prstGeom prst="rect">
            <a:avLst/>
          </a:prstGeom>
          <a:noFill/>
          <a:ln/>
        </p:spPr>
        <p:txBody>
          <a:bodyPr wrap="square" lIns="0" tIns="0" rIns="0" bIns="0" rtlCol="0" anchor="t"/>
          <a:lstStyle/>
          <a:p>
            <a:pPr indent="0" marL="0">
              <a:buNone/>
            </a:pPr>
            <a:r>
              <a:rPr lang="en-US" sz="1200" dirty="0">
                <a:solidFill>
                  <a:schemeClr val="accent3"/>
                </a:solidFill>
              </a:rPr>
              <a:t>A and C are out of range of each other but collide at B.</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Approach: scheduling as graph colouring</a:t>
            </a:r>
            <a:endParaRPr lang="en-US" sz="2800" dirty="0"/>
          </a:p>
        </p:txBody>
      </p:sp>
      <p:sp>
        <p:nvSpPr>
          <p:cNvPr id="4" name="Card 75"/>
          <p:cNvSpPr/>
          <p:nvPr/>
        </p:nvSpPr>
        <p:spPr>
          <a:xfrm>
            <a:off x="457200" y="1280160"/>
            <a:ext cx="1536192" cy="2103120"/>
          </a:xfrm>
          <a:prstGeom prst="roundRect">
            <a:avLst>
              <a:gd name="adj" fmla="val 4762"/>
            </a:avLst>
          </a:prstGeom>
          <a:solidFill>
            <a:schemeClr val="bg2"/>
          </a:solidFill>
          <a:ln w="12700">
            <a:solidFill>
              <a:schemeClr val="bg2"/>
            </a:solidFill>
            <a:prstDash val="solid"/>
          </a:ln>
        </p:spPr>
      </p:sp>
      <p:sp>
        <p:nvSpPr>
          <p:cNvPr id="5" name="Badge 76"/>
          <p:cNvSpPr/>
          <p:nvPr/>
        </p:nvSpPr>
        <p:spPr>
          <a:xfrm>
            <a:off x="640080"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77"/>
          <p:cNvSpPr txBox="1"/>
          <p:nvPr/>
        </p:nvSpPr>
        <p:spPr>
          <a:xfrm>
            <a:off x="640080"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Radio graph</a:t>
            </a:r>
            <a:endParaRPr lang="en-US" sz="1400" dirty="0"/>
          </a:p>
        </p:txBody>
      </p:sp>
      <p:sp>
        <p:nvSpPr>
          <p:cNvPr id="7" name="Text 78"/>
          <p:cNvSpPr txBox="1"/>
          <p:nvPr/>
        </p:nvSpPr>
        <p:spPr>
          <a:xfrm>
            <a:off x="640080"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Link every pair of radios within 500 m.</a:t>
            </a:r>
            <a:endParaRPr lang="en-US" sz="1200" dirty="0"/>
          </a:p>
        </p:txBody>
      </p:sp>
      <p:sp>
        <p:nvSpPr>
          <p:cNvPr id="8" name="Card 79"/>
          <p:cNvSpPr/>
          <p:nvPr/>
        </p:nvSpPr>
        <p:spPr>
          <a:xfrm>
            <a:off x="2130552" y="1280160"/>
            <a:ext cx="1536192" cy="2103120"/>
          </a:xfrm>
          <a:prstGeom prst="roundRect">
            <a:avLst>
              <a:gd name="adj" fmla="val 4762"/>
            </a:avLst>
          </a:prstGeom>
          <a:solidFill>
            <a:schemeClr val="bg2"/>
          </a:solidFill>
          <a:ln w="12700">
            <a:solidFill>
              <a:schemeClr val="bg2"/>
            </a:solidFill>
            <a:prstDash val="solid"/>
          </a:ln>
        </p:spPr>
      </p:sp>
      <p:sp>
        <p:nvSpPr>
          <p:cNvPr id="9" name="Badge 80"/>
          <p:cNvSpPr/>
          <p:nvPr/>
        </p:nvSpPr>
        <p:spPr>
          <a:xfrm>
            <a:off x="2313432"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81"/>
          <p:cNvSpPr txBox="1"/>
          <p:nvPr/>
        </p:nvSpPr>
        <p:spPr>
          <a:xfrm>
            <a:off x="2313432"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Conflict graph</a:t>
            </a:r>
            <a:endParaRPr lang="en-US" sz="1400" dirty="0"/>
          </a:p>
        </p:txBody>
      </p:sp>
      <p:sp>
        <p:nvSpPr>
          <p:cNvPr id="11" name="Text 82"/>
          <p:cNvSpPr txBox="1"/>
          <p:nvPr/>
        </p:nvSpPr>
        <p:spPr>
          <a:xfrm>
            <a:off x="2313432"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Join every pair 1 or 2 hops apart: the square of the radio graph.</a:t>
            </a:r>
            <a:endParaRPr lang="en-US" sz="1200" dirty="0"/>
          </a:p>
        </p:txBody>
      </p:sp>
      <p:sp>
        <p:nvSpPr>
          <p:cNvPr id="12" name="Card 83"/>
          <p:cNvSpPr/>
          <p:nvPr/>
        </p:nvSpPr>
        <p:spPr>
          <a:xfrm>
            <a:off x="3803904" y="1280160"/>
            <a:ext cx="1536192" cy="2103120"/>
          </a:xfrm>
          <a:prstGeom prst="roundRect">
            <a:avLst>
              <a:gd name="adj" fmla="val 4762"/>
            </a:avLst>
          </a:prstGeom>
          <a:solidFill>
            <a:schemeClr val="bg2"/>
          </a:solidFill>
          <a:ln w="12700">
            <a:solidFill>
              <a:schemeClr val="bg2"/>
            </a:solidFill>
            <a:prstDash val="solid"/>
          </a:ln>
        </p:spPr>
      </p:sp>
      <p:sp>
        <p:nvSpPr>
          <p:cNvPr id="13" name="Badge 84"/>
          <p:cNvSpPr/>
          <p:nvPr/>
        </p:nvSpPr>
        <p:spPr>
          <a:xfrm>
            <a:off x="3986784"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85"/>
          <p:cNvSpPr txBox="1"/>
          <p:nvPr/>
        </p:nvSpPr>
        <p:spPr>
          <a:xfrm>
            <a:off x="3986784"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Greedy colouring</a:t>
            </a:r>
            <a:endParaRPr lang="en-US" sz="1400" dirty="0"/>
          </a:p>
        </p:txBody>
      </p:sp>
      <p:sp>
        <p:nvSpPr>
          <p:cNvPr id="15" name="Text 86"/>
          <p:cNvSpPr txBox="1"/>
          <p:nvPr/>
        </p:nvSpPr>
        <p:spPr>
          <a:xfrm>
            <a:off x="3986784"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Each colour is a slot. Hand-written DSATUR and largest_first.</a:t>
            </a:r>
            <a:endParaRPr lang="en-US" sz="1200" dirty="0"/>
          </a:p>
        </p:txBody>
      </p:sp>
      <p:sp>
        <p:nvSpPr>
          <p:cNvPr id="16" name="Card 87"/>
          <p:cNvSpPr/>
          <p:nvPr/>
        </p:nvSpPr>
        <p:spPr>
          <a:xfrm>
            <a:off x="5477256" y="1280160"/>
            <a:ext cx="1536192" cy="2103120"/>
          </a:xfrm>
          <a:prstGeom prst="roundRect">
            <a:avLst>
              <a:gd name="adj" fmla="val 4762"/>
            </a:avLst>
          </a:prstGeom>
          <a:solidFill>
            <a:schemeClr val="bg2"/>
          </a:solidFill>
          <a:ln w="12700">
            <a:solidFill>
              <a:schemeClr val="bg2"/>
            </a:solidFill>
            <a:prstDash val="solid"/>
          </a:ln>
        </p:spPr>
      </p:sp>
      <p:sp>
        <p:nvSpPr>
          <p:cNvPr id="17" name="Badge 88"/>
          <p:cNvSpPr/>
          <p:nvPr/>
        </p:nvSpPr>
        <p:spPr>
          <a:xfrm>
            <a:off x="5660136"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89"/>
          <p:cNvSpPr txBox="1"/>
          <p:nvPr/>
        </p:nvSpPr>
        <p:spPr>
          <a:xfrm>
            <a:off x="5660136"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Lower bound</a:t>
            </a:r>
            <a:endParaRPr lang="en-US" sz="1400" dirty="0"/>
          </a:p>
        </p:txBody>
      </p:sp>
      <p:sp>
        <p:nvSpPr>
          <p:cNvPr id="19" name="Text 90"/>
          <p:cNvSpPr txBox="1"/>
          <p:nvPr/>
        </p:nvSpPr>
        <p:spPr>
          <a:xfrm>
            <a:off x="5660136"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The busiest radio and its neighbours all need different slots.</a:t>
            </a:r>
            <a:endParaRPr lang="en-US" sz="1200" dirty="0"/>
          </a:p>
        </p:txBody>
      </p:sp>
      <p:sp>
        <p:nvSpPr>
          <p:cNvPr id="20" name="Card 91"/>
          <p:cNvSpPr/>
          <p:nvPr/>
        </p:nvSpPr>
        <p:spPr>
          <a:xfrm>
            <a:off x="7150608" y="1280160"/>
            <a:ext cx="1536192" cy="2103120"/>
          </a:xfrm>
          <a:prstGeom prst="roundRect">
            <a:avLst>
              <a:gd name="adj" fmla="val 4762"/>
            </a:avLst>
          </a:prstGeom>
          <a:solidFill>
            <a:schemeClr val="bg2"/>
          </a:solidFill>
          <a:ln w="12700">
            <a:solidFill>
              <a:schemeClr val="bg2"/>
            </a:solidFill>
            <a:prstDash val="solid"/>
          </a:ln>
        </p:spPr>
      </p:sp>
      <p:sp>
        <p:nvSpPr>
          <p:cNvPr id="21" name="Badge 92"/>
          <p:cNvSpPr/>
          <p:nvPr/>
        </p:nvSpPr>
        <p:spPr>
          <a:xfrm>
            <a:off x="7333488" y="1463040"/>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93"/>
          <p:cNvSpPr txBox="1"/>
          <p:nvPr/>
        </p:nvSpPr>
        <p:spPr>
          <a:xfrm>
            <a:off x="7333488" y="1965960"/>
            <a:ext cx="1170432" cy="502920"/>
          </a:xfrm>
          <a:prstGeom prst="rect">
            <a:avLst/>
          </a:prstGeom>
          <a:noFill/>
          <a:ln/>
        </p:spPr>
        <p:txBody>
          <a:bodyPr wrap="square" lIns="0" tIns="0" rIns="0" bIns="0" rtlCol="0" anchor="t"/>
          <a:lstStyle/>
          <a:p>
            <a:pPr indent="0" marL="0">
              <a:buNone/>
            </a:pPr>
            <a:r>
              <a:rPr lang="en-US" sz="1400" b="1" dirty="0">
                <a:solidFill>
                  <a:schemeClr val="tx1"/>
                </a:solidFill>
              </a:rPr>
              <a:t>Self-check</a:t>
            </a:r>
            <a:endParaRPr lang="en-US" sz="1400" dirty="0"/>
          </a:p>
        </p:txBody>
      </p:sp>
      <p:sp>
        <p:nvSpPr>
          <p:cNvPr id="23" name="Text 94"/>
          <p:cNvSpPr txBox="1"/>
          <p:nvPr/>
        </p:nvSpPr>
        <p:spPr>
          <a:xfrm>
            <a:off x="7333488" y="2468880"/>
            <a:ext cx="1170432" cy="1051560"/>
          </a:xfrm>
          <a:prstGeom prst="rect">
            <a:avLst/>
          </a:prstGeom>
          <a:noFill/>
          <a:ln/>
        </p:spPr>
        <p:txBody>
          <a:bodyPr wrap="square" lIns="0" tIns="0" rIns="0" bIns="0" rtlCol="0" anchor="t"/>
          <a:lstStyle/>
          <a:p>
            <a:pPr indent="0" marL="0">
              <a:buNone/>
            </a:pPr>
            <a:r>
              <a:rPr lang="en-US" sz="1200" dirty="0">
                <a:solidFill>
                  <a:schemeClr val="accent3"/>
                </a:solidFill>
              </a:rPr>
              <a:t>Re-verify every shared slot from the raw coordinates.</a:t>
            </a:r>
            <a:endParaRPr lang="en-US" sz="1200" dirty="0"/>
          </a:p>
        </p:txBody>
      </p:sp>
      <p:sp>
        <p:nvSpPr>
          <p:cNvPr id="24" name="Text 95"/>
          <p:cNvSpPr txBox="1"/>
          <p:nvPr/>
        </p:nvSpPr>
        <p:spPr>
          <a:xfrm>
            <a:off x="457200" y="3703320"/>
            <a:ext cx="8229600" cy="548640"/>
          </a:xfrm>
          <a:prstGeom prst="rect">
            <a:avLst/>
          </a:prstGeom>
          <a:noFill/>
          <a:ln/>
        </p:spPr>
        <p:txBody>
          <a:bodyPr wrap="square" lIns="0" tIns="0" rIns="0" bIns="0" rtlCol="0" anchor="t"/>
          <a:lstStyle/>
          <a:p>
            <a:pPr indent="0" marL="0">
              <a:buNone/>
            </a:pPr>
            <a:r>
              <a:rPr lang="en-US" sz="1400" b="1" dirty="0">
                <a:solidFill>
                  <a:schemeClr val="tx1"/>
                </a:solidFill>
              </a:rPr>
              <a:t>In: </a:t>
            </a:r>
            <a:pPr indent="0" marL="0">
              <a:buNone/>
            </a:pPr>
            <a:r>
              <a:rPr lang="en-US" sz="1400" dirty="0">
                <a:solidFill>
                  <a:schemeClr val="tx1"/>
                </a:solidFill>
              </a:rPr>
              <a:t>JSON coordinates of the radios.    </a:t>
            </a:r>
            <a:pPr indent="0" marL="0">
              <a:buNone/>
            </a:pPr>
            <a:r>
              <a:rPr lang="en-US" sz="1400" b="1" dirty="0">
                <a:solidFill>
                  <a:schemeClr val="tx1"/>
                </a:solidFill>
              </a:rPr>
              <a:t>Out: </a:t>
            </a:r>
            <a:pPr indent="0" marL="0">
              <a:buNone/>
            </a:pPr>
            <a:r>
              <a:rPr lang="en-US" sz="1400" dirty="0">
                <a:solidFill>
                  <a:schemeClr val="tx1"/>
                </a:solidFill>
              </a:rPr>
              <a:t>node-to-slot map, slot x node matrix, frame length, and whether it is optimal.</a:t>
            </a:r>
            <a:endParaRPr lang="en-US" sz="14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Two heuristics, because order decides the slot count</a:t>
            </a:r>
            <a:endParaRPr lang="en-US" sz="2800" dirty="0"/>
          </a:p>
        </p:txBody>
      </p:sp>
      <p:sp>
        <p:nvSpPr>
          <p:cNvPr id="4" name="Card 96"/>
          <p:cNvSpPr/>
          <p:nvPr/>
        </p:nvSpPr>
        <p:spPr>
          <a:xfrm>
            <a:off x="457200" y="1188720"/>
            <a:ext cx="3749040" cy="1188720"/>
          </a:xfrm>
          <a:prstGeom prst="roundRect">
            <a:avLst>
              <a:gd name="adj" fmla="val 6154"/>
            </a:avLst>
          </a:prstGeom>
          <a:solidFill>
            <a:schemeClr val="bg2"/>
          </a:solidFill>
          <a:ln w="12700">
            <a:solidFill>
              <a:schemeClr val="bg2"/>
            </a:solidFill>
            <a:prstDash val="solid"/>
          </a:ln>
        </p:spPr>
      </p:sp>
      <p:sp>
        <p:nvSpPr>
          <p:cNvPr id="5" name="Text 97"/>
          <p:cNvSpPr txBox="1"/>
          <p:nvPr/>
        </p:nvSpPr>
        <p:spPr>
          <a:xfrm>
            <a:off x="685800" y="1298448"/>
            <a:ext cx="3291840" cy="274320"/>
          </a:xfrm>
          <a:prstGeom prst="rect">
            <a:avLst/>
          </a:prstGeom>
          <a:noFill/>
          <a:ln/>
        </p:spPr>
        <p:txBody>
          <a:bodyPr wrap="square" lIns="0" tIns="0" rIns="0" bIns="0" rtlCol="0" anchor="t"/>
          <a:lstStyle/>
          <a:p>
            <a:pPr indent="0" marL="0">
              <a:buNone/>
            </a:pPr>
            <a:r>
              <a:rPr lang="en-US" sz="1400" b="1" dirty="0">
                <a:solidFill>
                  <a:schemeClr val="tx1"/>
                </a:solidFill>
              </a:rPr>
              <a:t>DSATUR</a:t>
            </a:r>
            <a:endParaRPr lang="en-US" sz="1400" dirty="0"/>
          </a:p>
        </p:txBody>
      </p:sp>
      <p:sp>
        <p:nvSpPr>
          <p:cNvPr id="6" name="Text 98"/>
          <p:cNvSpPr txBox="1"/>
          <p:nvPr/>
        </p:nvSpPr>
        <p:spPr>
          <a:xfrm>
            <a:off x="685800" y="1591056"/>
            <a:ext cx="3291840" cy="731520"/>
          </a:xfrm>
          <a:prstGeom prst="rect">
            <a:avLst/>
          </a:prstGeom>
          <a:noFill/>
          <a:ln/>
        </p:spPr>
        <p:txBody>
          <a:bodyPr wrap="square" lIns="0" tIns="0" rIns="0" bIns="0" rtlCol="0" anchor="t"/>
          <a:lstStyle/>
          <a:p>
            <a:pPr indent="0" marL="0">
              <a:buNone/>
            </a:pPr>
            <a:r>
              <a:rPr lang="en-US" sz="1200" dirty="0">
                <a:solidFill>
                  <a:schemeClr val="accent3"/>
                </a:solidFill>
              </a:rPr>
              <a:t>Next node = the one whose conflicting neighbours already hold the most different slots. The order adapts while colouring.</a:t>
            </a:r>
            <a:endParaRPr lang="en-US" sz="1200" dirty="0"/>
          </a:p>
        </p:txBody>
      </p:sp>
      <p:sp>
        <p:nvSpPr>
          <p:cNvPr id="7" name="Card 99"/>
          <p:cNvSpPr/>
          <p:nvPr/>
        </p:nvSpPr>
        <p:spPr>
          <a:xfrm>
            <a:off x="457200" y="2514600"/>
            <a:ext cx="3749040" cy="1051560"/>
          </a:xfrm>
          <a:prstGeom prst="roundRect">
            <a:avLst>
              <a:gd name="adj" fmla="val 6957"/>
            </a:avLst>
          </a:prstGeom>
          <a:solidFill>
            <a:schemeClr val="bg2"/>
          </a:solidFill>
          <a:ln w="12700">
            <a:solidFill>
              <a:schemeClr val="bg2"/>
            </a:solidFill>
            <a:prstDash val="solid"/>
          </a:ln>
        </p:spPr>
      </p:sp>
      <p:sp>
        <p:nvSpPr>
          <p:cNvPr id="8" name="Text 100"/>
          <p:cNvSpPr txBox="1"/>
          <p:nvPr/>
        </p:nvSpPr>
        <p:spPr>
          <a:xfrm>
            <a:off x="685800" y="2624328"/>
            <a:ext cx="3291840" cy="274320"/>
          </a:xfrm>
          <a:prstGeom prst="rect">
            <a:avLst/>
          </a:prstGeom>
          <a:noFill/>
          <a:ln/>
        </p:spPr>
        <p:txBody>
          <a:bodyPr wrap="square" lIns="0" tIns="0" rIns="0" bIns="0" rtlCol="0" anchor="t"/>
          <a:lstStyle/>
          <a:p>
            <a:pPr indent="0" marL="0">
              <a:buNone/>
            </a:pPr>
            <a:r>
              <a:rPr lang="en-US" sz="1400" b="1" dirty="0">
                <a:solidFill>
                  <a:schemeClr val="tx1"/>
                </a:solidFill>
              </a:rPr>
              <a:t>largest_first</a:t>
            </a:r>
            <a:endParaRPr lang="en-US" sz="1400" dirty="0"/>
          </a:p>
        </p:txBody>
      </p:sp>
      <p:sp>
        <p:nvSpPr>
          <p:cNvPr id="9" name="Text 101"/>
          <p:cNvSpPr txBox="1"/>
          <p:nvPr/>
        </p:nvSpPr>
        <p:spPr>
          <a:xfrm>
            <a:off x="685800" y="2916936"/>
            <a:ext cx="3291840" cy="548640"/>
          </a:xfrm>
          <a:prstGeom prst="rect">
            <a:avLst/>
          </a:prstGeom>
          <a:noFill/>
          <a:ln/>
        </p:spPr>
        <p:txBody>
          <a:bodyPr wrap="square" lIns="0" tIns="0" rIns="0" bIns="0" rtlCol="0" anchor="t"/>
          <a:lstStyle/>
          <a:p>
            <a:pPr indent="0" marL="0">
              <a:buNone/>
            </a:pPr>
            <a:r>
              <a:rPr lang="en-US" sz="1200" dirty="0">
                <a:solidFill>
                  <a:schemeClr val="accent3"/>
                </a:solidFill>
              </a:rPr>
              <a:t>Visit nodes by number of conflicts, highest first. The order is fixed up front.</a:t>
            </a:r>
            <a:endParaRPr lang="en-US" sz="1200" dirty="0"/>
          </a:p>
        </p:txBody>
      </p:sp>
      <p:sp>
        <p:nvSpPr>
          <p:cNvPr id="10" name="Text 102"/>
          <p:cNvSpPr txBox="1"/>
          <p:nvPr/>
        </p:nvSpPr>
        <p:spPr>
          <a:xfrm>
            <a:off x="457200" y="3730752"/>
            <a:ext cx="3749040" cy="868680"/>
          </a:xfrm>
          <a:prstGeom prst="rect">
            <a:avLst/>
          </a:prstGeom>
          <a:noFill/>
          <a:ln/>
        </p:spPr>
        <p:txBody>
          <a:bodyPr wrap="square" lIns="0" tIns="0" rIns="0" bIns="0" rtlCol="0" anchor="t"/>
          <a:lstStyle/>
          <a:p>
            <a:pPr indent="0" marL="0">
              <a:buNone/>
            </a:pPr>
            <a:r>
              <a:rPr lang="en-US" sz="2000" b="1" dirty="0">
                <a:solidFill>
                  <a:schemeClr val="tx2"/>
                </a:solidFill>
              </a:rPr>
              <a:t>349 to 481 of 500</a:t>
            </a:r>
            <a:endParaRPr lang="en-US" sz="1400" dirty="0"/>
          </a:p>
          <a:p>
            <a:pPr indent="0" marL="0">
              <a:buNone/>
            </a:pPr>
            <a:r>
              <a:rPr lang="en-US" sz="1200" dirty="0">
                <a:solidFill>
                  <a:schemeClr val="accent3"/>
                </a:solidFill>
              </a:rPr>
              <a:t>random layouts where the best schedule equals the lower bound, so it is provably optimal.</a:t>
            </a:r>
            <a:endParaRPr lang="en-US" sz="1400" dirty="0"/>
          </a:p>
        </p:txBody>
      </p:sp>
      <p:graphicFrame>
        <p:nvGraphicFramePr>
          <p:cNvPr id="11" name="Heuristic chart" descr=""/>
          <p:cNvGraphicFramePr/>
          <p:nvPr/>
        </p:nvGraphicFramePr>
        <p:xfrm>
          <a:off x="4434840" y="1188720"/>
          <a:ext cx="4251960" cy="3383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Result: 9 slots for 16 radios, and 9 is the minimum</a:t>
            </a:r>
            <a:endParaRPr lang="en-US" sz="2800" dirty="0"/>
          </a:p>
        </p:txBody>
      </p:sp>
      <p:sp>
        <p:nvSpPr>
          <p:cNvPr id="4" name="Link 103"/>
          <p:cNvSpPr/>
          <p:nvPr/>
        </p:nvSpPr>
        <p:spPr>
          <a:xfrm>
            <a:off x="868680" y="1463040"/>
            <a:ext cx="853440" cy="0"/>
          </a:xfrm>
          <a:prstGeom prst="line">
            <a:avLst/>
          </a:prstGeom>
          <a:noFill/>
          <a:ln w="9525">
            <a:solidFill>
              <a:schemeClr val="accent5"/>
            </a:solidFill>
            <a:prstDash val="solid"/>
          </a:ln>
        </p:spPr>
      </p:sp>
      <p:sp>
        <p:nvSpPr>
          <p:cNvPr id="5" name="Link 104"/>
          <p:cNvSpPr/>
          <p:nvPr/>
        </p:nvSpPr>
        <p:spPr>
          <a:xfrm>
            <a:off x="868680" y="1463040"/>
            <a:ext cx="0" cy="853440"/>
          </a:xfrm>
          <a:prstGeom prst="line">
            <a:avLst/>
          </a:prstGeom>
          <a:noFill/>
          <a:ln w="9525">
            <a:solidFill>
              <a:schemeClr val="accent5"/>
            </a:solidFill>
            <a:prstDash val="solid"/>
          </a:ln>
        </p:spPr>
      </p:sp>
      <p:sp>
        <p:nvSpPr>
          <p:cNvPr id="6" name="Link 105"/>
          <p:cNvSpPr/>
          <p:nvPr/>
        </p:nvSpPr>
        <p:spPr>
          <a:xfrm>
            <a:off x="868680" y="1463040"/>
            <a:ext cx="853440" cy="853440"/>
          </a:xfrm>
          <a:prstGeom prst="line">
            <a:avLst/>
          </a:prstGeom>
          <a:noFill/>
          <a:ln w="9525">
            <a:solidFill>
              <a:schemeClr val="accent5"/>
            </a:solidFill>
            <a:prstDash val="solid"/>
          </a:ln>
        </p:spPr>
      </p:sp>
      <p:sp>
        <p:nvSpPr>
          <p:cNvPr id="7" name="Link 106"/>
          <p:cNvSpPr/>
          <p:nvPr/>
        </p:nvSpPr>
        <p:spPr>
          <a:xfrm>
            <a:off x="1722120" y="1463040"/>
            <a:ext cx="853440" cy="0"/>
          </a:xfrm>
          <a:prstGeom prst="line">
            <a:avLst/>
          </a:prstGeom>
          <a:noFill/>
          <a:ln w="9525">
            <a:solidFill>
              <a:schemeClr val="accent5"/>
            </a:solidFill>
            <a:prstDash val="solid"/>
          </a:ln>
        </p:spPr>
      </p:sp>
      <p:sp>
        <p:nvSpPr>
          <p:cNvPr id="8" name="Link 107"/>
          <p:cNvSpPr/>
          <p:nvPr/>
        </p:nvSpPr>
        <p:spPr>
          <a:xfrm flipV="1">
            <a:off x="868680" y="1463040"/>
            <a:ext cx="853440" cy="853440"/>
          </a:xfrm>
          <a:prstGeom prst="line">
            <a:avLst/>
          </a:prstGeom>
          <a:noFill/>
          <a:ln w="9525">
            <a:solidFill>
              <a:schemeClr val="accent5"/>
            </a:solidFill>
            <a:prstDash val="solid"/>
          </a:ln>
        </p:spPr>
      </p:sp>
      <p:sp>
        <p:nvSpPr>
          <p:cNvPr id="9" name="Link 108"/>
          <p:cNvSpPr/>
          <p:nvPr/>
        </p:nvSpPr>
        <p:spPr>
          <a:xfrm>
            <a:off x="1722120" y="1463040"/>
            <a:ext cx="0" cy="853440"/>
          </a:xfrm>
          <a:prstGeom prst="line">
            <a:avLst/>
          </a:prstGeom>
          <a:noFill/>
          <a:ln w="9525">
            <a:solidFill>
              <a:schemeClr val="accent5"/>
            </a:solidFill>
            <a:prstDash val="solid"/>
          </a:ln>
        </p:spPr>
      </p:sp>
      <p:sp>
        <p:nvSpPr>
          <p:cNvPr id="10" name="Link 109"/>
          <p:cNvSpPr/>
          <p:nvPr/>
        </p:nvSpPr>
        <p:spPr>
          <a:xfrm>
            <a:off x="1722120" y="1463040"/>
            <a:ext cx="853440" cy="853440"/>
          </a:xfrm>
          <a:prstGeom prst="line">
            <a:avLst/>
          </a:prstGeom>
          <a:noFill/>
          <a:ln w="9525">
            <a:solidFill>
              <a:schemeClr val="accent5"/>
            </a:solidFill>
            <a:prstDash val="solid"/>
          </a:ln>
        </p:spPr>
      </p:sp>
      <p:sp>
        <p:nvSpPr>
          <p:cNvPr id="11" name="Link 110"/>
          <p:cNvSpPr/>
          <p:nvPr/>
        </p:nvSpPr>
        <p:spPr>
          <a:xfrm>
            <a:off x="2575560" y="1463040"/>
            <a:ext cx="853440" cy="0"/>
          </a:xfrm>
          <a:prstGeom prst="line">
            <a:avLst/>
          </a:prstGeom>
          <a:noFill/>
          <a:ln w="9525">
            <a:solidFill>
              <a:schemeClr val="accent5"/>
            </a:solidFill>
            <a:prstDash val="solid"/>
          </a:ln>
        </p:spPr>
      </p:sp>
      <p:sp>
        <p:nvSpPr>
          <p:cNvPr id="12" name="Link 111"/>
          <p:cNvSpPr/>
          <p:nvPr/>
        </p:nvSpPr>
        <p:spPr>
          <a:xfrm flipV="1">
            <a:off x="1722120" y="1463040"/>
            <a:ext cx="853440" cy="853440"/>
          </a:xfrm>
          <a:prstGeom prst="line">
            <a:avLst/>
          </a:prstGeom>
          <a:noFill/>
          <a:ln w="9525">
            <a:solidFill>
              <a:schemeClr val="accent5"/>
            </a:solidFill>
            <a:prstDash val="solid"/>
          </a:ln>
        </p:spPr>
      </p:sp>
      <p:sp>
        <p:nvSpPr>
          <p:cNvPr id="13" name="Link 112"/>
          <p:cNvSpPr/>
          <p:nvPr/>
        </p:nvSpPr>
        <p:spPr>
          <a:xfrm>
            <a:off x="2575560" y="1463040"/>
            <a:ext cx="0" cy="853440"/>
          </a:xfrm>
          <a:prstGeom prst="line">
            <a:avLst/>
          </a:prstGeom>
          <a:noFill/>
          <a:ln w="9525">
            <a:solidFill>
              <a:schemeClr val="accent5"/>
            </a:solidFill>
            <a:prstDash val="solid"/>
          </a:ln>
        </p:spPr>
      </p:sp>
      <p:sp>
        <p:nvSpPr>
          <p:cNvPr id="14" name="Link 113"/>
          <p:cNvSpPr/>
          <p:nvPr/>
        </p:nvSpPr>
        <p:spPr>
          <a:xfrm>
            <a:off x="2575560" y="1463040"/>
            <a:ext cx="853440" cy="853440"/>
          </a:xfrm>
          <a:prstGeom prst="line">
            <a:avLst/>
          </a:prstGeom>
          <a:noFill/>
          <a:ln w="9525">
            <a:solidFill>
              <a:schemeClr val="accent5"/>
            </a:solidFill>
            <a:prstDash val="solid"/>
          </a:ln>
        </p:spPr>
      </p:sp>
      <p:sp>
        <p:nvSpPr>
          <p:cNvPr id="15" name="Link 114"/>
          <p:cNvSpPr/>
          <p:nvPr/>
        </p:nvSpPr>
        <p:spPr>
          <a:xfrm flipV="1">
            <a:off x="2575560" y="1463040"/>
            <a:ext cx="853440" cy="853440"/>
          </a:xfrm>
          <a:prstGeom prst="line">
            <a:avLst/>
          </a:prstGeom>
          <a:noFill/>
          <a:ln w="9525">
            <a:solidFill>
              <a:schemeClr val="accent5"/>
            </a:solidFill>
            <a:prstDash val="solid"/>
          </a:ln>
        </p:spPr>
      </p:sp>
      <p:sp>
        <p:nvSpPr>
          <p:cNvPr id="16" name="Link 115"/>
          <p:cNvSpPr/>
          <p:nvPr/>
        </p:nvSpPr>
        <p:spPr>
          <a:xfrm>
            <a:off x="3429000" y="1463040"/>
            <a:ext cx="0" cy="853440"/>
          </a:xfrm>
          <a:prstGeom prst="line">
            <a:avLst/>
          </a:prstGeom>
          <a:noFill/>
          <a:ln w="9525">
            <a:solidFill>
              <a:schemeClr val="accent5"/>
            </a:solidFill>
            <a:prstDash val="solid"/>
          </a:ln>
        </p:spPr>
      </p:sp>
      <p:sp>
        <p:nvSpPr>
          <p:cNvPr id="17" name="Link 116"/>
          <p:cNvSpPr/>
          <p:nvPr/>
        </p:nvSpPr>
        <p:spPr>
          <a:xfrm>
            <a:off x="868680" y="2316480"/>
            <a:ext cx="853440" cy="0"/>
          </a:xfrm>
          <a:prstGeom prst="line">
            <a:avLst/>
          </a:prstGeom>
          <a:noFill/>
          <a:ln w="9525">
            <a:solidFill>
              <a:schemeClr val="accent5"/>
            </a:solidFill>
            <a:prstDash val="solid"/>
          </a:ln>
        </p:spPr>
      </p:sp>
      <p:sp>
        <p:nvSpPr>
          <p:cNvPr id="18" name="Link 117"/>
          <p:cNvSpPr/>
          <p:nvPr/>
        </p:nvSpPr>
        <p:spPr>
          <a:xfrm>
            <a:off x="868680" y="2316480"/>
            <a:ext cx="0" cy="853440"/>
          </a:xfrm>
          <a:prstGeom prst="line">
            <a:avLst/>
          </a:prstGeom>
          <a:noFill/>
          <a:ln w="9525">
            <a:solidFill>
              <a:schemeClr val="accent5"/>
            </a:solidFill>
            <a:prstDash val="solid"/>
          </a:ln>
        </p:spPr>
      </p:sp>
      <p:sp>
        <p:nvSpPr>
          <p:cNvPr id="19" name="Link 118"/>
          <p:cNvSpPr/>
          <p:nvPr/>
        </p:nvSpPr>
        <p:spPr>
          <a:xfrm>
            <a:off x="868680" y="2316480"/>
            <a:ext cx="853440" cy="853440"/>
          </a:xfrm>
          <a:prstGeom prst="line">
            <a:avLst/>
          </a:prstGeom>
          <a:noFill/>
          <a:ln w="9525">
            <a:solidFill>
              <a:schemeClr val="accent5"/>
            </a:solidFill>
            <a:prstDash val="solid"/>
          </a:ln>
        </p:spPr>
      </p:sp>
      <p:sp>
        <p:nvSpPr>
          <p:cNvPr id="20" name="Link 119"/>
          <p:cNvSpPr/>
          <p:nvPr/>
        </p:nvSpPr>
        <p:spPr>
          <a:xfrm>
            <a:off x="1722120" y="2316480"/>
            <a:ext cx="853440" cy="0"/>
          </a:xfrm>
          <a:prstGeom prst="line">
            <a:avLst/>
          </a:prstGeom>
          <a:noFill/>
          <a:ln w="9525">
            <a:solidFill>
              <a:schemeClr val="accent5"/>
            </a:solidFill>
            <a:prstDash val="solid"/>
          </a:ln>
        </p:spPr>
      </p:sp>
      <p:sp>
        <p:nvSpPr>
          <p:cNvPr id="21" name="Link 120"/>
          <p:cNvSpPr/>
          <p:nvPr/>
        </p:nvSpPr>
        <p:spPr>
          <a:xfrm flipV="1">
            <a:off x="868680" y="2316480"/>
            <a:ext cx="853440" cy="853440"/>
          </a:xfrm>
          <a:prstGeom prst="line">
            <a:avLst/>
          </a:prstGeom>
          <a:noFill/>
          <a:ln w="9525">
            <a:solidFill>
              <a:schemeClr val="accent5"/>
            </a:solidFill>
            <a:prstDash val="solid"/>
          </a:ln>
        </p:spPr>
      </p:sp>
      <p:sp>
        <p:nvSpPr>
          <p:cNvPr id="22" name="Link 121"/>
          <p:cNvSpPr/>
          <p:nvPr/>
        </p:nvSpPr>
        <p:spPr>
          <a:xfrm>
            <a:off x="1722120" y="2316480"/>
            <a:ext cx="0" cy="853440"/>
          </a:xfrm>
          <a:prstGeom prst="line">
            <a:avLst/>
          </a:prstGeom>
          <a:noFill/>
          <a:ln w="9525">
            <a:solidFill>
              <a:schemeClr val="accent5"/>
            </a:solidFill>
            <a:prstDash val="solid"/>
          </a:ln>
        </p:spPr>
      </p:sp>
      <p:sp>
        <p:nvSpPr>
          <p:cNvPr id="23" name="Link 122"/>
          <p:cNvSpPr/>
          <p:nvPr/>
        </p:nvSpPr>
        <p:spPr>
          <a:xfrm>
            <a:off x="1722120" y="2316480"/>
            <a:ext cx="853440" cy="853440"/>
          </a:xfrm>
          <a:prstGeom prst="line">
            <a:avLst/>
          </a:prstGeom>
          <a:noFill/>
          <a:ln w="9525">
            <a:solidFill>
              <a:schemeClr val="accent5"/>
            </a:solidFill>
            <a:prstDash val="solid"/>
          </a:ln>
        </p:spPr>
      </p:sp>
      <p:sp>
        <p:nvSpPr>
          <p:cNvPr id="24" name="Link 123"/>
          <p:cNvSpPr/>
          <p:nvPr/>
        </p:nvSpPr>
        <p:spPr>
          <a:xfrm>
            <a:off x="2575560" y="2316480"/>
            <a:ext cx="853440" cy="0"/>
          </a:xfrm>
          <a:prstGeom prst="line">
            <a:avLst/>
          </a:prstGeom>
          <a:noFill/>
          <a:ln w="9525">
            <a:solidFill>
              <a:schemeClr val="accent5"/>
            </a:solidFill>
            <a:prstDash val="solid"/>
          </a:ln>
        </p:spPr>
      </p:sp>
      <p:sp>
        <p:nvSpPr>
          <p:cNvPr id="25" name="Link 124"/>
          <p:cNvSpPr/>
          <p:nvPr/>
        </p:nvSpPr>
        <p:spPr>
          <a:xfrm flipV="1">
            <a:off x="1722120" y="2316480"/>
            <a:ext cx="853440" cy="853440"/>
          </a:xfrm>
          <a:prstGeom prst="line">
            <a:avLst/>
          </a:prstGeom>
          <a:noFill/>
          <a:ln w="9525">
            <a:solidFill>
              <a:schemeClr val="accent5"/>
            </a:solidFill>
            <a:prstDash val="solid"/>
          </a:ln>
        </p:spPr>
      </p:sp>
      <p:sp>
        <p:nvSpPr>
          <p:cNvPr id="26" name="Link 125"/>
          <p:cNvSpPr/>
          <p:nvPr/>
        </p:nvSpPr>
        <p:spPr>
          <a:xfrm>
            <a:off x="2575560" y="2316480"/>
            <a:ext cx="0" cy="853440"/>
          </a:xfrm>
          <a:prstGeom prst="line">
            <a:avLst/>
          </a:prstGeom>
          <a:noFill/>
          <a:ln w="9525">
            <a:solidFill>
              <a:schemeClr val="accent5"/>
            </a:solidFill>
            <a:prstDash val="solid"/>
          </a:ln>
        </p:spPr>
      </p:sp>
      <p:sp>
        <p:nvSpPr>
          <p:cNvPr id="27" name="Link 126"/>
          <p:cNvSpPr/>
          <p:nvPr/>
        </p:nvSpPr>
        <p:spPr>
          <a:xfrm>
            <a:off x="2575560" y="2316480"/>
            <a:ext cx="853440" cy="853440"/>
          </a:xfrm>
          <a:prstGeom prst="line">
            <a:avLst/>
          </a:prstGeom>
          <a:noFill/>
          <a:ln w="9525">
            <a:solidFill>
              <a:schemeClr val="accent5"/>
            </a:solidFill>
            <a:prstDash val="solid"/>
          </a:ln>
        </p:spPr>
      </p:sp>
      <p:sp>
        <p:nvSpPr>
          <p:cNvPr id="28" name="Link 127"/>
          <p:cNvSpPr/>
          <p:nvPr/>
        </p:nvSpPr>
        <p:spPr>
          <a:xfrm flipV="1">
            <a:off x="2575560" y="2316480"/>
            <a:ext cx="853440" cy="853440"/>
          </a:xfrm>
          <a:prstGeom prst="line">
            <a:avLst/>
          </a:prstGeom>
          <a:noFill/>
          <a:ln w="9525">
            <a:solidFill>
              <a:schemeClr val="accent5"/>
            </a:solidFill>
            <a:prstDash val="solid"/>
          </a:ln>
        </p:spPr>
      </p:sp>
      <p:sp>
        <p:nvSpPr>
          <p:cNvPr id="29" name="Link 128"/>
          <p:cNvSpPr/>
          <p:nvPr/>
        </p:nvSpPr>
        <p:spPr>
          <a:xfrm>
            <a:off x="3429000" y="2316480"/>
            <a:ext cx="0" cy="853440"/>
          </a:xfrm>
          <a:prstGeom prst="line">
            <a:avLst/>
          </a:prstGeom>
          <a:noFill/>
          <a:ln w="9525">
            <a:solidFill>
              <a:schemeClr val="accent5"/>
            </a:solidFill>
            <a:prstDash val="solid"/>
          </a:ln>
        </p:spPr>
      </p:sp>
      <p:sp>
        <p:nvSpPr>
          <p:cNvPr id="30" name="Link 129"/>
          <p:cNvSpPr/>
          <p:nvPr/>
        </p:nvSpPr>
        <p:spPr>
          <a:xfrm>
            <a:off x="868680" y="3169920"/>
            <a:ext cx="853440" cy="0"/>
          </a:xfrm>
          <a:prstGeom prst="line">
            <a:avLst/>
          </a:prstGeom>
          <a:noFill/>
          <a:ln w="9525">
            <a:solidFill>
              <a:schemeClr val="accent5"/>
            </a:solidFill>
            <a:prstDash val="solid"/>
          </a:ln>
        </p:spPr>
      </p:sp>
      <p:sp>
        <p:nvSpPr>
          <p:cNvPr id="31" name="Link 130"/>
          <p:cNvSpPr/>
          <p:nvPr/>
        </p:nvSpPr>
        <p:spPr>
          <a:xfrm>
            <a:off x="868680" y="3169920"/>
            <a:ext cx="0" cy="853440"/>
          </a:xfrm>
          <a:prstGeom prst="line">
            <a:avLst/>
          </a:prstGeom>
          <a:noFill/>
          <a:ln w="9525">
            <a:solidFill>
              <a:schemeClr val="accent5"/>
            </a:solidFill>
            <a:prstDash val="solid"/>
          </a:ln>
        </p:spPr>
      </p:sp>
      <p:sp>
        <p:nvSpPr>
          <p:cNvPr id="32" name="Link 131"/>
          <p:cNvSpPr/>
          <p:nvPr/>
        </p:nvSpPr>
        <p:spPr>
          <a:xfrm>
            <a:off x="868680" y="3169920"/>
            <a:ext cx="853440" cy="853440"/>
          </a:xfrm>
          <a:prstGeom prst="line">
            <a:avLst/>
          </a:prstGeom>
          <a:noFill/>
          <a:ln w="9525">
            <a:solidFill>
              <a:schemeClr val="accent5"/>
            </a:solidFill>
            <a:prstDash val="solid"/>
          </a:ln>
        </p:spPr>
      </p:sp>
      <p:sp>
        <p:nvSpPr>
          <p:cNvPr id="33" name="Link 132"/>
          <p:cNvSpPr/>
          <p:nvPr/>
        </p:nvSpPr>
        <p:spPr>
          <a:xfrm>
            <a:off x="1722120" y="3169920"/>
            <a:ext cx="853440" cy="0"/>
          </a:xfrm>
          <a:prstGeom prst="line">
            <a:avLst/>
          </a:prstGeom>
          <a:noFill/>
          <a:ln w="9525">
            <a:solidFill>
              <a:schemeClr val="accent5"/>
            </a:solidFill>
            <a:prstDash val="solid"/>
          </a:ln>
        </p:spPr>
      </p:sp>
      <p:sp>
        <p:nvSpPr>
          <p:cNvPr id="34" name="Link 133"/>
          <p:cNvSpPr/>
          <p:nvPr/>
        </p:nvSpPr>
        <p:spPr>
          <a:xfrm flipV="1">
            <a:off x="868680" y="3169920"/>
            <a:ext cx="853440" cy="853440"/>
          </a:xfrm>
          <a:prstGeom prst="line">
            <a:avLst/>
          </a:prstGeom>
          <a:noFill/>
          <a:ln w="9525">
            <a:solidFill>
              <a:schemeClr val="accent5"/>
            </a:solidFill>
            <a:prstDash val="solid"/>
          </a:ln>
        </p:spPr>
      </p:sp>
      <p:sp>
        <p:nvSpPr>
          <p:cNvPr id="35" name="Link 134"/>
          <p:cNvSpPr/>
          <p:nvPr/>
        </p:nvSpPr>
        <p:spPr>
          <a:xfrm>
            <a:off x="1722120" y="3169920"/>
            <a:ext cx="0" cy="853440"/>
          </a:xfrm>
          <a:prstGeom prst="line">
            <a:avLst/>
          </a:prstGeom>
          <a:noFill/>
          <a:ln w="9525">
            <a:solidFill>
              <a:schemeClr val="accent5"/>
            </a:solidFill>
            <a:prstDash val="solid"/>
          </a:ln>
        </p:spPr>
      </p:sp>
      <p:sp>
        <p:nvSpPr>
          <p:cNvPr id="36" name="Link 135"/>
          <p:cNvSpPr/>
          <p:nvPr/>
        </p:nvSpPr>
        <p:spPr>
          <a:xfrm>
            <a:off x="1722120" y="3169920"/>
            <a:ext cx="853440" cy="853440"/>
          </a:xfrm>
          <a:prstGeom prst="line">
            <a:avLst/>
          </a:prstGeom>
          <a:noFill/>
          <a:ln w="9525">
            <a:solidFill>
              <a:schemeClr val="accent5"/>
            </a:solidFill>
            <a:prstDash val="solid"/>
          </a:ln>
        </p:spPr>
      </p:sp>
      <p:sp>
        <p:nvSpPr>
          <p:cNvPr id="37" name="Link 136"/>
          <p:cNvSpPr/>
          <p:nvPr/>
        </p:nvSpPr>
        <p:spPr>
          <a:xfrm>
            <a:off x="2575560" y="3169920"/>
            <a:ext cx="853440" cy="0"/>
          </a:xfrm>
          <a:prstGeom prst="line">
            <a:avLst/>
          </a:prstGeom>
          <a:noFill/>
          <a:ln w="9525">
            <a:solidFill>
              <a:schemeClr val="accent5"/>
            </a:solidFill>
            <a:prstDash val="solid"/>
          </a:ln>
        </p:spPr>
      </p:sp>
      <p:sp>
        <p:nvSpPr>
          <p:cNvPr id="38" name="Link 137"/>
          <p:cNvSpPr/>
          <p:nvPr/>
        </p:nvSpPr>
        <p:spPr>
          <a:xfrm flipV="1">
            <a:off x="1722120" y="3169920"/>
            <a:ext cx="853440" cy="853440"/>
          </a:xfrm>
          <a:prstGeom prst="line">
            <a:avLst/>
          </a:prstGeom>
          <a:noFill/>
          <a:ln w="9525">
            <a:solidFill>
              <a:schemeClr val="accent5"/>
            </a:solidFill>
            <a:prstDash val="solid"/>
          </a:ln>
        </p:spPr>
      </p:sp>
      <p:sp>
        <p:nvSpPr>
          <p:cNvPr id="39" name="Link 138"/>
          <p:cNvSpPr/>
          <p:nvPr/>
        </p:nvSpPr>
        <p:spPr>
          <a:xfrm>
            <a:off x="2575560" y="3169920"/>
            <a:ext cx="0" cy="853440"/>
          </a:xfrm>
          <a:prstGeom prst="line">
            <a:avLst/>
          </a:prstGeom>
          <a:noFill/>
          <a:ln w="9525">
            <a:solidFill>
              <a:schemeClr val="accent5"/>
            </a:solidFill>
            <a:prstDash val="solid"/>
          </a:ln>
        </p:spPr>
      </p:sp>
      <p:sp>
        <p:nvSpPr>
          <p:cNvPr id="40" name="Link 139"/>
          <p:cNvSpPr/>
          <p:nvPr/>
        </p:nvSpPr>
        <p:spPr>
          <a:xfrm>
            <a:off x="2575560" y="3169920"/>
            <a:ext cx="853440" cy="853440"/>
          </a:xfrm>
          <a:prstGeom prst="line">
            <a:avLst/>
          </a:prstGeom>
          <a:noFill/>
          <a:ln w="9525">
            <a:solidFill>
              <a:schemeClr val="accent5"/>
            </a:solidFill>
            <a:prstDash val="solid"/>
          </a:ln>
        </p:spPr>
      </p:sp>
      <p:sp>
        <p:nvSpPr>
          <p:cNvPr id="41" name="Link 140"/>
          <p:cNvSpPr/>
          <p:nvPr/>
        </p:nvSpPr>
        <p:spPr>
          <a:xfrm flipV="1">
            <a:off x="2575560" y="3169920"/>
            <a:ext cx="853440" cy="853440"/>
          </a:xfrm>
          <a:prstGeom prst="line">
            <a:avLst/>
          </a:prstGeom>
          <a:noFill/>
          <a:ln w="9525">
            <a:solidFill>
              <a:schemeClr val="accent5"/>
            </a:solidFill>
            <a:prstDash val="solid"/>
          </a:ln>
        </p:spPr>
      </p:sp>
      <p:sp>
        <p:nvSpPr>
          <p:cNvPr id="42" name="Link 141"/>
          <p:cNvSpPr/>
          <p:nvPr/>
        </p:nvSpPr>
        <p:spPr>
          <a:xfrm>
            <a:off x="3429000" y="3169920"/>
            <a:ext cx="0" cy="853440"/>
          </a:xfrm>
          <a:prstGeom prst="line">
            <a:avLst/>
          </a:prstGeom>
          <a:noFill/>
          <a:ln w="9525">
            <a:solidFill>
              <a:schemeClr val="accent5"/>
            </a:solidFill>
            <a:prstDash val="solid"/>
          </a:ln>
        </p:spPr>
      </p:sp>
      <p:sp>
        <p:nvSpPr>
          <p:cNvPr id="43" name="Link 142"/>
          <p:cNvSpPr/>
          <p:nvPr/>
        </p:nvSpPr>
        <p:spPr>
          <a:xfrm>
            <a:off x="868680" y="4023360"/>
            <a:ext cx="853440" cy="0"/>
          </a:xfrm>
          <a:prstGeom prst="line">
            <a:avLst/>
          </a:prstGeom>
          <a:noFill/>
          <a:ln w="9525">
            <a:solidFill>
              <a:schemeClr val="accent5"/>
            </a:solidFill>
            <a:prstDash val="solid"/>
          </a:ln>
        </p:spPr>
      </p:sp>
      <p:sp>
        <p:nvSpPr>
          <p:cNvPr id="44" name="Link 143"/>
          <p:cNvSpPr/>
          <p:nvPr/>
        </p:nvSpPr>
        <p:spPr>
          <a:xfrm>
            <a:off x="1722120" y="4023360"/>
            <a:ext cx="853440" cy="0"/>
          </a:xfrm>
          <a:prstGeom prst="line">
            <a:avLst/>
          </a:prstGeom>
          <a:noFill/>
          <a:ln w="9525">
            <a:solidFill>
              <a:schemeClr val="accent5"/>
            </a:solidFill>
            <a:prstDash val="solid"/>
          </a:ln>
        </p:spPr>
      </p:sp>
      <p:sp>
        <p:nvSpPr>
          <p:cNvPr id="45" name="Link 144"/>
          <p:cNvSpPr/>
          <p:nvPr/>
        </p:nvSpPr>
        <p:spPr>
          <a:xfrm>
            <a:off x="2575560" y="4023360"/>
            <a:ext cx="853440" cy="0"/>
          </a:xfrm>
          <a:prstGeom prst="line">
            <a:avLst/>
          </a:prstGeom>
          <a:noFill/>
          <a:ln w="9525">
            <a:solidFill>
              <a:schemeClr val="accent5"/>
            </a:solidFill>
            <a:prstDash val="solid"/>
          </a:ln>
        </p:spPr>
      </p:sp>
      <p:sp>
        <p:nvSpPr>
          <p:cNvPr id="46" name="Radio 145"/>
          <p:cNvSpPr/>
          <p:nvPr/>
        </p:nvSpPr>
        <p:spPr>
          <a:xfrm>
            <a:off x="64008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47" name="Radio 146"/>
          <p:cNvSpPr/>
          <p:nvPr/>
        </p:nvSpPr>
        <p:spPr>
          <a:xfrm>
            <a:off x="149352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48" name="Radio 147"/>
          <p:cNvSpPr/>
          <p:nvPr/>
        </p:nvSpPr>
        <p:spPr>
          <a:xfrm>
            <a:off x="234696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9" name="Radio 148"/>
          <p:cNvSpPr/>
          <p:nvPr/>
        </p:nvSpPr>
        <p:spPr>
          <a:xfrm>
            <a:off x="320040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50" name="Radio 149"/>
          <p:cNvSpPr/>
          <p:nvPr/>
        </p:nvSpPr>
        <p:spPr>
          <a:xfrm>
            <a:off x="64008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1" name="Radio 150"/>
          <p:cNvSpPr/>
          <p:nvPr/>
        </p:nvSpPr>
        <p:spPr>
          <a:xfrm>
            <a:off x="149352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52" name="Radio 151"/>
          <p:cNvSpPr/>
          <p:nvPr/>
        </p:nvSpPr>
        <p:spPr>
          <a:xfrm>
            <a:off x="234696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53" name="Radio 152"/>
          <p:cNvSpPr/>
          <p:nvPr/>
        </p:nvSpPr>
        <p:spPr>
          <a:xfrm>
            <a:off x="320040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4" name="Radio 153"/>
          <p:cNvSpPr/>
          <p:nvPr/>
        </p:nvSpPr>
        <p:spPr>
          <a:xfrm>
            <a:off x="64008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5" name="Radio 154"/>
          <p:cNvSpPr/>
          <p:nvPr/>
        </p:nvSpPr>
        <p:spPr>
          <a:xfrm>
            <a:off x="149352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56" name="Radio 155"/>
          <p:cNvSpPr/>
          <p:nvPr/>
        </p:nvSpPr>
        <p:spPr>
          <a:xfrm>
            <a:off x="234696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400" b="1" dirty="0">
                <a:solidFill>
                  <a:schemeClr val="tx1"/>
                </a:solidFill>
              </a:rPr>
              <a:t>8</a:t>
            </a:r>
            <a:endParaRPr lang="en-US" sz="1400" dirty="0"/>
          </a:p>
        </p:txBody>
      </p:sp>
      <p:sp>
        <p:nvSpPr>
          <p:cNvPr id="57" name="Radio 156"/>
          <p:cNvSpPr/>
          <p:nvPr/>
        </p:nvSpPr>
        <p:spPr>
          <a:xfrm>
            <a:off x="320040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8" name="Radio 157"/>
          <p:cNvSpPr/>
          <p:nvPr/>
        </p:nvSpPr>
        <p:spPr>
          <a:xfrm>
            <a:off x="64008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59" name="Radio 158"/>
          <p:cNvSpPr/>
          <p:nvPr/>
        </p:nvSpPr>
        <p:spPr>
          <a:xfrm>
            <a:off x="149352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0" name="Radio 159"/>
          <p:cNvSpPr/>
          <p:nvPr/>
        </p:nvSpPr>
        <p:spPr>
          <a:xfrm>
            <a:off x="234696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1" name="Radio 160"/>
          <p:cNvSpPr/>
          <p:nvPr/>
        </p:nvSpPr>
        <p:spPr>
          <a:xfrm>
            <a:off x="3200400" y="379476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400" b="1" dirty="0">
                <a:solidFill>
                  <a:schemeClr val="bg1"/>
                </a:solidFill>
              </a:rPr>
              <a:t>0</a:t>
            </a:r>
            <a:endParaRPr lang="en-US" sz="1400" dirty="0"/>
          </a:p>
        </p:txBody>
      </p:sp>
      <p:sp>
        <p:nvSpPr>
          <p:cNvPr id="62" name="Radio 161"/>
          <p:cNvSpPr/>
          <p:nvPr/>
        </p:nvSpPr>
        <p:spPr>
          <a:xfrm>
            <a:off x="667512" y="4416552"/>
            <a:ext cx="164592" cy="164592"/>
          </a:xfrm>
          <a:prstGeom prst="ellipse">
            <a:avLst/>
          </a:prstGeom>
          <a:solidFill>
            <a:schemeClr val="accent1"/>
          </a:solidFill>
          <a:ln w="19050">
            <a:solidFill>
              <a:schemeClr val="bg1"/>
            </a:solidFill>
          </a:ln>
        </p:spPr>
        <p:txBody>
          <a:bodyPr wrap="square" lIns="0" tIns="0" rIns="0" bIns="0" rtlCol="0" anchor="ctr"/>
          <a:lstStyle/>
          <a:p>
            <a:pPr algn="ctr" indent="0" marL="0">
              <a:buNone/>
            </a:pPr>
            <a:endParaRPr lang="en-US" sz="600" dirty="0"/>
          </a:p>
        </p:txBody>
      </p:sp>
      <p:sp>
        <p:nvSpPr>
          <p:cNvPr id="63" name="Text 162"/>
          <p:cNvSpPr txBox="1"/>
          <p:nvPr/>
        </p:nvSpPr>
        <p:spPr>
          <a:xfrm>
            <a:off x="914400" y="4407408"/>
            <a:ext cx="1737360" cy="201168"/>
          </a:xfrm>
          <a:prstGeom prst="rect">
            <a:avLst/>
          </a:prstGeom>
          <a:noFill/>
          <a:ln/>
        </p:spPr>
        <p:txBody>
          <a:bodyPr wrap="square" lIns="0" tIns="0" rIns="0" bIns="0" rtlCol="0" anchor="t"/>
          <a:lstStyle/>
          <a:p>
            <a:pPr indent="0" marL="0">
              <a:buNone/>
            </a:pPr>
            <a:r>
              <a:rPr lang="en-US" sz="1000" dirty="0">
                <a:solidFill>
                  <a:schemeClr val="accent3"/>
                </a:solidFill>
              </a:rPr>
              <a:t>slot shared (spatial reuse)</a:t>
            </a:r>
            <a:endParaRPr lang="en-US" sz="1000" dirty="0"/>
          </a:p>
        </p:txBody>
      </p:sp>
      <p:sp>
        <p:nvSpPr>
          <p:cNvPr id="64" name="Radio 163"/>
          <p:cNvSpPr/>
          <p:nvPr/>
        </p:nvSpPr>
        <p:spPr>
          <a:xfrm>
            <a:off x="2679192" y="4416552"/>
            <a:ext cx="164592" cy="164592"/>
          </a:xfrm>
          <a:prstGeom prst="ellipse">
            <a:avLst/>
          </a:prstGeom>
          <a:solidFill>
            <a:schemeClr val="accent5"/>
          </a:solidFill>
          <a:ln w="19050">
            <a:solidFill>
              <a:schemeClr val="bg1"/>
            </a:solidFill>
          </a:ln>
        </p:spPr>
        <p:txBody>
          <a:bodyPr wrap="square" lIns="0" tIns="0" rIns="0" bIns="0" rtlCol="0" anchor="ctr"/>
          <a:lstStyle/>
          <a:p>
            <a:pPr algn="ctr" indent="0" marL="0">
              <a:buNone/>
            </a:pPr>
            <a:endParaRPr lang="en-US" sz="600" dirty="0"/>
          </a:p>
        </p:txBody>
      </p:sp>
      <p:sp>
        <p:nvSpPr>
          <p:cNvPr id="65" name="Text 164"/>
          <p:cNvSpPr txBox="1"/>
          <p:nvPr/>
        </p:nvSpPr>
        <p:spPr>
          <a:xfrm>
            <a:off x="2926080" y="4407408"/>
            <a:ext cx="1188720" cy="201168"/>
          </a:xfrm>
          <a:prstGeom prst="rect">
            <a:avLst/>
          </a:prstGeom>
          <a:noFill/>
          <a:ln/>
        </p:spPr>
        <p:txBody>
          <a:bodyPr wrap="square" lIns="0" tIns="0" rIns="0" bIns="0" rtlCol="0" anchor="t"/>
          <a:lstStyle/>
          <a:p>
            <a:pPr indent="0" marL="0">
              <a:buNone/>
            </a:pPr>
            <a:r>
              <a:rPr lang="en-US" sz="1000" dirty="0">
                <a:solidFill>
                  <a:schemeClr val="accent3"/>
                </a:solidFill>
              </a:rPr>
              <a:t>slot used once</a:t>
            </a:r>
            <a:endParaRPr lang="en-US" sz="1000" dirty="0"/>
          </a:p>
        </p:txBody>
      </p:sp>
      <p:sp>
        <p:nvSpPr>
          <p:cNvPr id="66" name="Card 165"/>
          <p:cNvSpPr/>
          <p:nvPr/>
        </p:nvSpPr>
        <p:spPr>
          <a:xfrm>
            <a:off x="4434840" y="1188720"/>
            <a:ext cx="4251960" cy="978408"/>
          </a:xfrm>
          <a:prstGeom prst="roundRect">
            <a:avLst>
              <a:gd name="adj" fmla="val 7477"/>
            </a:avLst>
          </a:prstGeom>
          <a:solidFill>
            <a:schemeClr val="bg2"/>
          </a:solidFill>
          <a:ln w="12700">
            <a:solidFill>
              <a:schemeClr val="bg2"/>
            </a:solidFill>
            <a:prstDash val="solid"/>
          </a:ln>
        </p:spPr>
      </p:sp>
      <p:sp>
        <p:nvSpPr>
          <p:cNvPr id="67" name="Text 166"/>
          <p:cNvSpPr txBox="1"/>
          <p:nvPr/>
        </p:nvSpPr>
        <p:spPr>
          <a:xfrm>
            <a:off x="4617720" y="1261872"/>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9</a:t>
            </a:r>
            <a:endParaRPr lang="en-US" sz="4400" dirty="0"/>
          </a:p>
        </p:txBody>
      </p:sp>
      <p:sp>
        <p:nvSpPr>
          <p:cNvPr id="68" name="Text 167"/>
          <p:cNvSpPr txBox="1"/>
          <p:nvPr/>
        </p:nvSpPr>
        <p:spPr>
          <a:xfrm>
            <a:off x="5577840" y="1316736"/>
            <a:ext cx="2926080" cy="274320"/>
          </a:xfrm>
          <a:prstGeom prst="rect">
            <a:avLst/>
          </a:prstGeom>
          <a:noFill/>
          <a:ln/>
        </p:spPr>
        <p:txBody>
          <a:bodyPr wrap="square" lIns="0" tIns="0" rIns="0" bIns="0" rtlCol="0" anchor="t"/>
          <a:lstStyle/>
          <a:p>
            <a:pPr indent="0" marL="0">
              <a:buNone/>
            </a:pPr>
            <a:r>
              <a:rPr lang="en-US" sz="1400" b="1" dirty="0">
                <a:solidFill>
                  <a:schemeClr val="tx1"/>
                </a:solidFill>
              </a:rPr>
              <a:t>slots per frame</a:t>
            </a:r>
            <a:endParaRPr lang="en-US" sz="1400" dirty="0"/>
          </a:p>
        </p:txBody>
      </p:sp>
      <p:sp>
        <p:nvSpPr>
          <p:cNvPr id="69" name="Text 168"/>
          <p:cNvSpPr txBox="1"/>
          <p:nvPr/>
        </p:nvSpPr>
        <p:spPr>
          <a:xfrm>
            <a:off x="5577840" y="1600200"/>
            <a:ext cx="2926080" cy="502920"/>
          </a:xfrm>
          <a:prstGeom prst="rect">
            <a:avLst/>
          </a:prstGeom>
          <a:noFill/>
          <a:ln/>
        </p:spPr>
        <p:txBody>
          <a:bodyPr wrap="square" lIns="0" tIns="0" rIns="0" bIns="0" rtlCol="0" anchor="t"/>
          <a:lstStyle/>
          <a:p>
            <a:pPr indent="0" marL="0">
              <a:buNone/>
            </a:pPr>
            <a:r>
              <a:rPr lang="en-US" sz="1100" dirty="0">
                <a:solidFill>
                  <a:schemeClr val="accent3"/>
                </a:solidFill>
              </a:rPr>
              <a:t>DSATUR and largest_first agree.</a:t>
            </a:r>
            <a:endParaRPr lang="en-US" sz="1100" dirty="0"/>
          </a:p>
        </p:txBody>
      </p:sp>
      <p:sp>
        <p:nvSpPr>
          <p:cNvPr id="70" name="Card 169"/>
          <p:cNvSpPr/>
          <p:nvPr/>
        </p:nvSpPr>
        <p:spPr>
          <a:xfrm>
            <a:off x="4434840" y="2304288"/>
            <a:ext cx="4251960" cy="978408"/>
          </a:xfrm>
          <a:prstGeom prst="roundRect">
            <a:avLst>
              <a:gd name="adj" fmla="val 7477"/>
            </a:avLst>
          </a:prstGeom>
          <a:solidFill>
            <a:schemeClr val="bg2"/>
          </a:solidFill>
          <a:ln w="12700">
            <a:solidFill>
              <a:schemeClr val="bg2"/>
            </a:solidFill>
            <a:prstDash val="solid"/>
          </a:ln>
        </p:spPr>
      </p:sp>
      <p:sp>
        <p:nvSpPr>
          <p:cNvPr id="71" name="Text 170"/>
          <p:cNvSpPr txBox="1"/>
          <p:nvPr/>
        </p:nvSpPr>
        <p:spPr>
          <a:xfrm>
            <a:off x="4617720" y="2377440"/>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9</a:t>
            </a:r>
            <a:endParaRPr lang="en-US" sz="4400" dirty="0"/>
          </a:p>
        </p:txBody>
      </p:sp>
      <p:sp>
        <p:nvSpPr>
          <p:cNvPr id="72" name="Text 171"/>
          <p:cNvSpPr txBox="1"/>
          <p:nvPr/>
        </p:nvSpPr>
        <p:spPr>
          <a:xfrm>
            <a:off x="5577840" y="2432304"/>
            <a:ext cx="2926080" cy="274320"/>
          </a:xfrm>
          <a:prstGeom prst="rect">
            <a:avLst/>
          </a:prstGeom>
          <a:noFill/>
          <a:ln/>
        </p:spPr>
        <p:txBody>
          <a:bodyPr wrap="square" lIns="0" tIns="0" rIns="0" bIns="0" rtlCol="0" anchor="t"/>
          <a:lstStyle/>
          <a:p>
            <a:pPr indent="0" marL="0">
              <a:buNone/>
            </a:pPr>
            <a:r>
              <a:rPr lang="en-US" sz="1400" b="1" dirty="0">
                <a:solidFill>
                  <a:schemeClr val="tx1"/>
                </a:solidFill>
              </a:rPr>
              <a:t>lower bound</a:t>
            </a:r>
            <a:endParaRPr lang="en-US" sz="1400" dirty="0"/>
          </a:p>
        </p:txBody>
      </p:sp>
      <p:sp>
        <p:nvSpPr>
          <p:cNvPr id="73" name="Text 172"/>
          <p:cNvSpPr txBox="1"/>
          <p:nvPr/>
        </p:nvSpPr>
        <p:spPr>
          <a:xfrm>
            <a:off x="5577840" y="2715768"/>
            <a:ext cx="2926080" cy="502920"/>
          </a:xfrm>
          <a:prstGeom prst="rect">
            <a:avLst/>
          </a:prstGeom>
          <a:noFill/>
          <a:ln/>
        </p:spPr>
        <p:txBody>
          <a:bodyPr wrap="square" lIns="0" tIns="0" rIns="0" bIns="0" rtlCol="0" anchor="t"/>
          <a:lstStyle/>
          <a:p>
            <a:pPr indent="0" marL="0">
              <a:buNone/>
            </a:pPr>
            <a:r>
              <a:rPr lang="en-US" sz="1100" dirty="0">
                <a:solidFill>
                  <a:schemeClr val="accent3"/>
                </a:solidFill>
              </a:rPr>
              <a:t>An interior radio plus its 8 neighbours need 9 different slots, so the schedule is optimal.</a:t>
            </a:r>
            <a:endParaRPr lang="en-US" sz="1100" dirty="0"/>
          </a:p>
        </p:txBody>
      </p:sp>
      <p:sp>
        <p:nvSpPr>
          <p:cNvPr id="74" name="Card 173"/>
          <p:cNvSpPr/>
          <p:nvPr/>
        </p:nvSpPr>
        <p:spPr>
          <a:xfrm>
            <a:off x="4434840" y="3419856"/>
            <a:ext cx="4251960" cy="978408"/>
          </a:xfrm>
          <a:prstGeom prst="roundRect">
            <a:avLst>
              <a:gd name="adj" fmla="val 7477"/>
            </a:avLst>
          </a:prstGeom>
          <a:solidFill>
            <a:schemeClr val="bg2"/>
          </a:solidFill>
          <a:ln w="12700">
            <a:solidFill>
              <a:schemeClr val="bg2"/>
            </a:solidFill>
            <a:prstDash val="solid"/>
          </a:ln>
        </p:spPr>
      </p:sp>
      <p:sp>
        <p:nvSpPr>
          <p:cNvPr id="75" name="Text 174"/>
          <p:cNvSpPr txBox="1"/>
          <p:nvPr/>
        </p:nvSpPr>
        <p:spPr>
          <a:xfrm>
            <a:off x="4617720" y="3493008"/>
            <a:ext cx="822960" cy="822960"/>
          </a:xfrm>
          <a:prstGeom prst="rect">
            <a:avLst/>
          </a:prstGeom>
          <a:noFill/>
          <a:ln/>
        </p:spPr>
        <p:txBody>
          <a:bodyPr wrap="square" lIns="0" tIns="0" rIns="0" bIns="0" rtlCol="0" anchor="ctr"/>
          <a:lstStyle/>
          <a:p>
            <a:pPr algn="ctr" indent="0" marL="0">
              <a:buNone/>
            </a:pPr>
            <a:r>
              <a:rPr lang="en-US" sz="4400" b="1" dirty="0">
                <a:solidFill>
                  <a:schemeClr val="accent1"/>
                </a:solidFill>
              </a:rPr>
              <a:t>0</a:t>
            </a:r>
            <a:endParaRPr lang="en-US" sz="4400" dirty="0"/>
          </a:p>
        </p:txBody>
      </p:sp>
      <p:sp>
        <p:nvSpPr>
          <p:cNvPr id="76" name="Text 175"/>
          <p:cNvSpPr txBox="1"/>
          <p:nvPr/>
        </p:nvSpPr>
        <p:spPr>
          <a:xfrm>
            <a:off x="5577840" y="3547872"/>
            <a:ext cx="2926080" cy="274320"/>
          </a:xfrm>
          <a:prstGeom prst="rect">
            <a:avLst/>
          </a:prstGeom>
          <a:noFill/>
          <a:ln/>
        </p:spPr>
        <p:txBody>
          <a:bodyPr wrap="square" lIns="0" tIns="0" rIns="0" bIns="0" rtlCol="0" anchor="t"/>
          <a:lstStyle/>
          <a:p>
            <a:pPr indent="0" marL="0">
              <a:buNone/>
            </a:pPr>
            <a:r>
              <a:rPr lang="en-US" sz="1400" b="1" dirty="0">
                <a:solidFill>
                  <a:schemeClr val="tx1"/>
                </a:solidFill>
              </a:rPr>
              <a:t>collisions</a:t>
            </a:r>
            <a:endParaRPr lang="en-US" sz="1400" dirty="0"/>
          </a:p>
        </p:txBody>
      </p:sp>
      <p:sp>
        <p:nvSpPr>
          <p:cNvPr id="77" name="Text 176"/>
          <p:cNvSpPr txBox="1"/>
          <p:nvPr/>
        </p:nvSpPr>
        <p:spPr>
          <a:xfrm>
            <a:off x="5577840" y="3831336"/>
            <a:ext cx="2926080" cy="502920"/>
          </a:xfrm>
          <a:prstGeom prst="rect">
            <a:avLst/>
          </a:prstGeom>
          <a:noFill/>
          <a:ln/>
        </p:spPr>
        <p:txBody>
          <a:bodyPr wrap="square" lIns="0" tIns="0" rIns="0" bIns="0" rtlCol="0" anchor="t"/>
          <a:lstStyle/>
          <a:p>
            <a:pPr indent="0" marL="0">
              <a:buNone/>
            </a:pPr>
            <a:r>
              <a:rPr lang="en-US" sz="1100" dirty="0">
                <a:solidFill>
                  <a:schemeClr val="accent3"/>
                </a:solidFill>
              </a:rPr>
              <a:t>Confirmed by the independent check from raw coordinates.</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Why 9 slots and not the 5 in the sample output</a:t>
            </a:r>
            <a:endParaRPr lang="en-US" sz="2800" dirty="0"/>
          </a:p>
        </p:txBody>
      </p:sp>
      <p:sp>
        <p:nvSpPr>
          <p:cNvPr id="4" name="Link 177"/>
          <p:cNvSpPr/>
          <p:nvPr/>
        </p:nvSpPr>
        <p:spPr>
          <a:xfrm>
            <a:off x="868680" y="1463040"/>
            <a:ext cx="853440" cy="0"/>
          </a:xfrm>
          <a:prstGeom prst="line">
            <a:avLst/>
          </a:prstGeom>
          <a:noFill/>
          <a:ln w="9525">
            <a:solidFill>
              <a:schemeClr val="accent5"/>
            </a:solidFill>
            <a:prstDash val="solid"/>
          </a:ln>
        </p:spPr>
      </p:sp>
      <p:sp>
        <p:nvSpPr>
          <p:cNvPr id="5" name="Link 178"/>
          <p:cNvSpPr/>
          <p:nvPr/>
        </p:nvSpPr>
        <p:spPr>
          <a:xfrm>
            <a:off x="868680" y="1463040"/>
            <a:ext cx="0" cy="853440"/>
          </a:xfrm>
          <a:prstGeom prst="line">
            <a:avLst/>
          </a:prstGeom>
          <a:noFill/>
          <a:ln w="9525">
            <a:solidFill>
              <a:schemeClr val="accent5"/>
            </a:solidFill>
            <a:prstDash val="solid"/>
          </a:ln>
        </p:spPr>
      </p:sp>
      <p:sp>
        <p:nvSpPr>
          <p:cNvPr id="6" name="Link 179"/>
          <p:cNvSpPr/>
          <p:nvPr/>
        </p:nvSpPr>
        <p:spPr>
          <a:xfrm>
            <a:off x="868680" y="1463040"/>
            <a:ext cx="853440" cy="853440"/>
          </a:xfrm>
          <a:prstGeom prst="line">
            <a:avLst/>
          </a:prstGeom>
          <a:noFill/>
          <a:ln w="9525">
            <a:solidFill>
              <a:schemeClr val="accent5"/>
            </a:solidFill>
            <a:prstDash val="solid"/>
          </a:ln>
        </p:spPr>
      </p:sp>
      <p:sp>
        <p:nvSpPr>
          <p:cNvPr id="7" name="Link 180"/>
          <p:cNvSpPr/>
          <p:nvPr/>
        </p:nvSpPr>
        <p:spPr>
          <a:xfrm>
            <a:off x="1722120" y="1463040"/>
            <a:ext cx="853440" cy="0"/>
          </a:xfrm>
          <a:prstGeom prst="line">
            <a:avLst/>
          </a:prstGeom>
          <a:noFill/>
          <a:ln w="9525">
            <a:solidFill>
              <a:schemeClr val="accent5"/>
            </a:solidFill>
            <a:prstDash val="solid"/>
          </a:ln>
        </p:spPr>
      </p:sp>
      <p:sp>
        <p:nvSpPr>
          <p:cNvPr id="8" name="Link 181"/>
          <p:cNvSpPr/>
          <p:nvPr/>
        </p:nvSpPr>
        <p:spPr>
          <a:xfrm flipV="1">
            <a:off x="868680" y="1463040"/>
            <a:ext cx="853440" cy="853440"/>
          </a:xfrm>
          <a:prstGeom prst="line">
            <a:avLst/>
          </a:prstGeom>
          <a:noFill/>
          <a:ln w="9525">
            <a:solidFill>
              <a:schemeClr val="accent5"/>
            </a:solidFill>
            <a:prstDash val="solid"/>
          </a:ln>
        </p:spPr>
      </p:sp>
      <p:sp>
        <p:nvSpPr>
          <p:cNvPr id="9" name="Link 182"/>
          <p:cNvSpPr/>
          <p:nvPr/>
        </p:nvSpPr>
        <p:spPr>
          <a:xfrm>
            <a:off x="1722120" y="1463040"/>
            <a:ext cx="0" cy="853440"/>
          </a:xfrm>
          <a:prstGeom prst="line">
            <a:avLst/>
          </a:prstGeom>
          <a:noFill/>
          <a:ln w="9525">
            <a:solidFill>
              <a:schemeClr val="accent5"/>
            </a:solidFill>
            <a:prstDash val="solid"/>
          </a:ln>
        </p:spPr>
      </p:sp>
      <p:sp>
        <p:nvSpPr>
          <p:cNvPr id="10" name="Link 183"/>
          <p:cNvSpPr/>
          <p:nvPr/>
        </p:nvSpPr>
        <p:spPr>
          <a:xfrm>
            <a:off x="1722120" y="1463040"/>
            <a:ext cx="853440" cy="853440"/>
          </a:xfrm>
          <a:prstGeom prst="line">
            <a:avLst/>
          </a:prstGeom>
          <a:noFill/>
          <a:ln w="9525">
            <a:solidFill>
              <a:schemeClr val="accent5"/>
            </a:solidFill>
            <a:prstDash val="solid"/>
          </a:ln>
        </p:spPr>
      </p:sp>
      <p:sp>
        <p:nvSpPr>
          <p:cNvPr id="11" name="Link 184"/>
          <p:cNvSpPr/>
          <p:nvPr/>
        </p:nvSpPr>
        <p:spPr>
          <a:xfrm>
            <a:off x="2575560" y="1463040"/>
            <a:ext cx="853440" cy="0"/>
          </a:xfrm>
          <a:prstGeom prst="line">
            <a:avLst/>
          </a:prstGeom>
          <a:noFill/>
          <a:ln w="9525">
            <a:solidFill>
              <a:schemeClr val="accent5"/>
            </a:solidFill>
            <a:prstDash val="solid"/>
          </a:ln>
        </p:spPr>
      </p:sp>
      <p:sp>
        <p:nvSpPr>
          <p:cNvPr id="12" name="Link 185"/>
          <p:cNvSpPr/>
          <p:nvPr/>
        </p:nvSpPr>
        <p:spPr>
          <a:xfrm flipV="1">
            <a:off x="1722120" y="1463040"/>
            <a:ext cx="853440" cy="853440"/>
          </a:xfrm>
          <a:prstGeom prst="line">
            <a:avLst/>
          </a:prstGeom>
          <a:noFill/>
          <a:ln w="9525">
            <a:solidFill>
              <a:schemeClr val="accent5"/>
            </a:solidFill>
            <a:prstDash val="solid"/>
          </a:ln>
        </p:spPr>
      </p:sp>
      <p:sp>
        <p:nvSpPr>
          <p:cNvPr id="13" name="Link 186"/>
          <p:cNvSpPr/>
          <p:nvPr/>
        </p:nvSpPr>
        <p:spPr>
          <a:xfrm>
            <a:off x="2575560" y="1463040"/>
            <a:ext cx="0" cy="853440"/>
          </a:xfrm>
          <a:prstGeom prst="line">
            <a:avLst/>
          </a:prstGeom>
          <a:noFill/>
          <a:ln w="9525">
            <a:solidFill>
              <a:schemeClr val="accent5"/>
            </a:solidFill>
            <a:prstDash val="solid"/>
          </a:ln>
        </p:spPr>
      </p:sp>
      <p:sp>
        <p:nvSpPr>
          <p:cNvPr id="14" name="Link 187"/>
          <p:cNvSpPr/>
          <p:nvPr/>
        </p:nvSpPr>
        <p:spPr>
          <a:xfrm>
            <a:off x="2575560" y="1463040"/>
            <a:ext cx="853440" cy="853440"/>
          </a:xfrm>
          <a:prstGeom prst="line">
            <a:avLst/>
          </a:prstGeom>
          <a:noFill/>
          <a:ln w="9525">
            <a:solidFill>
              <a:schemeClr val="accent5"/>
            </a:solidFill>
            <a:prstDash val="solid"/>
          </a:ln>
        </p:spPr>
      </p:sp>
      <p:sp>
        <p:nvSpPr>
          <p:cNvPr id="15" name="Link 188"/>
          <p:cNvSpPr/>
          <p:nvPr/>
        </p:nvSpPr>
        <p:spPr>
          <a:xfrm flipV="1">
            <a:off x="2575560" y="1463040"/>
            <a:ext cx="853440" cy="853440"/>
          </a:xfrm>
          <a:prstGeom prst="line">
            <a:avLst/>
          </a:prstGeom>
          <a:noFill/>
          <a:ln w="9525">
            <a:solidFill>
              <a:schemeClr val="accent5"/>
            </a:solidFill>
            <a:prstDash val="solid"/>
          </a:ln>
        </p:spPr>
      </p:sp>
      <p:sp>
        <p:nvSpPr>
          <p:cNvPr id="16" name="Link 189"/>
          <p:cNvSpPr/>
          <p:nvPr/>
        </p:nvSpPr>
        <p:spPr>
          <a:xfrm>
            <a:off x="3429000" y="1463040"/>
            <a:ext cx="0" cy="853440"/>
          </a:xfrm>
          <a:prstGeom prst="line">
            <a:avLst/>
          </a:prstGeom>
          <a:noFill/>
          <a:ln w="9525">
            <a:solidFill>
              <a:schemeClr val="accent5"/>
            </a:solidFill>
            <a:prstDash val="solid"/>
          </a:ln>
        </p:spPr>
      </p:sp>
      <p:sp>
        <p:nvSpPr>
          <p:cNvPr id="17" name="Link 190"/>
          <p:cNvSpPr/>
          <p:nvPr/>
        </p:nvSpPr>
        <p:spPr>
          <a:xfrm>
            <a:off x="868680" y="2316480"/>
            <a:ext cx="853440" cy="0"/>
          </a:xfrm>
          <a:prstGeom prst="line">
            <a:avLst/>
          </a:prstGeom>
          <a:noFill/>
          <a:ln w="9525">
            <a:solidFill>
              <a:schemeClr val="accent5"/>
            </a:solidFill>
            <a:prstDash val="solid"/>
          </a:ln>
        </p:spPr>
      </p:sp>
      <p:sp>
        <p:nvSpPr>
          <p:cNvPr id="18" name="Link 191"/>
          <p:cNvSpPr/>
          <p:nvPr/>
        </p:nvSpPr>
        <p:spPr>
          <a:xfrm>
            <a:off x="868680" y="2316480"/>
            <a:ext cx="0" cy="853440"/>
          </a:xfrm>
          <a:prstGeom prst="line">
            <a:avLst/>
          </a:prstGeom>
          <a:noFill/>
          <a:ln w="9525">
            <a:solidFill>
              <a:schemeClr val="accent5"/>
            </a:solidFill>
            <a:prstDash val="solid"/>
          </a:ln>
        </p:spPr>
      </p:sp>
      <p:sp>
        <p:nvSpPr>
          <p:cNvPr id="19" name="Link 192"/>
          <p:cNvSpPr/>
          <p:nvPr/>
        </p:nvSpPr>
        <p:spPr>
          <a:xfrm>
            <a:off x="868680" y="2316480"/>
            <a:ext cx="853440" cy="853440"/>
          </a:xfrm>
          <a:prstGeom prst="line">
            <a:avLst/>
          </a:prstGeom>
          <a:noFill/>
          <a:ln w="9525">
            <a:solidFill>
              <a:schemeClr val="accent5"/>
            </a:solidFill>
            <a:prstDash val="solid"/>
          </a:ln>
        </p:spPr>
      </p:sp>
      <p:sp>
        <p:nvSpPr>
          <p:cNvPr id="20" name="Link 193"/>
          <p:cNvSpPr/>
          <p:nvPr/>
        </p:nvSpPr>
        <p:spPr>
          <a:xfrm>
            <a:off x="1722120" y="2316480"/>
            <a:ext cx="853440" cy="0"/>
          </a:xfrm>
          <a:prstGeom prst="line">
            <a:avLst/>
          </a:prstGeom>
          <a:noFill/>
          <a:ln w="9525">
            <a:solidFill>
              <a:schemeClr val="accent5"/>
            </a:solidFill>
            <a:prstDash val="solid"/>
          </a:ln>
        </p:spPr>
      </p:sp>
      <p:sp>
        <p:nvSpPr>
          <p:cNvPr id="21" name="Link 194"/>
          <p:cNvSpPr/>
          <p:nvPr/>
        </p:nvSpPr>
        <p:spPr>
          <a:xfrm flipV="1">
            <a:off x="868680" y="2316480"/>
            <a:ext cx="853440" cy="853440"/>
          </a:xfrm>
          <a:prstGeom prst="line">
            <a:avLst/>
          </a:prstGeom>
          <a:noFill/>
          <a:ln w="9525">
            <a:solidFill>
              <a:schemeClr val="accent5"/>
            </a:solidFill>
            <a:prstDash val="solid"/>
          </a:ln>
        </p:spPr>
      </p:sp>
      <p:sp>
        <p:nvSpPr>
          <p:cNvPr id="22" name="Link 195"/>
          <p:cNvSpPr/>
          <p:nvPr/>
        </p:nvSpPr>
        <p:spPr>
          <a:xfrm>
            <a:off x="1722120" y="2316480"/>
            <a:ext cx="0" cy="853440"/>
          </a:xfrm>
          <a:prstGeom prst="line">
            <a:avLst/>
          </a:prstGeom>
          <a:noFill/>
          <a:ln w="9525">
            <a:solidFill>
              <a:schemeClr val="accent5"/>
            </a:solidFill>
            <a:prstDash val="solid"/>
          </a:ln>
        </p:spPr>
      </p:sp>
      <p:sp>
        <p:nvSpPr>
          <p:cNvPr id="23" name="Link 196"/>
          <p:cNvSpPr/>
          <p:nvPr/>
        </p:nvSpPr>
        <p:spPr>
          <a:xfrm>
            <a:off x="1722120" y="2316480"/>
            <a:ext cx="853440" cy="853440"/>
          </a:xfrm>
          <a:prstGeom prst="line">
            <a:avLst/>
          </a:prstGeom>
          <a:noFill/>
          <a:ln w="9525">
            <a:solidFill>
              <a:schemeClr val="accent5"/>
            </a:solidFill>
            <a:prstDash val="solid"/>
          </a:ln>
        </p:spPr>
      </p:sp>
      <p:sp>
        <p:nvSpPr>
          <p:cNvPr id="24" name="Link 197"/>
          <p:cNvSpPr/>
          <p:nvPr/>
        </p:nvSpPr>
        <p:spPr>
          <a:xfrm>
            <a:off x="2575560" y="2316480"/>
            <a:ext cx="853440" cy="0"/>
          </a:xfrm>
          <a:prstGeom prst="line">
            <a:avLst/>
          </a:prstGeom>
          <a:noFill/>
          <a:ln w="9525">
            <a:solidFill>
              <a:schemeClr val="accent5"/>
            </a:solidFill>
            <a:prstDash val="solid"/>
          </a:ln>
        </p:spPr>
      </p:sp>
      <p:sp>
        <p:nvSpPr>
          <p:cNvPr id="25" name="Link 198"/>
          <p:cNvSpPr/>
          <p:nvPr/>
        </p:nvSpPr>
        <p:spPr>
          <a:xfrm flipV="1">
            <a:off x="1722120" y="2316480"/>
            <a:ext cx="853440" cy="853440"/>
          </a:xfrm>
          <a:prstGeom prst="line">
            <a:avLst/>
          </a:prstGeom>
          <a:noFill/>
          <a:ln w="9525">
            <a:solidFill>
              <a:schemeClr val="accent5"/>
            </a:solidFill>
            <a:prstDash val="solid"/>
          </a:ln>
        </p:spPr>
      </p:sp>
      <p:sp>
        <p:nvSpPr>
          <p:cNvPr id="26" name="Link 199"/>
          <p:cNvSpPr/>
          <p:nvPr/>
        </p:nvSpPr>
        <p:spPr>
          <a:xfrm>
            <a:off x="2575560" y="2316480"/>
            <a:ext cx="0" cy="853440"/>
          </a:xfrm>
          <a:prstGeom prst="line">
            <a:avLst/>
          </a:prstGeom>
          <a:noFill/>
          <a:ln w="9525">
            <a:solidFill>
              <a:schemeClr val="accent5"/>
            </a:solidFill>
            <a:prstDash val="solid"/>
          </a:ln>
        </p:spPr>
      </p:sp>
      <p:sp>
        <p:nvSpPr>
          <p:cNvPr id="27" name="Link 200"/>
          <p:cNvSpPr/>
          <p:nvPr/>
        </p:nvSpPr>
        <p:spPr>
          <a:xfrm>
            <a:off x="2575560" y="2316480"/>
            <a:ext cx="853440" cy="853440"/>
          </a:xfrm>
          <a:prstGeom prst="line">
            <a:avLst/>
          </a:prstGeom>
          <a:noFill/>
          <a:ln w="9525">
            <a:solidFill>
              <a:schemeClr val="accent5"/>
            </a:solidFill>
            <a:prstDash val="solid"/>
          </a:ln>
        </p:spPr>
      </p:sp>
      <p:sp>
        <p:nvSpPr>
          <p:cNvPr id="28" name="Link 201"/>
          <p:cNvSpPr/>
          <p:nvPr/>
        </p:nvSpPr>
        <p:spPr>
          <a:xfrm flipV="1">
            <a:off x="2575560" y="2316480"/>
            <a:ext cx="853440" cy="853440"/>
          </a:xfrm>
          <a:prstGeom prst="line">
            <a:avLst/>
          </a:prstGeom>
          <a:noFill/>
          <a:ln w="9525">
            <a:solidFill>
              <a:schemeClr val="accent5"/>
            </a:solidFill>
            <a:prstDash val="solid"/>
          </a:ln>
        </p:spPr>
      </p:sp>
      <p:sp>
        <p:nvSpPr>
          <p:cNvPr id="29" name="Link 202"/>
          <p:cNvSpPr/>
          <p:nvPr/>
        </p:nvSpPr>
        <p:spPr>
          <a:xfrm>
            <a:off x="3429000" y="2316480"/>
            <a:ext cx="0" cy="853440"/>
          </a:xfrm>
          <a:prstGeom prst="line">
            <a:avLst/>
          </a:prstGeom>
          <a:noFill/>
          <a:ln w="9525">
            <a:solidFill>
              <a:schemeClr val="accent5"/>
            </a:solidFill>
            <a:prstDash val="solid"/>
          </a:ln>
        </p:spPr>
      </p:sp>
      <p:sp>
        <p:nvSpPr>
          <p:cNvPr id="30" name="Link 203"/>
          <p:cNvSpPr/>
          <p:nvPr/>
        </p:nvSpPr>
        <p:spPr>
          <a:xfrm>
            <a:off x="868680" y="3169920"/>
            <a:ext cx="853440" cy="0"/>
          </a:xfrm>
          <a:prstGeom prst="line">
            <a:avLst/>
          </a:prstGeom>
          <a:noFill/>
          <a:ln w="9525">
            <a:solidFill>
              <a:schemeClr val="accent5"/>
            </a:solidFill>
            <a:prstDash val="solid"/>
          </a:ln>
        </p:spPr>
      </p:sp>
      <p:sp>
        <p:nvSpPr>
          <p:cNvPr id="31" name="Link 204"/>
          <p:cNvSpPr/>
          <p:nvPr/>
        </p:nvSpPr>
        <p:spPr>
          <a:xfrm>
            <a:off x="868680" y="3169920"/>
            <a:ext cx="0" cy="853440"/>
          </a:xfrm>
          <a:prstGeom prst="line">
            <a:avLst/>
          </a:prstGeom>
          <a:noFill/>
          <a:ln w="9525">
            <a:solidFill>
              <a:schemeClr val="accent5"/>
            </a:solidFill>
            <a:prstDash val="solid"/>
          </a:ln>
        </p:spPr>
      </p:sp>
      <p:sp>
        <p:nvSpPr>
          <p:cNvPr id="32" name="Link 205"/>
          <p:cNvSpPr/>
          <p:nvPr/>
        </p:nvSpPr>
        <p:spPr>
          <a:xfrm>
            <a:off x="868680" y="3169920"/>
            <a:ext cx="853440" cy="853440"/>
          </a:xfrm>
          <a:prstGeom prst="line">
            <a:avLst/>
          </a:prstGeom>
          <a:noFill/>
          <a:ln w="9525">
            <a:solidFill>
              <a:schemeClr val="accent5"/>
            </a:solidFill>
            <a:prstDash val="solid"/>
          </a:ln>
        </p:spPr>
      </p:sp>
      <p:sp>
        <p:nvSpPr>
          <p:cNvPr id="33" name="Link 206"/>
          <p:cNvSpPr/>
          <p:nvPr/>
        </p:nvSpPr>
        <p:spPr>
          <a:xfrm>
            <a:off x="1722120" y="3169920"/>
            <a:ext cx="853440" cy="0"/>
          </a:xfrm>
          <a:prstGeom prst="line">
            <a:avLst/>
          </a:prstGeom>
          <a:noFill/>
          <a:ln w="9525">
            <a:solidFill>
              <a:schemeClr val="accent5"/>
            </a:solidFill>
            <a:prstDash val="solid"/>
          </a:ln>
        </p:spPr>
      </p:sp>
      <p:sp>
        <p:nvSpPr>
          <p:cNvPr id="34" name="Link 207"/>
          <p:cNvSpPr/>
          <p:nvPr/>
        </p:nvSpPr>
        <p:spPr>
          <a:xfrm flipV="1">
            <a:off x="868680" y="3169920"/>
            <a:ext cx="853440" cy="853440"/>
          </a:xfrm>
          <a:prstGeom prst="line">
            <a:avLst/>
          </a:prstGeom>
          <a:noFill/>
          <a:ln w="9525">
            <a:solidFill>
              <a:schemeClr val="accent5"/>
            </a:solidFill>
            <a:prstDash val="solid"/>
          </a:ln>
        </p:spPr>
      </p:sp>
      <p:sp>
        <p:nvSpPr>
          <p:cNvPr id="35" name="Link 208"/>
          <p:cNvSpPr/>
          <p:nvPr/>
        </p:nvSpPr>
        <p:spPr>
          <a:xfrm>
            <a:off x="1722120" y="3169920"/>
            <a:ext cx="0" cy="853440"/>
          </a:xfrm>
          <a:prstGeom prst="line">
            <a:avLst/>
          </a:prstGeom>
          <a:noFill/>
          <a:ln w="9525">
            <a:solidFill>
              <a:schemeClr val="accent5"/>
            </a:solidFill>
            <a:prstDash val="solid"/>
          </a:ln>
        </p:spPr>
      </p:sp>
      <p:sp>
        <p:nvSpPr>
          <p:cNvPr id="36" name="Link 209"/>
          <p:cNvSpPr/>
          <p:nvPr/>
        </p:nvSpPr>
        <p:spPr>
          <a:xfrm>
            <a:off x="1722120" y="3169920"/>
            <a:ext cx="853440" cy="853440"/>
          </a:xfrm>
          <a:prstGeom prst="line">
            <a:avLst/>
          </a:prstGeom>
          <a:noFill/>
          <a:ln w="9525">
            <a:solidFill>
              <a:schemeClr val="accent5"/>
            </a:solidFill>
            <a:prstDash val="solid"/>
          </a:ln>
        </p:spPr>
      </p:sp>
      <p:sp>
        <p:nvSpPr>
          <p:cNvPr id="37" name="Link 210"/>
          <p:cNvSpPr/>
          <p:nvPr/>
        </p:nvSpPr>
        <p:spPr>
          <a:xfrm>
            <a:off x="2575560" y="3169920"/>
            <a:ext cx="853440" cy="0"/>
          </a:xfrm>
          <a:prstGeom prst="line">
            <a:avLst/>
          </a:prstGeom>
          <a:noFill/>
          <a:ln w="9525">
            <a:solidFill>
              <a:schemeClr val="accent5"/>
            </a:solidFill>
            <a:prstDash val="solid"/>
          </a:ln>
        </p:spPr>
      </p:sp>
      <p:sp>
        <p:nvSpPr>
          <p:cNvPr id="38" name="Link 211"/>
          <p:cNvSpPr/>
          <p:nvPr/>
        </p:nvSpPr>
        <p:spPr>
          <a:xfrm flipV="1">
            <a:off x="1722120" y="3169920"/>
            <a:ext cx="853440" cy="853440"/>
          </a:xfrm>
          <a:prstGeom prst="line">
            <a:avLst/>
          </a:prstGeom>
          <a:noFill/>
          <a:ln w="9525">
            <a:solidFill>
              <a:schemeClr val="accent5"/>
            </a:solidFill>
            <a:prstDash val="solid"/>
          </a:ln>
        </p:spPr>
      </p:sp>
      <p:sp>
        <p:nvSpPr>
          <p:cNvPr id="39" name="Link 212"/>
          <p:cNvSpPr/>
          <p:nvPr/>
        </p:nvSpPr>
        <p:spPr>
          <a:xfrm>
            <a:off x="2575560" y="3169920"/>
            <a:ext cx="0" cy="853440"/>
          </a:xfrm>
          <a:prstGeom prst="line">
            <a:avLst/>
          </a:prstGeom>
          <a:noFill/>
          <a:ln w="9525">
            <a:solidFill>
              <a:schemeClr val="accent5"/>
            </a:solidFill>
            <a:prstDash val="solid"/>
          </a:ln>
        </p:spPr>
      </p:sp>
      <p:sp>
        <p:nvSpPr>
          <p:cNvPr id="40" name="Link 213"/>
          <p:cNvSpPr/>
          <p:nvPr/>
        </p:nvSpPr>
        <p:spPr>
          <a:xfrm>
            <a:off x="2575560" y="3169920"/>
            <a:ext cx="853440" cy="853440"/>
          </a:xfrm>
          <a:prstGeom prst="line">
            <a:avLst/>
          </a:prstGeom>
          <a:noFill/>
          <a:ln w="9525">
            <a:solidFill>
              <a:schemeClr val="accent5"/>
            </a:solidFill>
            <a:prstDash val="solid"/>
          </a:ln>
        </p:spPr>
      </p:sp>
      <p:sp>
        <p:nvSpPr>
          <p:cNvPr id="41" name="Link 214"/>
          <p:cNvSpPr/>
          <p:nvPr/>
        </p:nvSpPr>
        <p:spPr>
          <a:xfrm flipV="1">
            <a:off x="2575560" y="3169920"/>
            <a:ext cx="853440" cy="853440"/>
          </a:xfrm>
          <a:prstGeom prst="line">
            <a:avLst/>
          </a:prstGeom>
          <a:noFill/>
          <a:ln w="9525">
            <a:solidFill>
              <a:schemeClr val="accent5"/>
            </a:solidFill>
            <a:prstDash val="solid"/>
          </a:ln>
        </p:spPr>
      </p:sp>
      <p:sp>
        <p:nvSpPr>
          <p:cNvPr id="42" name="Link 215"/>
          <p:cNvSpPr/>
          <p:nvPr/>
        </p:nvSpPr>
        <p:spPr>
          <a:xfrm>
            <a:off x="3429000" y="3169920"/>
            <a:ext cx="0" cy="853440"/>
          </a:xfrm>
          <a:prstGeom prst="line">
            <a:avLst/>
          </a:prstGeom>
          <a:noFill/>
          <a:ln w="9525">
            <a:solidFill>
              <a:schemeClr val="accent5"/>
            </a:solidFill>
            <a:prstDash val="solid"/>
          </a:ln>
        </p:spPr>
      </p:sp>
      <p:sp>
        <p:nvSpPr>
          <p:cNvPr id="43" name="Link 216"/>
          <p:cNvSpPr/>
          <p:nvPr/>
        </p:nvSpPr>
        <p:spPr>
          <a:xfrm>
            <a:off x="868680" y="4023360"/>
            <a:ext cx="853440" cy="0"/>
          </a:xfrm>
          <a:prstGeom prst="line">
            <a:avLst/>
          </a:prstGeom>
          <a:noFill/>
          <a:ln w="9525">
            <a:solidFill>
              <a:schemeClr val="accent5"/>
            </a:solidFill>
            <a:prstDash val="solid"/>
          </a:ln>
        </p:spPr>
      </p:sp>
      <p:sp>
        <p:nvSpPr>
          <p:cNvPr id="44" name="Link 217"/>
          <p:cNvSpPr/>
          <p:nvPr/>
        </p:nvSpPr>
        <p:spPr>
          <a:xfrm>
            <a:off x="1722120" y="4023360"/>
            <a:ext cx="853440" cy="0"/>
          </a:xfrm>
          <a:prstGeom prst="line">
            <a:avLst/>
          </a:prstGeom>
          <a:noFill/>
          <a:ln w="9525">
            <a:solidFill>
              <a:schemeClr val="accent5"/>
            </a:solidFill>
            <a:prstDash val="solid"/>
          </a:ln>
        </p:spPr>
      </p:sp>
      <p:sp>
        <p:nvSpPr>
          <p:cNvPr id="45" name="Link 218"/>
          <p:cNvSpPr/>
          <p:nvPr/>
        </p:nvSpPr>
        <p:spPr>
          <a:xfrm>
            <a:off x="2575560" y="4023360"/>
            <a:ext cx="853440" cy="0"/>
          </a:xfrm>
          <a:prstGeom prst="line">
            <a:avLst/>
          </a:prstGeom>
          <a:noFill/>
          <a:ln w="9525">
            <a:solidFill>
              <a:schemeClr val="accent5"/>
            </a:solidFill>
            <a:prstDash val="solid"/>
          </a:ln>
        </p:spPr>
      </p:sp>
      <p:sp>
        <p:nvSpPr>
          <p:cNvPr id="46" name="Radio 219"/>
          <p:cNvSpPr/>
          <p:nvPr/>
        </p:nvSpPr>
        <p:spPr>
          <a:xfrm>
            <a:off x="64008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01</a:t>
            </a:r>
            <a:endParaRPr lang="en-US" sz="1100" dirty="0"/>
          </a:p>
        </p:txBody>
      </p:sp>
      <p:sp>
        <p:nvSpPr>
          <p:cNvPr id="47" name="Radio 220"/>
          <p:cNvSpPr/>
          <p:nvPr/>
        </p:nvSpPr>
        <p:spPr>
          <a:xfrm>
            <a:off x="149352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02</a:t>
            </a:r>
            <a:endParaRPr lang="en-US" sz="1100" dirty="0"/>
          </a:p>
        </p:txBody>
      </p:sp>
      <p:sp>
        <p:nvSpPr>
          <p:cNvPr id="48" name="Radio 221"/>
          <p:cNvSpPr/>
          <p:nvPr/>
        </p:nvSpPr>
        <p:spPr>
          <a:xfrm>
            <a:off x="2346960" y="123444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03</a:t>
            </a:r>
            <a:endParaRPr lang="en-US" sz="1100" dirty="0"/>
          </a:p>
        </p:txBody>
      </p:sp>
      <p:sp>
        <p:nvSpPr>
          <p:cNvPr id="49" name="Radio 222"/>
          <p:cNvSpPr/>
          <p:nvPr/>
        </p:nvSpPr>
        <p:spPr>
          <a:xfrm>
            <a:off x="3200400" y="123444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04</a:t>
            </a:r>
            <a:endParaRPr lang="en-US" sz="1100" dirty="0"/>
          </a:p>
        </p:txBody>
      </p:sp>
      <p:sp>
        <p:nvSpPr>
          <p:cNvPr id="50" name="Radio 223"/>
          <p:cNvSpPr/>
          <p:nvPr/>
        </p:nvSpPr>
        <p:spPr>
          <a:xfrm>
            <a:off x="64008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05</a:t>
            </a:r>
            <a:endParaRPr lang="en-US" sz="1100" dirty="0"/>
          </a:p>
        </p:txBody>
      </p:sp>
      <p:sp>
        <p:nvSpPr>
          <p:cNvPr id="51" name="Radio 224"/>
          <p:cNvSpPr/>
          <p:nvPr/>
        </p:nvSpPr>
        <p:spPr>
          <a:xfrm>
            <a:off x="149352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06</a:t>
            </a:r>
            <a:endParaRPr lang="en-US" sz="1100" dirty="0"/>
          </a:p>
        </p:txBody>
      </p:sp>
      <p:sp>
        <p:nvSpPr>
          <p:cNvPr id="52" name="Radio 225"/>
          <p:cNvSpPr/>
          <p:nvPr/>
        </p:nvSpPr>
        <p:spPr>
          <a:xfrm>
            <a:off x="2346960" y="208788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07</a:t>
            </a:r>
            <a:endParaRPr lang="en-US" sz="1100" dirty="0"/>
          </a:p>
        </p:txBody>
      </p:sp>
      <p:sp>
        <p:nvSpPr>
          <p:cNvPr id="53" name="Radio 226"/>
          <p:cNvSpPr/>
          <p:nvPr/>
        </p:nvSpPr>
        <p:spPr>
          <a:xfrm>
            <a:off x="3200400" y="208788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08</a:t>
            </a:r>
            <a:endParaRPr lang="en-US" sz="1100" dirty="0"/>
          </a:p>
        </p:txBody>
      </p:sp>
      <p:sp>
        <p:nvSpPr>
          <p:cNvPr id="54" name="Radio 227"/>
          <p:cNvSpPr/>
          <p:nvPr/>
        </p:nvSpPr>
        <p:spPr>
          <a:xfrm>
            <a:off x="64008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09</a:t>
            </a:r>
            <a:endParaRPr lang="en-US" sz="1100" dirty="0"/>
          </a:p>
        </p:txBody>
      </p:sp>
      <p:sp>
        <p:nvSpPr>
          <p:cNvPr id="55" name="Radio 228"/>
          <p:cNvSpPr/>
          <p:nvPr/>
        </p:nvSpPr>
        <p:spPr>
          <a:xfrm>
            <a:off x="149352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56" name="Radio 229"/>
          <p:cNvSpPr/>
          <p:nvPr/>
        </p:nvSpPr>
        <p:spPr>
          <a:xfrm>
            <a:off x="2346960" y="2941320"/>
            <a:ext cx="457200" cy="457200"/>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100" b="1" dirty="0">
                <a:solidFill>
                  <a:schemeClr val="bg1"/>
                </a:solidFill>
              </a:rPr>
              <a:t>11</a:t>
            </a:r>
            <a:endParaRPr lang="en-US" sz="1100" dirty="0"/>
          </a:p>
        </p:txBody>
      </p:sp>
      <p:sp>
        <p:nvSpPr>
          <p:cNvPr id="57" name="Radio 230"/>
          <p:cNvSpPr/>
          <p:nvPr/>
        </p:nvSpPr>
        <p:spPr>
          <a:xfrm>
            <a:off x="3200400" y="294132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12</a:t>
            </a:r>
            <a:endParaRPr lang="en-US" sz="1100" dirty="0"/>
          </a:p>
        </p:txBody>
      </p:sp>
      <p:sp>
        <p:nvSpPr>
          <p:cNvPr id="58" name="Radio 231"/>
          <p:cNvSpPr/>
          <p:nvPr/>
        </p:nvSpPr>
        <p:spPr>
          <a:xfrm>
            <a:off x="64008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13</a:t>
            </a:r>
            <a:endParaRPr lang="en-US" sz="1100" dirty="0"/>
          </a:p>
        </p:txBody>
      </p:sp>
      <p:sp>
        <p:nvSpPr>
          <p:cNvPr id="59" name="Radio 232"/>
          <p:cNvSpPr/>
          <p:nvPr/>
        </p:nvSpPr>
        <p:spPr>
          <a:xfrm>
            <a:off x="149352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14</a:t>
            </a:r>
            <a:endParaRPr lang="en-US" sz="1100" dirty="0"/>
          </a:p>
        </p:txBody>
      </p:sp>
      <p:sp>
        <p:nvSpPr>
          <p:cNvPr id="60" name="Radio 233"/>
          <p:cNvSpPr/>
          <p:nvPr/>
        </p:nvSpPr>
        <p:spPr>
          <a:xfrm>
            <a:off x="234696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15</a:t>
            </a:r>
            <a:endParaRPr lang="en-US" sz="1100" dirty="0"/>
          </a:p>
        </p:txBody>
      </p:sp>
      <p:sp>
        <p:nvSpPr>
          <p:cNvPr id="61" name="Radio 234"/>
          <p:cNvSpPr/>
          <p:nvPr/>
        </p:nvSpPr>
        <p:spPr>
          <a:xfrm>
            <a:off x="3200400" y="3794760"/>
            <a:ext cx="457200" cy="457200"/>
          </a:xfrm>
          <a:prstGeom prst="ellipse">
            <a:avLst/>
          </a:prstGeom>
          <a:solidFill>
            <a:schemeClr val="accent5"/>
          </a:solidFill>
          <a:ln w="19050">
            <a:solidFill>
              <a:schemeClr val="bg1"/>
            </a:solidFill>
          </a:ln>
        </p:spPr>
        <p:txBody>
          <a:bodyPr wrap="square" lIns="0" tIns="0" rIns="0" bIns="0" rtlCol="0" anchor="ctr"/>
          <a:lstStyle/>
          <a:p>
            <a:pPr algn="ctr" indent="0" marL="0">
              <a:buNone/>
            </a:pPr>
            <a:r>
              <a:rPr lang="en-US" sz="1100" b="1" dirty="0">
                <a:solidFill>
                  <a:schemeClr val="tx1"/>
                </a:solidFill>
              </a:rPr>
              <a:t>16</a:t>
            </a:r>
            <a:endParaRPr lang="en-US" sz="1100" dirty="0"/>
          </a:p>
        </p:txBody>
      </p:sp>
      <p:sp>
        <p:nvSpPr>
          <p:cNvPr id="62" name="Text 235"/>
          <p:cNvSpPr txBox="1"/>
          <p:nvPr/>
        </p:nvSpPr>
        <p:spPr>
          <a:xfrm>
            <a:off x="457200" y="4389120"/>
            <a:ext cx="3657600" cy="228600"/>
          </a:xfrm>
          <a:prstGeom prst="rect">
            <a:avLst/>
          </a:prstGeom>
          <a:noFill/>
          <a:ln/>
        </p:spPr>
        <p:txBody>
          <a:bodyPr wrap="square" lIns="0" tIns="0" rIns="0" bIns="0" rtlCol="0" anchor="t"/>
          <a:lstStyle/>
          <a:p>
            <a:pPr indent="0" marL="0">
              <a:buNone/>
            </a:pPr>
            <a:r>
              <a:rPr lang="en-US" sz="1000" dirty="0">
                <a:solidFill>
                  <a:schemeClr val="accent3"/>
                </a:solidFill>
              </a:rPr>
              <a:t>Node_06 and its 8 neighbours: pairwise within 2 hops</a:t>
            </a:r>
            <a:endParaRPr lang="en-US" sz="1000" dirty="0"/>
          </a:p>
        </p:txBody>
      </p:sp>
      <p:sp>
        <p:nvSpPr>
          <p:cNvPr id="63" name="Card 236"/>
          <p:cNvSpPr/>
          <p:nvPr/>
        </p:nvSpPr>
        <p:spPr>
          <a:xfrm>
            <a:off x="4434840" y="1188720"/>
            <a:ext cx="4251960" cy="978408"/>
          </a:xfrm>
          <a:prstGeom prst="roundRect">
            <a:avLst>
              <a:gd name="adj" fmla="val 7477"/>
            </a:avLst>
          </a:prstGeom>
          <a:solidFill>
            <a:schemeClr val="bg2"/>
          </a:solidFill>
          <a:ln w="12700">
            <a:solidFill>
              <a:schemeClr val="bg2"/>
            </a:solidFill>
            <a:prstDash val="solid"/>
          </a:ln>
        </p:spPr>
      </p:sp>
      <p:sp>
        <p:nvSpPr>
          <p:cNvPr id="64" name="Badge 237"/>
          <p:cNvSpPr/>
          <p:nvPr/>
        </p:nvSpPr>
        <p:spPr>
          <a:xfrm>
            <a:off x="4599432" y="1481328"/>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5" name="Text 238"/>
          <p:cNvSpPr txBox="1"/>
          <p:nvPr/>
        </p:nvSpPr>
        <p:spPr>
          <a:xfrm>
            <a:off x="5166360" y="1280160"/>
            <a:ext cx="3383280" cy="256032"/>
          </a:xfrm>
          <a:prstGeom prst="rect">
            <a:avLst/>
          </a:prstGeom>
          <a:noFill/>
          <a:ln/>
        </p:spPr>
        <p:txBody>
          <a:bodyPr wrap="square" lIns="0" tIns="0" rIns="0" bIns="0" rtlCol="0" anchor="t"/>
          <a:lstStyle/>
          <a:p>
            <a:pPr indent="0" marL="0">
              <a:buNone/>
            </a:pPr>
            <a:r>
              <a:rPr lang="en-US" sz="1400" b="1" dirty="0">
                <a:solidFill>
                  <a:schemeClr val="tx1"/>
                </a:solidFill>
              </a:rPr>
              <a:t>9 is forced</a:t>
            </a:r>
            <a:endParaRPr lang="en-US" sz="1400" dirty="0"/>
          </a:p>
        </p:txBody>
      </p:sp>
      <p:sp>
        <p:nvSpPr>
          <p:cNvPr id="66" name="Text 239"/>
          <p:cNvSpPr txBox="1"/>
          <p:nvPr/>
        </p:nvSpPr>
        <p:spPr>
          <a:xfrm>
            <a:off x="5166360" y="1536192"/>
            <a:ext cx="3383280" cy="594360"/>
          </a:xfrm>
          <a:prstGeom prst="rect">
            <a:avLst/>
          </a:prstGeom>
          <a:noFill/>
          <a:ln/>
        </p:spPr>
        <p:txBody>
          <a:bodyPr wrap="square" lIns="0" tIns="0" rIns="0" bIns="0" rtlCol="0" anchor="t"/>
          <a:lstStyle/>
          <a:p>
            <a:pPr indent="0" marL="0">
              <a:buNone/>
            </a:pPr>
            <a:r>
              <a:rPr lang="en-US" sz="1100" dirty="0">
                <a:solidFill>
                  <a:schemeClr val="accent3"/>
                </a:solidFill>
              </a:rPr>
              <a:t>At 500 m range the diagonal neighbours (424 m) are links. An interior radio has 8 neighbours, and those 9 radios need 9 different slots.</a:t>
            </a:r>
            <a:endParaRPr lang="en-US" sz="1100" dirty="0"/>
          </a:p>
        </p:txBody>
      </p:sp>
      <p:sp>
        <p:nvSpPr>
          <p:cNvPr id="67" name="Card 240"/>
          <p:cNvSpPr/>
          <p:nvPr/>
        </p:nvSpPr>
        <p:spPr>
          <a:xfrm>
            <a:off x="4434840" y="2304288"/>
            <a:ext cx="4251960" cy="978408"/>
          </a:xfrm>
          <a:prstGeom prst="roundRect">
            <a:avLst>
              <a:gd name="adj" fmla="val 7477"/>
            </a:avLst>
          </a:prstGeom>
          <a:solidFill>
            <a:schemeClr val="bg2"/>
          </a:solidFill>
          <a:ln w="12700">
            <a:solidFill>
              <a:schemeClr val="bg2"/>
            </a:solidFill>
            <a:prstDash val="solid"/>
          </a:ln>
        </p:spPr>
      </p:sp>
      <p:sp>
        <p:nvSpPr>
          <p:cNvPr id="68" name="Badge 241"/>
          <p:cNvSpPr/>
          <p:nvPr/>
        </p:nvSpPr>
        <p:spPr>
          <a:xfrm>
            <a:off x="4599432" y="2596896"/>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69" name="Text 242"/>
          <p:cNvSpPr txBox="1"/>
          <p:nvPr/>
        </p:nvSpPr>
        <p:spPr>
          <a:xfrm>
            <a:off x="5166360" y="2395728"/>
            <a:ext cx="3383280" cy="256032"/>
          </a:xfrm>
          <a:prstGeom prst="rect">
            <a:avLst/>
          </a:prstGeom>
          <a:noFill/>
          <a:ln/>
        </p:spPr>
        <p:txBody>
          <a:bodyPr wrap="square" lIns="0" tIns="0" rIns="0" bIns="0" rtlCol="0" anchor="t"/>
          <a:lstStyle/>
          <a:p>
            <a:pPr indent="0" marL="0">
              <a:buNone/>
            </a:pPr>
            <a:r>
              <a:rPr lang="en-US" sz="1400" b="1" dirty="0">
                <a:solidFill>
                  <a:schemeClr val="tx1"/>
                </a:solidFill>
              </a:rPr>
              <a:t>The 5-slot sample collides here</a:t>
            </a:r>
            <a:endParaRPr lang="en-US" sz="1400" dirty="0"/>
          </a:p>
        </p:txBody>
      </p:sp>
      <p:sp>
        <p:nvSpPr>
          <p:cNvPr id="70" name="Text 243"/>
          <p:cNvSpPr txBox="1"/>
          <p:nvPr/>
        </p:nvSpPr>
        <p:spPr>
          <a:xfrm>
            <a:off x="5166360" y="2651760"/>
            <a:ext cx="3383280" cy="594360"/>
          </a:xfrm>
          <a:prstGeom prst="rect">
            <a:avLst/>
          </a:prstGeom>
          <a:noFill/>
          <a:ln/>
        </p:spPr>
        <p:txBody>
          <a:bodyPr wrap="square" lIns="0" tIns="0" rIns="0" bIns="0" rtlCol="0" anchor="t"/>
          <a:lstStyle/>
          <a:p>
            <a:pPr indent="0" marL="0">
              <a:buNone/>
            </a:pPr>
            <a:r>
              <a:rPr lang="en-US" sz="1100" dirty="0">
                <a:solidFill>
                  <a:schemeClr val="accent3"/>
                </a:solidFill>
              </a:rPr>
              <a:t>It puts Node_01 and Node_03 in slot 0, and both reach Node_02: a hidden-terminal collision. It was read as a format example.</a:t>
            </a:r>
            <a:endParaRPr lang="en-US" sz="1100" dirty="0"/>
          </a:p>
        </p:txBody>
      </p:sp>
      <p:sp>
        <p:nvSpPr>
          <p:cNvPr id="71" name="Card 244"/>
          <p:cNvSpPr/>
          <p:nvPr/>
        </p:nvSpPr>
        <p:spPr>
          <a:xfrm>
            <a:off x="4434840" y="3419856"/>
            <a:ext cx="4251960" cy="978408"/>
          </a:xfrm>
          <a:prstGeom prst="roundRect">
            <a:avLst>
              <a:gd name="adj" fmla="val 7477"/>
            </a:avLst>
          </a:prstGeom>
          <a:solidFill>
            <a:schemeClr val="bg2"/>
          </a:solidFill>
          <a:ln w="12700">
            <a:solidFill>
              <a:schemeClr val="bg2"/>
            </a:solidFill>
            <a:prstDash val="solid"/>
          </a:ln>
        </p:spPr>
      </p:sp>
      <p:sp>
        <p:nvSpPr>
          <p:cNvPr id="72" name="Badge 245"/>
          <p:cNvSpPr/>
          <p:nvPr/>
        </p:nvSpPr>
        <p:spPr>
          <a:xfrm>
            <a:off x="4599432" y="3712464"/>
            <a:ext cx="384048" cy="38404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73" name="Text 246"/>
          <p:cNvSpPr txBox="1"/>
          <p:nvPr/>
        </p:nvSpPr>
        <p:spPr>
          <a:xfrm>
            <a:off x="5166360" y="3511296"/>
            <a:ext cx="3383280" cy="256032"/>
          </a:xfrm>
          <a:prstGeom prst="rect">
            <a:avLst/>
          </a:prstGeom>
          <a:noFill/>
          <a:ln/>
        </p:spPr>
        <p:txBody>
          <a:bodyPr wrap="square" lIns="0" tIns="0" rIns="0" bIns="0" rtlCol="0" anchor="t"/>
          <a:lstStyle/>
          <a:p>
            <a:pPr indent="0" marL="0">
              <a:buNone/>
            </a:pPr>
            <a:r>
              <a:rPr lang="en-US" sz="1400" b="1" dirty="0">
                <a:solidFill>
                  <a:schemeClr val="tx1"/>
                </a:solidFill>
              </a:rPr>
              <a:t>5 is right for a shorter range</a:t>
            </a:r>
            <a:endParaRPr lang="en-US" sz="1400" dirty="0"/>
          </a:p>
        </p:txBody>
      </p:sp>
      <p:sp>
        <p:nvSpPr>
          <p:cNvPr id="74" name="Text 247"/>
          <p:cNvSpPr txBox="1"/>
          <p:nvPr/>
        </p:nvSpPr>
        <p:spPr>
          <a:xfrm>
            <a:off x="5166360" y="3767328"/>
            <a:ext cx="3383280" cy="594360"/>
          </a:xfrm>
          <a:prstGeom prst="rect">
            <a:avLst/>
          </a:prstGeom>
          <a:noFill/>
          <a:ln/>
        </p:spPr>
        <p:txBody>
          <a:bodyPr wrap="square" lIns="0" tIns="0" rIns="0" bIns="0" rtlCol="0" anchor="t"/>
          <a:lstStyle/>
          <a:p>
            <a:pPr indent="0" marL="0">
              <a:buNone/>
            </a:pPr>
            <a:r>
              <a:rPr lang="en-US" sz="1100" dirty="0">
                <a:solidFill>
                  <a:schemeClr val="accent3"/>
                </a:solidFill>
              </a:rPr>
              <a:t>With a 350 m range there are no diagonal links, and the tool returns exactly 5 slots.</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How the result is verified</a:t>
            </a:r>
            <a:endParaRPr lang="en-US" sz="2800" dirty="0"/>
          </a:p>
        </p:txBody>
      </p:sp>
      <p:sp>
        <p:nvSpPr>
          <p:cNvPr id="4" name="Text 248"/>
          <p:cNvSpPr txBox="1"/>
          <p:nvPr/>
        </p:nvSpPr>
        <p:spPr>
          <a:xfrm>
            <a:off x="457200" y="1188720"/>
            <a:ext cx="3840480" cy="274320"/>
          </a:xfrm>
          <a:prstGeom prst="rect">
            <a:avLst/>
          </a:prstGeom>
          <a:noFill/>
          <a:ln/>
        </p:spPr>
        <p:txBody>
          <a:bodyPr wrap="square" lIns="0" tIns="0" rIns="0" bIns="0" rtlCol="0" anchor="t"/>
          <a:lstStyle/>
          <a:p>
            <a:pPr indent="0" marL="0">
              <a:buNone/>
            </a:pPr>
            <a:r>
              <a:rPr lang="en-US" sz="1600" b="1" dirty="0">
                <a:solidFill>
                  <a:schemeClr val="tx1"/>
                </a:solidFill>
              </a:rPr>
              <a:t>Independent validator</a:t>
            </a:r>
            <a:endParaRPr lang="en-US" sz="1600" dirty="0"/>
          </a:p>
        </p:txBody>
      </p:sp>
      <p:sp>
        <p:nvSpPr>
          <p:cNvPr id="5" name="Text 249"/>
          <p:cNvSpPr txBox="1"/>
          <p:nvPr/>
        </p:nvSpPr>
        <p:spPr>
          <a:xfrm>
            <a:off x="457200" y="1508760"/>
            <a:ext cx="3840480" cy="914400"/>
          </a:xfrm>
          <a:prstGeom prst="rect">
            <a:avLst/>
          </a:prstGeom>
          <a:noFill/>
          <a:ln/>
        </p:spPr>
        <p:txBody>
          <a:bodyPr wrap="square" lIns="0" tIns="0" rIns="0" bIns="0" rtlCol="0" anchor="t"/>
          <a:lstStyle/>
          <a:p>
            <a:pPr indent="0" marL="0">
              <a:buNone/>
            </a:pPr>
            <a:r>
              <a:rPr lang="en-US" sz="1200" dirty="0">
                <a:solidFill>
                  <a:schemeClr val="accent3"/>
                </a:solidFill>
              </a:rPr>
              <a:t>Before printing, every pair of radios that shares a slot is re-checked from the raw coordinates: out of range of each other, and no common neighbour. It does not reuse the conflict graph.</a:t>
            </a:r>
            <a:endParaRPr lang="en-US" sz="1200" dirty="0"/>
          </a:p>
        </p:txBody>
      </p:sp>
      <p:sp>
        <p:nvSpPr>
          <p:cNvPr id="6" name="Card 250"/>
          <p:cNvSpPr/>
          <p:nvPr/>
        </p:nvSpPr>
        <p:spPr>
          <a:xfrm>
            <a:off x="457200" y="2606040"/>
            <a:ext cx="3840480" cy="1371600"/>
          </a:xfrm>
          <a:prstGeom prst="roundRect">
            <a:avLst>
              <a:gd name="adj" fmla="val 5333"/>
            </a:avLst>
          </a:prstGeom>
          <a:solidFill>
            <a:schemeClr val="tx2"/>
          </a:solidFill>
          <a:ln w="12700">
            <a:solidFill>
              <a:schemeClr val="tx2"/>
            </a:solidFill>
            <a:prstDash val="solid"/>
          </a:ln>
        </p:spPr>
      </p:sp>
      <p:sp>
        <p:nvSpPr>
          <p:cNvPr id="7" name="Text 251"/>
          <p:cNvSpPr txBox="1"/>
          <p:nvPr/>
        </p:nvSpPr>
        <p:spPr>
          <a:xfrm>
            <a:off x="640080" y="2743200"/>
            <a:ext cx="3474720" cy="1097280"/>
          </a:xfrm>
          <a:prstGeom prst="rect">
            <a:avLst/>
          </a:prstGeom>
          <a:noFill/>
          <a:ln/>
        </p:spPr>
        <p:txBody>
          <a:bodyPr wrap="square" lIns="0" tIns="0" rIns="0" bIns="0" rtlCol="0" anchor="t"/>
          <a:lstStyle/>
          <a:p>
            <a:pPr indent="0" marL="0">
              <a:buNone/>
            </a:pPr>
            <a:r>
              <a:rPr lang="en-US" sz="900" dirty="0">
                <a:solidFill>
                  <a:schemeClr val="bg1"/>
                </a:solidFill>
                <a:latin typeface="Courier New" pitchFamily="34" charset="0"/>
                <a:ea typeface="Courier New" pitchFamily="34" charset="-122"/>
                <a:cs typeface="Courier New" pitchFamily="34" charset="-120"/>
              </a:rPr>
              <a:t>Optimized Frame Length : 9 unique timeslots</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Heuristics Compared    : DSATUR = 9,</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                         largest_first = 9</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Slot Lower Bound       : 9 -&gt; schedule is optimal</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Execution finalized cleanly.</a:t>
            </a:r>
            <a:endParaRPr lang="en-US" sz="900" dirty="0"/>
          </a:p>
          <a:p>
            <a:pPr indent="0" marL="0">
              <a:buNone/>
            </a:pPr>
            <a:r>
              <a:rPr lang="en-US" sz="900" dirty="0">
                <a:solidFill>
                  <a:schemeClr val="bg1"/>
                </a:solidFill>
                <a:latin typeface="Courier New" pitchFamily="34" charset="0"/>
                <a:ea typeface="Courier New" pitchFamily="34" charset="-122"/>
                <a:cs typeface="Courier New" pitchFamily="34" charset="-120"/>
              </a:rPr>
              <a:t>Schedule verified conflict-free.</a:t>
            </a:r>
            <a:endParaRPr lang="en-US" sz="900" dirty="0"/>
          </a:p>
        </p:txBody>
      </p:sp>
      <p:sp>
        <p:nvSpPr>
          <p:cNvPr id="8" name="Text 252"/>
          <p:cNvSpPr txBox="1"/>
          <p:nvPr/>
        </p:nvSpPr>
        <p:spPr>
          <a:xfrm>
            <a:off x="4572000" y="1188720"/>
            <a:ext cx="4114800" cy="274320"/>
          </a:xfrm>
          <a:prstGeom prst="rect">
            <a:avLst/>
          </a:prstGeom>
          <a:noFill/>
          <a:ln/>
        </p:spPr>
        <p:txBody>
          <a:bodyPr wrap="square" lIns="0" tIns="0" rIns="0" bIns="0" rtlCol="0" anchor="t"/>
          <a:lstStyle/>
          <a:p>
            <a:pPr indent="0" marL="0">
              <a:buNone/>
            </a:pPr>
            <a:r>
              <a:rPr lang="en-US" sz="1600" b="1" dirty="0">
                <a:solidFill>
                  <a:schemeClr val="tx1"/>
                </a:solidFill>
              </a:rPr>
              <a:t>98 automated tests</a:t>
            </a:r>
            <a:endParaRPr lang="en-US" sz="1600" dirty="0"/>
          </a:p>
        </p:txBody>
      </p:sp>
      <p:sp>
        <p:nvSpPr>
          <p:cNvPr id="9" name="Text 253"/>
          <p:cNvSpPr txBox="1"/>
          <p:nvPr/>
        </p:nvSpPr>
        <p:spPr>
          <a:xfrm>
            <a:off x="4572000" y="1554480"/>
            <a:ext cx="4114800" cy="29718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accent3"/>
                </a:solidFill>
              </a:rPr>
              <a:t>No links at all: every radio gets slot 0</a:t>
            </a:r>
            <a:endParaRPr lang="en-US" sz="1200" dirty="0"/>
          </a:p>
          <a:p>
            <a:pPr marL="342900" indent="-342900">
              <a:spcAft>
                <a:spcPts val="600"/>
              </a:spcAft>
              <a:buSzPct val="100000"/>
              <a:buChar char="•"/>
            </a:pPr>
            <a:r>
              <a:rPr lang="en-US" sz="1200" dirty="0">
                <a:solidFill>
                  <a:schemeClr val="accent3"/>
                </a:solidFill>
              </a:rPr>
              <a:t>Everyone in range: one slot per radio</a:t>
            </a:r>
            <a:endParaRPr lang="en-US" sz="1200" dirty="0"/>
          </a:p>
          <a:p>
            <a:pPr marL="342900" indent="-342900">
              <a:spcAft>
                <a:spcPts val="600"/>
              </a:spcAft>
              <a:buSzPct val="100000"/>
              <a:buChar char="•"/>
            </a:pPr>
            <a:r>
              <a:rPr lang="en-US" sz="1200" dirty="0">
                <a:solidFill>
                  <a:schemeClr val="accent3"/>
                </a:solidFill>
              </a:rPr>
              <a:t>A-B-C line: three different slots (hidden terminal)</a:t>
            </a:r>
            <a:endParaRPr lang="en-US" sz="1200" dirty="0"/>
          </a:p>
          <a:p>
            <a:pPr marL="342900" indent="-342900">
              <a:spcAft>
                <a:spcPts val="600"/>
              </a:spcAft>
              <a:buSzPct val="100000"/>
              <a:buChar char="•"/>
            </a:pPr>
            <a:r>
              <a:rPr lang="en-US" sz="1200" dirty="0">
                <a:solidFill>
                  <a:schemeClr val="accent3"/>
                </a:solidFill>
              </a:rPr>
              <a:t>9-radio line: 3 slots, reuse at 3 hops</a:t>
            </a:r>
            <a:endParaRPr lang="en-US" sz="1200" dirty="0"/>
          </a:p>
          <a:p>
            <a:pPr marL="342900" indent="-342900">
              <a:spcAft>
                <a:spcPts val="600"/>
              </a:spcAft>
              <a:buSzPct val="100000"/>
              <a:buChar char="•"/>
            </a:pPr>
            <a:r>
              <a:rPr lang="en-US" sz="1200" dirty="0">
                <a:solidFill>
                  <a:schemeClr val="accent3"/>
                </a:solidFill>
              </a:rPr>
              <a:t>16-node grid: 9 slots, no collisions, both heuristics</a:t>
            </a:r>
            <a:endParaRPr lang="en-US" sz="1200" dirty="0"/>
          </a:p>
          <a:p>
            <a:pPr marL="342900" indent="-342900">
              <a:spcAft>
                <a:spcPts val="600"/>
              </a:spcAft>
              <a:buSzPct val="100000"/>
              <a:buChar char="•"/>
            </a:pPr>
            <a:r>
              <a:rPr lang="en-US" sz="1200" dirty="0">
                <a:solidFill>
                  <a:schemeClr val="accent3"/>
                </a:solidFill>
              </a:rPr>
              <a:t>Random layouts: never a collision</a:t>
            </a:r>
            <a:endParaRPr lang="en-US" sz="1200" dirty="0"/>
          </a:p>
          <a:p>
            <a:pPr marL="342900" indent="-342900">
              <a:spcAft>
                <a:spcPts val="600"/>
              </a:spcAft>
              <a:buSzPct val="100000"/>
              <a:buChar char="•"/>
            </a:pPr>
            <a:r>
              <a:rPr lang="en-US" sz="1200" dirty="0">
                <a:solidFill>
                  <a:schemeClr val="accent3"/>
                </a:solidFill>
              </a:rPr>
              <a:t>Validator catches direct and hidden-terminal collisions</a:t>
            </a:r>
            <a:endParaRPr lang="en-US" sz="1200" dirty="0"/>
          </a:p>
          <a:p>
            <a:pPr marL="342900" indent="-342900">
              <a:spcAft>
                <a:spcPts val="600"/>
              </a:spcAft>
              <a:buSzPct val="100000"/>
              <a:buChar char="•"/>
            </a:pPr>
            <a:r>
              <a:rPr lang="en-US" sz="1200" dirty="0">
                <a:solidFill>
                  <a:schemeClr val="accent3"/>
                </a:solidFill>
              </a:rPr>
              <a:t>Hand-written DSATUR matches networkx exactly</a:t>
            </a:r>
            <a:endParaRPr lang="en-US" sz="1200" dirty="0"/>
          </a:p>
          <a:p>
            <a:pPr marL="342900" indent="-342900">
              <a:spcAft>
                <a:spcPts val="600"/>
              </a:spcAft>
              <a:buSzPct val="100000"/>
              <a:buChar char="•"/>
            </a:pPr>
            <a:r>
              <a:rPr lang="en-US" sz="1200" dirty="0">
                <a:solidFill>
                  <a:schemeClr val="accent3"/>
                </a:solidFill>
              </a:rPr>
              <a:t>EMANE bridge lists the right transmitters per slot</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Part 2: 16 EMANE radios in one container</a:t>
            </a:r>
            <a:endParaRPr lang="en-US" sz="2800" dirty="0"/>
          </a:p>
        </p:txBody>
      </p:sp>
      <p:sp>
        <p:nvSpPr>
          <p:cNvPr id="4" name="Card 254"/>
          <p:cNvSpPr/>
          <p:nvPr/>
        </p:nvSpPr>
        <p:spPr>
          <a:xfrm>
            <a:off x="457200" y="1143000"/>
            <a:ext cx="8229600" cy="3200400"/>
          </a:xfrm>
          <a:prstGeom prst="roundRect">
            <a:avLst>
              <a:gd name="adj" fmla="val 2286"/>
            </a:avLst>
          </a:prstGeom>
          <a:solidFill>
            <a:schemeClr val="bg2"/>
          </a:solidFill>
          <a:ln w="12700">
            <a:solidFill>
              <a:schemeClr val="bg2"/>
            </a:solidFill>
            <a:prstDash val="solid"/>
          </a:ln>
        </p:spPr>
      </p:sp>
      <p:sp>
        <p:nvSpPr>
          <p:cNvPr id="5" name="Text 255"/>
          <p:cNvSpPr txBox="1"/>
          <p:nvPr/>
        </p:nvSpPr>
        <p:spPr>
          <a:xfrm>
            <a:off x="640080" y="1216152"/>
            <a:ext cx="5486400" cy="228600"/>
          </a:xfrm>
          <a:prstGeom prst="rect">
            <a:avLst/>
          </a:prstGeom>
          <a:noFill/>
          <a:ln/>
        </p:spPr>
        <p:txBody>
          <a:bodyPr wrap="square" lIns="0" tIns="0" rIns="0" bIns="0" rtlCol="0" anchor="t"/>
          <a:lstStyle/>
          <a:p>
            <a:pPr indent="0" marL="0">
              <a:buNone/>
            </a:pPr>
            <a:r>
              <a:rPr lang="en-US" sz="1000" b="1" dirty="0">
                <a:solidFill>
                  <a:schemeClr val="accent3"/>
                </a:solidFill>
              </a:rPr>
              <a:t>One Docker container (privileged), EMANE 1.5.3</a:t>
            </a:r>
            <a:endParaRPr lang="en-US" sz="1000" dirty="0"/>
          </a:p>
        </p:txBody>
      </p:sp>
      <p:sp>
        <p:nvSpPr>
          <p:cNvPr id="6" name="Box 256"/>
          <p:cNvSpPr/>
          <p:nvPr/>
        </p:nvSpPr>
        <p:spPr>
          <a:xfrm>
            <a:off x="640080" y="1536192"/>
            <a:ext cx="2468880" cy="658368"/>
          </a:xfrm>
          <a:prstGeom prst="roundRect">
            <a:avLst>
              <a:gd name="adj" fmla="val 8333"/>
            </a:avLst>
          </a:prstGeom>
          <a:solidFill>
            <a:schemeClr val="bg1"/>
          </a:solidFill>
          <a:ln w="9525">
            <a:solidFill>
              <a:schemeClr val="accent5"/>
            </a:solidFill>
            <a:prstDash val="solid"/>
          </a:ln>
        </p:spPr>
      </p:sp>
      <p:sp>
        <p:nvSpPr>
          <p:cNvPr id="7" name="Text 257"/>
          <p:cNvSpPr txBox="1"/>
          <p:nvPr/>
        </p:nvSpPr>
        <p:spPr>
          <a:xfrm>
            <a:off x="64008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Part 1 optimizer</a:t>
            </a:r>
            <a:endParaRPr lang="en-US" sz="1200" dirty="0"/>
          </a:p>
          <a:p>
            <a:pPr algn="ctr" indent="0" marL="0">
              <a:buNone/>
            </a:pPr>
            <a:r>
              <a:rPr lang="en-US" sz="1000" dirty="0">
                <a:solidFill>
                  <a:schemeClr val="accent3"/>
                </a:solidFill>
              </a:rPr>
              <a:t>coordinates to node/slot map</a:t>
            </a:r>
            <a:endParaRPr lang="en-US" sz="1200" dirty="0"/>
          </a:p>
        </p:txBody>
      </p:sp>
      <p:sp>
        <p:nvSpPr>
          <p:cNvPr id="8" name="Box 258"/>
          <p:cNvSpPr/>
          <p:nvPr/>
        </p:nvSpPr>
        <p:spPr>
          <a:xfrm>
            <a:off x="3337560" y="1536192"/>
            <a:ext cx="2468880" cy="658368"/>
          </a:xfrm>
          <a:prstGeom prst="roundRect">
            <a:avLst>
              <a:gd name="adj" fmla="val 8333"/>
            </a:avLst>
          </a:prstGeom>
          <a:solidFill>
            <a:schemeClr val="bg1"/>
          </a:solidFill>
          <a:ln w="9525">
            <a:solidFill>
              <a:schemeClr val="accent5"/>
            </a:solidFill>
            <a:prstDash val="solid"/>
          </a:ln>
        </p:spPr>
      </p:sp>
      <p:sp>
        <p:nvSpPr>
          <p:cNvPr id="9" name="Text 259"/>
          <p:cNvSpPr txBox="1"/>
          <p:nvPr/>
        </p:nvSpPr>
        <p:spPr>
          <a:xfrm>
            <a:off x="333756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bridge.py</a:t>
            </a:r>
            <a:endParaRPr lang="en-US" sz="1200" dirty="0"/>
          </a:p>
          <a:p>
            <a:pPr algn="ctr" indent="0" marL="0">
              <a:buNone/>
            </a:pPr>
            <a:r>
              <a:rPr lang="en-US" sz="1000" dirty="0">
                <a:solidFill>
                  <a:schemeClr val="accent3"/>
                </a:solidFill>
              </a:rPr>
              <a:t>node/slot map to schedule XML</a:t>
            </a:r>
            <a:endParaRPr lang="en-US" sz="1200" dirty="0"/>
          </a:p>
        </p:txBody>
      </p:sp>
      <p:sp>
        <p:nvSpPr>
          <p:cNvPr id="10" name="Box 260"/>
          <p:cNvSpPr/>
          <p:nvPr/>
        </p:nvSpPr>
        <p:spPr>
          <a:xfrm>
            <a:off x="6035040" y="1536192"/>
            <a:ext cx="2468880" cy="658368"/>
          </a:xfrm>
          <a:prstGeom prst="roundRect">
            <a:avLst>
              <a:gd name="adj" fmla="val 8333"/>
            </a:avLst>
          </a:prstGeom>
          <a:solidFill>
            <a:schemeClr val="bg1"/>
          </a:solidFill>
          <a:ln w="9525">
            <a:solidFill>
              <a:schemeClr val="accent5"/>
            </a:solidFill>
            <a:prstDash val="solid"/>
          </a:ln>
        </p:spPr>
      </p:sp>
      <p:sp>
        <p:nvSpPr>
          <p:cNvPr id="11" name="Text 261"/>
          <p:cNvSpPr txBox="1"/>
          <p:nvPr/>
        </p:nvSpPr>
        <p:spPr>
          <a:xfrm>
            <a:off x="6035040" y="1591056"/>
            <a:ext cx="2468880" cy="548640"/>
          </a:xfrm>
          <a:prstGeom prst="rect">
            <a:avLst/>
          </a:prstGeom>
          <a:noFill/>
          <a:ln/>
        </p:spPr>
        <p:txBody>
          <a:bodyPr wrap="square" lIns="0" tIns="0" rIns="0" bIns="0" rtlCol="0" anchor="t"/>
          <a:lstStyle/>
          <a:p>
            <a:pPr algn="ctr" indent="0" marL="0">
              <a:buNone/>
            </a:pPr>
            <a:r>
              <a:rPr lang="en-US" sz="1200" b="1" dirty="0">
                <a:solidFill>
                  <a:schemeClr val="tx1"/>
                </a:solidFill>
              </a:rPr>
              <a:t>pathloss.py</a:t>
            </a:r>
            <a:endParaRPr lang="en-US" sz="1200" dirty="0"/>
          </a:p>
          <a:p>
            <a:pPr algn="ctr" indent="0" marL="0">
              <a:buNone/>
            </a:pPr>
            <a:r>
              <a:rPr lang="en-US" sz="1000" dirty="0">
                <a:solidFill>
                  <a:schemeClr val="accent3"/>
                </a:solidFill>
              </a:rPr>
              <a:t>500 m range to pathloss events</a:t>
            </a:r>
            <a:endParaRPr lang="en-US" sz="1200" dirty="0"/>
          </a:p>
        </p:txBody>
      </p:sp>
      <p:sp>
        <p:nvSpPr>
          <p:cNvPr id="12" name="Arrow 262"/>
          <p:cNvSpPr/>
          <p:nvPr/>
        </p:nvSpPr>
        <p:spPr>
          <a:xfrm>
            <a:off x="3108960" y="1865376"/>
            <a:ext cx="228600" cy="0"/>
          </a:xfrm>
          <a:prstGeom prst="line">
            <a:avLst/>
          </a:prstGeom>
          <a:noFill/>
          <a:ln w="15875">
            <a:solidFill>
              <a:schemeClr val="accent3"/>
            </a:solidFill>
            <a:prstDash val="solid"/>
            <a:tailEnd type="triangle"/>
          </a:ln>
        </p:spPr>
      </p:sp>
      <p:sp>
        <p:nvSpPr>
          <p:cNvPr id="13" name="Bridge"/>
          <p:cNvSpPr/>
          <p:nvPr/>
        </p:nvSpPr>
        <p:spPr>
          <a:xfrm>
            <a:off x="640080" y="2542032"/>
            <a:ext cx="7863840" cy="365760"/>
          </a:xfrm>
          <a:prstGeom prst="roundRect">
            <a:avLst>
              <a:gd name="adj" fmla="val 12500"/>
            </a:avLst>
          </a:prstGeom>
          <a:solidFill>
            <a:schemeClr val="accent1"/>
          </a:solidFill>
          <a:ln>
            <a:solidFill>
              <a:schemeClr val="accent1"/>
            </a:solidFill>
          </a:ln>
        </p:spPr>
        <p:txBody>
          <a:bodyPr wrap="square" lIns="0" tIns="0" rIns="0" bIns="0" rtlCol="0" anchor="ctr"/>
          <a:lstStyle/>
          <a:p>
            <a:pPr algn="ctr" indent="0" marL="0">
              <a:buNone/>
            </a:pPr>
            <a:r>
              <a:rPr lang="en-US" sz="1200" b="1" dirty="0">
                <a:solidFill>
                  <a:schemeClr val="bg1"/>
                </a:solidFill>
              </a:rPr>
              <a:t>Linux bridge: EMANE event channel + over-the-air channel (multicast)</a:t>
            </a:r>
            <a:endParaRPr lang="en-US" sz="1200" dirty="0"/>
          </a:p>
        </p:txBody>
      </p:sp>
      <p:sp>
        <p:nvSpPr>
          <p:cNvPr id="14" name="Arrow 263"/>
          <p:cNvSpPr/>
          <p:nvPr/>
        </p:nvSpPr>
        <p:spPr>
          <a:xfrm>
            <a:off x="4572000" y="2194560"/>
            <a:ext cx="0" cy="347472"/>
          </a:xfrm>
          <a:prstGeom prst="line">
            <a:avLst/>
          </a:prstGeom>
          <a:noFill/>
          <a:ln w="15875">
            <a:solidFill>
              <a:schemeClr val="accent3"/>
            </a:solidFill>
            <a:prstDash val="solid"/>
            <a:tailEnd type="triangle"/>
          </a:ln>
        </p:spPr>
      </p:sp>
      <p:sp>
        <p:nvSpPr>
          <p:cNvPr id="15" name="Arrow 264"/>
          <p:cNvSpPr/>
          <p:nvPr/>
        </p:nvSpPr>
        <p:spPr>
          <a:xfrm>
            <a:off x="7269480" y="2194560"/>
            <a:ext cx="0" cy="347472"/>
          </a:xfrm>
          <a:prstGeom prst="line">
            <a:avLst/>
          </a:prstGeom>
          <a:noFill/>
          <a:ln w="15875">
            <a:solidFill>
              <a:schemeClr val="accent3"/>
            </a:solidFill>
            <a:prstDash val="solid"/>
            <a:tailEnd type="triangle"/>
          </a:ln>
        </p:spPr>
      </p:sp>
      <p:sp>
        <p:nvSpPr>
          <p:cNvPr id="16" name="Box 265"/>
          <p:cNvSpPr/>
          <p:nvPr/>
        </p:nvSpPr>
        <p:spPr>
          <a:xfrm>
            <a:off x="640080" y="3200400"/>
            <a:ext cx="1828800" cy="960120"/>
          </a:xfrm>
          <a:prstGeom prst="roundRect">
            <a:avLst>
              <a:gd name="adj" fmla="val 5714"/>
            </a:avLst>
          </a:prstGeom>
          <a:solidFill>
            <a:schemeClr val="bg1"/>
          </a:solidFill>
          <a:ln w="9525">
            <a:solidFill>
              <a:schemeClr val="accent5"/>
            </a:solidFill>
            <a:prstDash val="solid"/>
          </a:ln>
        </p:spPr>
      </p:sp>
      <p:sp>
        <p:nvSpPr>
          <p:cNvPr id="17" name="Text 266"/>
          <p:cNvSpPr txBox="1"/>
          <p:nvPr/>
        </p:nvSpPr>
        <p:spPr>
          <a:xfrm>
            <a:off x="64008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node1</a:t>
            </a:r>
            <a:endParaRPr lang="en-US" sz="1200" dirty="0"/>
          </a:p>
          <a:p>
            <a:pPr algn="ctr" indent="0" marL="0">
              <a:buNone/>
            </a:pPr>
            <a:r>
              <a:rPr lang="en-US" sz="1000" dirty="0">
                <a:solidFill>
                  <a:schemeClr val="accent3"/>
                </a:solidFill>
              </a:rPr>
              <a:t>EMANE TDMA radio, NEM 1</a:t>
            </a:r>
            <a:endParaRPr lang="en-US" sz="1200" dirty="0"/>
          </a:p>
          <a:p>
            <a:pPr algn="ctr" indent="0" marL="0">
              <a:buNone/>
            </a:pPr>
            <a:r>
              <a:rPr lang="en-US" sz="1000" dirty="0">
                <a:solidFill>
                  <a:schemeClr val="accent3"/>
                </a:solidFill>
              </a:rPr>
              <a:t>emane0  10.100.0.1</a:t>
            </a:r>
            <a:endParaRPr lang="en-US" sz="1200" dirty="0"/>
          </a:p>
          <a:p>
            <a:pPr algn="ctr" indent="0" marL="0">
              <a:buNone/>
            </a:pPr>
            <a:r>
              <a:rPr lang="en-US" sz="1000" dirty="0">
                <a:solidFill>
                  <a:schemeClr val="accent3"/>
                </a:solidFill>
              </a:rPr>
              <a:t>traffic.py probe</a:t>
            </a:r>
            <a:endParaRPr lang="en-US" sz="1200" dirty="0"/>
          </a:p>
        </p:txBody>
      </p:sp>
      <p:sp>
        <p:nvSpPr>
          <p:cNvPr id="18" name="Arrow 267"/>
          <p:cNvSpPr/>
          <p:nvPr/>
        </p:nvSpPr>
        <p:spPr>
          <a:xfrm>
            <a:off x="1554480" y="2907792"/>
            <a:ext cx="0" cy="292608"/>
          </a:xfrm>
          <a:prstGeom prst="line">
            <a:avLst/>
          </a:prstGeom>
          <a:noFill/>
          <a:ln w="15875">
            <a:solidFill>
              <a:schemeClr val="accent3"/>
            </a:solidFill>
            <a:prstDash val="solid"/>
            <a:tailEnd type="triangle"/>
          </a:ln>
        </p:spPr>
      </p:sp>
      <p:sp>
        <p:nvSpPr>
          <p:cNvPr id="19" name="Box 268"/>
          <p:cNvSpPr/>
          <p:nvPr/>
        </p:nvSpPr>
        <p:spPr>
          <a:xfrm>
            <a:off x="2651760" y="3200400"/>
            <a:ext cx="1828800" cy="960120"/>
          </a:xfrm>
          <a:prstGeom prst="roundRect">
            <a:avLst>
              <a:gd name="adj" fmla="val 5714"/>
            </a:avLst>
          </a:prstGeom>
          <a:solidFill>
            <a:schemeClr val="bg1"/>
          </a:solidFill>
          <a:ln w="9525">
            <a:solidFill>
              <a:schemeClr val="accent5"/>
            </a:solidFill>
            <a:prstDash val="solid"/>
          </a:ln>
        </p:spPr>
      </p:sp>
      <p:sp>
        <p:nvSpPr>
          <p:cNvPr id="20" name="Text 269"/>
          <p:cNvSpPr txBox="1"/>
          <p:nvPr/>
        </p:nvSpPr>
        <p:spPr>
          <a:xfrm>
            <a:off x="265176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node2</a:t>
            </a:r>
            <a:endParaRPr lang="en-US" sz="1200" dirty="0"/>
          </a:p>
          <a:p>
            <a:pPr algn="ctr" indent="0" marL="0">
              <a:buNone/>
            </a:pPr>
            <a:r>
              <a:rPr lang="en-US" sz="1000" dirty="0">
                <a:solidFill>
                  <a:schemeClr val="accent3"/>
                </a:solidFill>
              </a:rPr>
              <a:t>EMANE TDMA radio, NEM 2</a:t>
            </a:r>
            <a:endParaRPr lang="en-US" sz="1200" dirty="0"/>
          </a:p>
          <a:p>
            <a:pPr algn="ctr" indent="0" marL="0">
              <a:buNone/>
            </a:pPr>
            <a:r>
              <a:rPr lang="en-US" sz="1000" dirty="0">
                <a:solidFill>
                  <a:schemeClr val="accent3"/>
                </a:solidFill>
              </a:rPr>
              <a:t>emane0  10.100.0.2</a:t>
            </a:r>
            <a:endParaRPr lang="en-US" sz="1200" dirty="0"/>
          </a:p>
          <a:p>
            <a:pPr algn="ctr" indent="0" marL="0">
              <a:buNone/>
            </a:pPr>
            <a:r>
              <a:rPr lang="en-US" sz="1000" dirty="0">
                <a:solidFill>
                  <a:schemeClr val="accent3"/>
                </a:solidFill>
              </a:rPr>
              <a:t>traffic.py probe</a:t>
            </a:r>
            <a:endParaRPr lang="en-US" sz="1200" dirty="0"/>
          </a:p>
        </p:txBody>
      </p:sp>
      <p:sp>
        <p:nvSpPr>
          <p:cNvPr id="21" name="Arrow 270"/>
          <p:cNvSpPr/>
          <p:nvPr/>
        </p:nvSpPr>
        <p:spPr>
          <a:xfrm>
            <a:off x="3566160" y="2907792"/>
            <a:ext cx="0" cy="292608"/>
          </a:xfrm>
          <a:prstGeom prst="line">
            <a:avLst/>
          </a:prstGeom>
          <a:noFill/>
          <a:ln w="15875">
            <a:solidFill>
              <a:schemeClr val="accent3"/>
            </a:solidFill>
            <a:prstDash val="solid"/>
            <a:tailEnd type="triangle"/>
          </a:ln>
        </p:spPr>
      </p:sp>
      <p:sp>
        <p:nvSpPr>
          <p:cNvPr id="22" name="Text 271"/>
          <p:cNvSpPr txBox="1"/>
          <p:nvPr/>
        </p:nvSpPr>
        <p:spPr>
          <a:xfrm>
            <a:off x="4663440" y="3429000"/>
            <a:ext cx="1828800" cy="365760"/>
          </a:xfrm>
          <a:prstGeom prst="rect">
            <a:avLst/>
          </a:prstGeom>
          <a:noFill/>
          <a:ln/>
        </p:spPr>
        <p:txBody>
          <a:bodyPr wrap="square" lIns="0" tIns="0" rIns="0" bIns="0" rtlCol="0" anchor="t"/>
          <a:lstStyle/>
          <a:p>
            <a:pPr algn="ctr" indent="0" marL="0">
              <a:buNone/>
            </a:pPr>
            <a:r>
              <a:rPr lang="en-US" sz="2400" b="1" dirty="0">
                <a:solidFill>
                  <a:schemeClr val="accent4"/>
                </a:solidFill>
              </a:rPr>
              <a:t>...</a:t>
            </a:r>
            <a:endParaRPr lang="en-US" sz="2400" dirty="0"/>
          </a:p>
        </p:txBody>
      </p:sp>
      <p:sp>
        <p:nvSpPr>
          <p:cNvPr id="23" name="Box 272"/>
          <p:cNvSpPr/>
          <p:nvPr/>
        </p:nvSpPr>
        <p:spPr>
          <a:xfrm>
            <a:off x="6675120" y="3200400"/>
            <a:ext cx="1828800" cy="960120"/>
          </a:xfrm>
          <a:prstGeom prst="roundRect">
            <a:avLst>
              <a:gd name="adj" fmla="val 5714"/>
            </a:avLst>
          </a:prstGeom>
          <a:solidFill>
            <a:schemeClr val="bg1"/>
          </a:solidFill>
          <a:ln w="9525">
            <a:solidFill>
              <a:schemeClr val="accent5"/>
            </a:solidFill>
            <a:prstDash val="solid"/>
          </a:ln>
        </p:spPr>
      </p:sp>
      <p:sp>
        <p:nvSpPr>
          <p:cNvPr id="24" name="Text 273"/>
          <p:cNvSpPr txBox="1"/>
          <p:nvPr/>
        </p:nvSpPr>
        <p:spPr>
          <a:xfrm>
            <a:off x="6675120" y="3291840"/>
            <a:ext cx="1828800" cy="822960"/>
          </a:xfrm>
          <a:prstGeom prst="rect">
            <a:avLst/>
          </a:prstGeom>
          <a:noFill/>
          <a:ln/>
        </p:spPr>
        <p:txBody>
          <a:bodyPr wrap="square" lIns="0" tIns="0" rIns="0" bIns="0" rtlCol="0" anchor="t"/>
          <a:lstStyle/>
          <a:p>
            <a:pPr algn="ctr" indent="0" marL="0">
              <a:buNone/>
            </a:pPr>
            <a:r>
              <a:rPr lang="en-US" sz="1200" b="1" dirty="0">
                <a:solidFill>
                  <a:schemeClr val="tx1"/>
                </a:solidFill>
              </a:rPr>
              <a:t>namespace node16</a:t>
            </a:r>
            <a:endParaRPr lang="en-US" sz="1200" dirty="0"/>
          </a:p>
          <a:p>
            <a:pPr algn="ctr" indent="0" marL="0">
              <a:buNone/>
            </a:pPr>
            <a:r>
              <a:rPr lang="en-US" sz="1000" dirty="0">
                <a:solidFill>
                  <a:schemeClr val="accent3"/>
                </a:solidFill>
              </a:rPr>
              <a:t>EMANE TDMA radio, NEM 16</a:t>
            </a:r>
            <a:endParaRPr lang="en-US" sz="1200" dirty="0"/>
          </a:p>
          <a:p>
            <a:pPr algn="ctr" indent="0" marL="0">
              <a:buNone/>
            </a:pPr>
            <a:r>
              <a:rPr lang="en-US" sz="1000" dirty="0">
                <a:solidFill>
                  <a:schemeClr val="accent3"/>
                </a:solidFill>
              </a:rPr>
              <a:t>emane0  10.100.0.16</a:t>
            </a:r>
            <a:endParaRPr lang="en-US" sz="1200" dirty="0"/>
          </a:p>
          <a:p>
            <a:pPr algn="ctr" indent="0" marL="0">
              <a:buNone/>
            </a:pPr>
            <a:r>
              <a:rPr lang="en-US" sz="1000" dirty="0">
                <a:solidFill>
                  <a:schemeClr val="accent3"/>
                </a:solidFill>
              </a:rPr>
              <a:t>traffic.py probe</a:t>
            </a:r>
            <a:endParaRPr lang="en-US" sz="1200" dirty="0"/>
          </a:p>
        </p:txBody>
      </p:sp>
      <p:sp>
        <p:nvSpPr>
          <p:cNvPr id="25" name="Arrow 274"/>
          <p:cNvSpPr/>
          <p:nvPr/>
        </p:nvSpPr>
        <p:spPr>
          <a:xfrm>
            <a:off x="7589520" y="2907792"/>
            <a:ext cx="0" cy="292608"/>
          </a:xfrm>
          <a:prstGeom prst="line">
            <a:avLst/>
          </a:prstGeom>
          <a:noFill/>
          <a:ln w="15875">
            <a:solidFill>
              <a:schemeClr val="accent3"/>
            </a:solidFill>
            <a:prstDash val="solid"/>
            <a:tailEnd type="triangle"/>
          </a:ln>
        </p:spPr>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The bridge: Part 1 schedule to EMANE schedule</a:t>
            </a:r>
            <a:endParaRPr lang="en-US" sz="2800" dirty="0"/>
          </a:p>
        </p:txBody>
      </p:sp>
      <p:graphicFrame>
        <p:nvGraphicFramePr>
          <p:cNvPr id="10" name="Mapping table"/>
          <p:cNvGraphicFramePr>
            <a:graphicFrameLocks noGrp="1"/>
          </p:cNvGraphicFramePr>
          <p:nvPr>
            <p:extLst>
              <p:ext uri="{D42A27DB-BD31-4B8C-83A1-F6EECF244321}">
                <p14:modId xmlns:p14="http://schemas.microsoft.com/office/powerpoint/2010/main" val="1579011935"/>
              </p:ext>
            </p:extLst>
          </p:nvPr>
        </p:nvGraphicFramePr>
        <p:xfrm>
          <a:off x="457200" y="1234440"/>
          <a:ext cx="3931920" cy="914400"/>
        </p:xfrm>
        <a:graphic>
          <a:graphicData uri="http://schemas.openxmlformats.org/drawingml/2006/table">
            <a:tbl>
              <a:tblPr/>
              <a:tblGrid>
                <a:gridCol w="1828800"/>
                <a:gridCol w="2103120"/>
              </a:tblGrid>
              <a:tr h="329184">
                <a:tc>
                  <a:txBody>
                    <a:bodyPr/>
                    <a:lstStyle/>
                    <a:p>
                      <a:pPr indent="0" marL="0">
                        <a:buNone/>
                      </a:pPr>
                      <a:r>
                        <a:rPr lang="en-US" sz="1200" b="1" dirty="0">
                          <a:solidFill>
                            <a:schemeClr val="tx2"/>
                          </a:solidFill>
                        </a:rPr>
                        <a:t>Part 1</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chemeClr val="bg2"/>
                    </a:solidFill>
                  </a:tcPr>
                </a:tc>
                <a:tc>
                  <a:txBody>
                    <a:bodyPr/>
                    <a:lstStyle/>
                    <a:p>
                      <a:pPr indent="0" marL="0">
                        <a:buNone/>
                      </a:pPr>
                      <a:r>
                        <a:rPr lang="en-US" sz="1200" b="1" dirty="0">
                          <a:solidFill>
                            <a:schemeClr val="tx2"/>
                          </a:solidFill>
                        </a:rPr>
                        <a:t>EMANE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solidFill>
                      <a:schemeClr val="bg2"/>
                    </a:solidFill>
                  </a:tcPr>
                </a:tc>
              </a:tr>
              <a:tr h="329184">
                <a:tc>
                  <a:txBody>
                    <a:bodyPr/>
                    <a:lstStyle/>
                    <a:p>
                      <a:pPr indent="0" marL="0">
                        <a:buNone/>
                      </a:pPr>
                      <a:r>
                        <a:rPr lang="en-US" sz="1200" dirty="0">
                          <a:solidFill>
                            <a:schemeClr val="tx1"/>
                          </a:solidFill>
                        </a:rPr>
                        <a:t>Node, in input order</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NEM id 1..16</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Slot (colour) of a node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tx entry in that slot</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Frame length</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slots per frame</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Silent in other slots</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receive (EMANE default)</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Within 500 m</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free-space pathloss</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r h="329184">
                <a:tc>
                  <a:txBody>
                    <a:bodyPr/>
                    <a:lstStyle/>
                    <a:p>
                      <a:pPr indent="0" marL="0">
                        <a:buNone/>
                      </a:pPr>
                      <a:r>
                        <a:rPr lang="en-US" sz="1200" dirty="0">
                          <a:solidFill>
                            <a:schemeClr val="tx1"/>
                          </a:solidFill>
                        </a:rPr>
                        <a:t>Beyond 500 m</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c>
                  <a:txBody>
                    <a:bodyPr/>
                    <a:lstStyle/>
                    <a:p>
                      <a:pPr indent="0" marL="0">
                        <a:buNone/>
                      </a:pPr>
                      <a:r>
                        <a:rPr lang="en-US" sz="1200" dirty="0">
                          <a:solidFill>
                            <a:schemeClr val="tx1"/>
                          </a:solidFill>
                        </a:rPr>
                        <a:t>300 dB pathloss (not heard)</a:t>
                      </a:r>
                      <a:endParaRPr lang="en-US" sz="1200" dirty="0"/>
                    </a:p>
                  </a:txBody>
                  <a:tcPr marL="91440" marR="91440" marT="45720" marB="45720">
                    <a:lnL w="6350" cap="flat" cmpd="sng" algn="ctr">
                      <a:solidFill>
                        <a:srgbClr val="E1E0D9"/>
                      </a:solidFill>
                      <a:prstDash val="solid"/>
                      <a:round/>
                      <a:headEnd type="none" w="med" len="med"/>
                      <a:tailEnd type="none" w="med" len="med"/>
                    </a:lnL>
                    <a:lnR w="6350" cap="flat" cmpd="sng" algn="ctr">
                      <a:solidFill>
                        <a:srgbClr val="E1E0D9"/>
                      </a:solidFill>
                      <a:prstDash val="solid"/>
                      <a:round/>
                      <a:headEnd type="none" w="med" len="med"/>
                      <a:tailEnd type="none" w="med" len="med"/>
                    </a:lnR>
                    <a:lnT w="6350" cap="flat" cmpd="sng" algn="ctr">
                      <a:solidFill>
                        <a:srgbClr val="E1E0D9"/>
                      </a:solidFill>
                      <a:prstDash val="solid"/>
                      <a:round/>
                      <a:headEnd type="none" w="med" len="med"/>
                      <a:tailEnd type="none" w="med" len="med"/>
                    </a:lnT>
                    <a:lnB w="6350" cap="flat" cmpd="sng" algn="ctr">
                      <a:solidFill>
                        <a:srgbClr val="E1E0D9"/>
                      </a:solidFill>
                      <a:prstDash val="solid"/>
                      <a:round/>
                      <a:headEnd type="none" w="med" len="med"/>
                      <a:tailEnd type="none" w="med" len="med"/>
                    </a:lnB>
                  </a:tcPr>
                </a:tc>
              </a:tr>
            </a:tbl>
          </a:graphicData>
        </a:graphic>
      </p:graphicFrame>
      <p:sp>
        <p:nvSpPr>
          <p:cNvPr id="5" name="Text 275"/>
          <p:cNvSpPr txBox="1"/>
          <p:nvPr/>
        </p:nvSpPr>
        <p:spPr>
          <a:xfrm>
            <a:off x="457200" y="3794760"/>
            <a:ext cx="3931920" cy="640080"/>
          </a:xfrm>
          <a:prstGeom prst="rect">
            <a:avLst/>
          </a:prstGeom>
          <a:noFill/>
          <a:ln/>
        </p:spPr>
        <p:txBody>
          <a:bodyPr wrap="square" lIns="0" tIns="0" rIns="0" bIns="0" rtlCol="0" anchor="t"/>
          <a:lstStyle/>
          <a:p>
            <a:pPr indent="0" marL="0">
              <a:buNone/>
            </a:pPr>
            <a:r>
              <a:rPr lang="en-US" sz="1200" dirty="0">
                <a:solidFill>
                  <a:schemeClr val="accent3"/>
                </a:solidFill>
              </a:rPr>
              <a:t>Radio settings: 1 ms slots, 2.4 GHz, 11 Mbit/s, 20 dBm, EMANE default reception curve.</a:t>
            </a:r>
            <a:endParaRPr lang="en-US" sz="1200" dirty="0"/>
          </a:p>
        </p:txBody>
      </p:sp>
      <p:sp>
        <p:nvSpPr>
          <p:cNvPr id="6" name="Card 276"/>
          <p:cNvSpPr/>
          <p:nvPr/>
        </p:nvSpPr>
        <p:spPr>
          <a:xfrm>
            <a:off x="4617720" y="1234440"/>
            <a:ext cx="4069080" cy="2788920"/>
          </a:xfrm>
          <a:prstGeom prst="roundRect">
            <a:avLst>
              <a:gd name="adj" fmla="val 2623"/>
            </a:avLst>
          </a:prstGeom>
          <a:solidFill>
            <a:schemeClr val="tx2"/>
          </a:solidFill>
          <a:ln w="12700">
            <a:solidFill>
              <a:schemeClr val="tx2"/>
            </a:solidFill>
            <a:prstDash val="solid"/>
          </a:ln>
        </p:spPr>
      </p:sp>
      <p:sp>
        <p:nvSpPr>
          <p:cNvPr id="7" name="Text 277"/>
          <p:cNvSpPr txBox="1"/>
          <p:nvPr/>
        </p:nvSpPr>
        <p:spPr>
          <a:xfrm>
            <a:off x="4800600" y="1389888"/>
            <a:ext cx="3749040" cy="2468880"/>
          </a:xfrm>
          <a:prstGeom prst="rect">
            <a:avLst/>
          </a:prstGeom>
          <a:noFill/>
          <a:ln/>
        </p:spPr>
        <p:txBody>
          <a:bodyPr wrap="square" lIns="0" tIns="0" rIns="0" bIns="0" rtlCol="0" anchor="t"/>
          <a:lstStyle/>
          <a:p>
            <a:pPr indent="0" marL="0">
              <a:buNone/>
            </a:pPr>
            <a:r>
              <a:rPr lang="en-US" sz="1000" dirty="0">
                <a:solidFill>
                  <a:schemeClr val="bg1"/>
                </a:solidFill>
                <a:latin typeface="Courier New" pitchFamily="34" charset="0"/>
                <a:ea typeface="Courier New" pitchFamily="34" charset="-122"/>
                <a:cs typeface="Courier New" pitchFamily="34" charset="-120"/>
              </a:rPr>
              <a:t>&lt;emane-tdma-schedule&gt;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&lt;structure frames="1" slots="9"</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slotoverhead="0"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slotduration="1000"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bandwidth="1M"/&gt;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&lt;multiframe frequency="2.4G" power="20"</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datarate="11M" class="0"&gt;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&lt;frame index="0"&gt;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 index="0" nodes="1,4,13,16"&gt;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&lt;tx/&gt;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 index="1" nodes="2,14"&gt;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&lt;tx/&gt;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&lt;/slot&gt;</a:t>
            </a:r>
            <a:endParaRPr lang="en-US" sz="1000" dirty="0"/>
          </a:p>
          <a:p>
            <a:pPr indent="0" marL="0">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In EMANE, the schedule decides what gets delivered</a:t>
            </a:r>
            <a:endParaRPr lang="en-US" sz="2800" dirty="0"/>
          </a:p>
        </p:txBody>
      </p:sp>
      <p:sp>
        <p:nvSpPr>
          <p:cNvPr id="4" name="Text 278"/>
          <p:cNvSpPr txBox="1"/>
          <p:nvPr/>
        </p:nvSpPr>
        <p:spPr>
          <a:xfrm>
            <a:off x="457200" y="1188720"/>
            <a:ext cx="2651760" cy="256032"/>
          </a:xfrm>
          <a:prstGeom prst="rect">
            <a:avLst/>
          </a:prstGeom>
          <a:noFill/>
          <a:ln/>
        </p:spPr>
        <p:txBody>
          <a:bodyPr wrap="square" lIns="0" tIns="0" rIns="0" bIns="0" rtlCol="0" anchor="t"/>
          <a:lstStyle/>
          <a:p>
            <a:pPr indent="0" marL="0">
              <a:buNone/>
            </a:pPr>
            <a:r>
              <a:rPr lang="en-US" sz="1300" b="1" dirty="0">
                <a:solidFill>
                  <a:schemeClr val="tx1"/>
                </a:solidFill>
              </a:rPr>
              <a:t>Optimizer schedule, 9 slots</a:t>
            </a:r>
            <a:endParaRPr lang="en-US" sz="1300" dirty="0"/>
          </a:p>
        </p:txBody>
      </p:sp>
      <p:sp>
        <p:nvSpPr>
          <p:cNvPr id="5" name="Cell 279"/>
          <p:cNvSpPr/>
          <p:nvPr/>
        </p:nvSpPr>
        <p:spPr>
          <a:xfrm>
            <a:off x="47548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6" name="Cell 280"/>
          <p:cNvSpPr/>
          <p:nvPr/>
        </p:nvSpPr>
        <p:spPr>
          <a:xfrm>
            <a:off x="113842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7" name="Cell 281"/>
          <p:cNvSpPr/>
          <p:nvPr/>
        </p:nvSpPr>
        <p:spPr>
          <a:xfrm>
            <a:off x="180136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8" name="Cell 282"/>
          <p:cNvSpPr/>
          <p:nvPr/>
        </p:nvSpPr>
        <p:spPr>
          <a:xfrm>
            <a:off x="246430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9" name="Cell 283"/>
          <p:cNvSpPr/>
          <p:nvPr/>
        </p:nvSpPr>
        <p:spPr>
          <a:xfrm>
            <a:off x="47548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0" name="Cell 284"/>
          <p:cNvSpPr/>
          <p:nvPr/>
        </p:nvSpPr>
        <p:spPr>
          <a:xfrm>
            <a:off x="113842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1" name="Cell 285"/>
          <p:cNvSpPr/>
          <p:nvPr/>
        </p:nvSpPr>
        <p:spPr>
          <a:xfrm>
            <a:off x="180136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2" name="Cell 286"/>
          <p:cNvSpPr/>
          <p:nvPr/>
        </p:nvSpPr>
        <p:spPr>
          <a:xfrm>
            <a:off x="2464308" y="218998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3" name="Cell 287"/>
          <p:cNvSpPr/>
          <p:nvPr/>
        </p:nvSpPr>
        <p:spPr>
          <a:xfrm>
            <a:off x="47548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4" name="Cell 288"/>
          <p:cNvSpPr/>
          <p:nvPr/>
        </p:nvSpPr>
        <p:spPr>
          <a:xfrm>
            <a:off x="113842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99.8%</a:t>
            </a:r>
            <a:endParaRPr lang="en-US" sz="1100" dirty="0"/>
          </a:p>
        </p:txBody>
      </p:sp>
      <p:sp>
        <p:nvSpPr>
          <p:cNvPr id="15" name="Cell 289"/>
          <p:cNvSpPr/>
          <p:nvPr/>
        </p:nvSpPr>
        <p:spPr>
          <a:xfrm>
            <a:off x="180136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6" name="Cell 290"/>
          <p:cNvSpPr/>
          <p:nvPr/>
        </p:nvSpPr>
        <p:spPr>
          <a:xfrm>
            <a:off x="2464308" y="285292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7" name="Cell 291"/>
          <p:cNvSpPr/>
          <p:nvPr/>
        </p:nvSpPr>
        <p:spPr>
          <a:xfrm>
            <a:off x="47548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18" name="Cell 292"/>
          <p:cNvSpPr/>
          <p:nvPr/>
        </p:nvSpPr>
        <p:spPr>
          <a:xfrm>
            <a:off x="113842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19" name="Cell 293"/>
          <p:cNvSpPr/>
          <p:nvPr/>
        </p:nvSpPr>
        <p:spPr>
          <a:xfrm>
            <a:off x="180136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99.7%</a:t>
            </a:r>
            <a:endParaRPr lang="en-US" sz="1100" dirty="0"/>
          </a:p>
        </p:txBody>
      </p:sp>
      <p:sp>
        <p:nvSpPr>
          <p:cNvPr id="20" name="Cell 294"/>
          <p:cNvSpPr/>
          <p:nvPr/>
        </p:nvSpPr>
        <p:spPr>
          <a:xfrm>
            <a:off x="246430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99.6%</a:t>
            </a:r>
            <a:endParaRPr lang="en-US" sz="1100" dirty="0"/>
          </a:p>
        </p:txBody>
      </p:sp>
      <p:sp>
        <p:nvSpPr>
          <p:cNvPr id="21" name="Text 295"/>
          <p:cNvSpPr txBox="1"/>
          <p:nvPr/>
        </p:nvSpPr>
        <p:spPr>
          <a:xfrm>
            <a:off x="3429000" y="1188720"/>
            <a:ext cx="2651760" cy="256032"/>
          </a:xfrm>
          <a:prstGeom prst="rect">
            <a:avLst/>
          </a:prstGeom>
          <a:noFill/>
          <a:ln/>
        </p:spPr>
        <p:txBody>
          <a:bodyPr wrap="square" lIns="0" tIns="0" rIns="0" bIns="0" rtlCol="0" anchor="t"/>
          <a:lstStyle/>
          <a:p>
            <a:pPr indent="0" marL="0">
              <a:buNone/>
            </a:pPr>
            <a:r>
              <a:rPr lang="en-US" sz="1300" b="1" dirty="0">
                <a:solidFill>
                  <a:schemeClr val="tx1"/>
                </a:solidFill>
              </a:rPr>
              <a:t>Distance-1 control, 5 slots</a:t>
            </a:r>
            <a:endParaRPr lang="en-US" sz="1300" dirty="0"/>
          </a:p>
        </p:txBody>
      </p:sp>
      <p:sp>
        <p:nvSpPr>
          <p:cNvPr id="22" name="Cell 296"/>
          <p:cNvSpPr/>
          <p:nvPr/>
        </p:nvSpPr>
        <p:spPr>
          <a:xfrm>
            <a:off x="344728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23" name="Cell 297"/>
          <p:cNvSpPr/>
          <p:nvPr/>
        </p:nvSpPr>
        <p:spPr>
          <a:xfrm>
            <a:off x="4110228" y="152704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4" name="Cell 298"/>
          <p:cNvSpPr/>
          <p:nvPr/>
        </p:nvSpPr>
        <p:spPr>
          <a:xfrm>
            <a:off x="4773168" y="152704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5" name="Cell 299"/>
          <p:cNvSpPr/>
          <p:nvPr/>
        </p:nvSpPr>
        <p:spPr>
          <a:xfrm>
            <a:off x="5436108" y="152704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26" name="Cell 300"/>
          <p:cNvSpPr/>
          <p:nvPr/>
        </p:nvSpPr>
        <p:spPr>
          <a:xfrm>
            <a:off x="3447288" y="218998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27" name="Cell 301"/>
          <p:cNvSpPr/>
          <p:nvPr/>
        </p:nvSpPr>
        <p:spPr>
          <a:xfrm>
            <a:off x="4110228" y="2189988"/>
            <a:ext cx="626364" cy="626364"/>
          </a:xfrm>
          <a:prstGeom prst="roundRect">
            <a:avLst>
              <a:gd name="adj" fmla="val 5839"/>
            </a:avLst>
          </a:prstGeom>
          <a:solidFill>
            <a:srgbClr val="CDE2FB"/>
          </a:solidFill>
          <a:ln>
            <a:solidFill>
              <a:srgbClr val="CDE2FB"/>
            </a:solidFill>
          </a:ln>
        </p:spPr>
        <p:txBody>
          <a:bodyPr wrap="square" lIns="0" tIns="0" rIns="0" bIns="0" rtlCol="0" anchor="ctr"/>
          <a:lstStyle/>
          <a:p>
            <a:pPr algn="ctr" indent="0" marL="0">
              <a:buNone/>
            </a:pPr>
            <a:r>
              <a:rPr lang="en-US" sz="1100" b="1" dirty="0">
                <a:solidFill>
                  <a:schemeClr val="tx1"/>
                </a:solidFill>
              </a:rPr>
              <a:t>12.5%</a:t>
            </a:r>
            <a:endParaRPr lang="en-US" sz="1100" dirty="0"/>
          </a:p>
        </p:txBody>
      </p:sp>
      <p:sp>
        <p:nvSpPr>
          <p:cNvPr id="28" name="Cell 302"/>
          <p:cNvSpPr/>
          <p:nvPr/>
        </p:nvSpPr>
        <p:spPr>
          <a:xfrm>
            <a:off x="4773168" y="218998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25%</a:t>
            </a:r>
            <a:endParaRPr lang="en-US" sz="1100" dirty="0"/>
          </a:p>
        </p:txBody>
      </p:sp>
      <p:sp>
        <p:nvSpPr>
          <p:cNvPr id="29" name="Cell 303"/>
          <p:cNvSpPr/>
          <p:nvPr/>
        </p:nvSpPr>
        <p:spPr>
          <a:xfrm>
            <a:off x="5436108" y="2189988"/>
            <a:ext cx="626364" cy="626364"/>
          </a:xfrm>
          <a:prstGeom prst="roundRect">
            <a:avLst>
              <a:gd name="adj" fmla="val 5839"/>
            </a:avLst>
          </a:prstGeom>
          <a:solidFill>
            <a:srgbClr val="256ABF"/>
          </a:solidFill>
          <a:ln>
            <a:solidFill>
              <a:srgbClr val="256ABF"/>
            </a:solidFill>
          </a:ln>
        </p:spPr>
        <p:txBody>
          <a:bodyPr wrap="square" lIns="0" tIns="0" rIns="0" bIns="0" rtlCol="0" anchor="ctr"/>
          <a:lstStyle/>
          <a:p>
            <a:pPr algn="ctr" indent="0" marL="0">
              <a:buNone/>
            </a:pPr>
            <a:r>
              <a:rPr lang="en-US" sz="1100" b="1" dirty="0">
                <a:solidFill>
                  <a:schemeClr val="bg1"/>
                </a:solidFill>
              </a:rPr>
              <a:t>60%</a:t>
            </a:r>
            <a:endParaRPr lang="en-US" sz="1100" dirty="0"/>
          </a:p>
        </p:txBody>
      </p:sp>
      <p:sp>
        <p:nvSpPr>
          <p:cNvPr id="30" name="Cell 304"/>
          <p:cNvSpPr/>
          <p:nvPr/>
        </p:nvSpPr>
        <p:spPr>
          <a:xfrm>
            <a:off x="344728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1" name="Cell 305"/>
          <p:cNvSpPr/>
          <p:nvPr/>
        </p:nvSpPr>
        <p:spPr>
          <a:xfrm>
            <a:off x="411022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25%</a:t>
            </a:r>
            <a:endParaRPr lang="en-US" sz="1100" dirty="0"/>
          </a:p>
        </p:txBody>
      </p:sp>
      <p:sp>
        <p:nvSpPr>
          <p:cNvPr id="32" name="Cell 306"/>
          <p:cNvSpPr/>
          <p:nvPr/>
        </p:nvSpPr>
        <p:spPr>
          <a:xfrm>
            <a:off x="4773168" y="2852928"/>
            <a:ext cx="626364" cy="626364"/>
          </a:xfrm>
          <a:prstGeom prst="roundRect">
            <a:avLst>
              <a:gd name="adj" fmla="val 5839"/>
            </a:avLst>
          </a:prstGeom>
          <a:solidFill>
            <a:srgbClr val="CDE2FB"/>
          </a:solidFill>
          <a:ln>
            <a:solidFill>
              <a:srgbClr val="CDE2FB"/>
            </a:solidFill>
          </a:ln>
        </p:spPr>
        <p:txBody>
          <a:bodyPr wrap="square" lIns="0" tIns="0" rIns="0" bIns="0" rtlCol="0" anchor="ctr"/>
          <a:lstStyle/>
          <a:p>
            <a:pPr algn="ctr" indent="0" marL="0">
              <a:buNone/>
            </a:pPr>
            <a:r>
              <a:rPr lang="en-US" sz="1100" b="1" dirty="0">
                <a:solidFill>
                  <a:schemeClr val="tx1"/>
                </a:solidFill>
              </a:rPr>
              <a:t>0%</a:t>
            </a:r>
            <a:endParaRPr lang="en-US" sz="1100" dirty="0"/>
          </a:p>
        </p:txBody>
      </p:sp>
      <p:sp>
        <p:nvSpPr>
          <p:cNvPr id="33" name="Cell 307"/>
          <p:cNvSpPr/>
          <p:nvPr/>
        </p:nvSpPr>
        <p:spPr>
          <a:xfrm>
            <a:off x="5436108" y="285292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4" name="Cell 308"/>
          <p:cNvSpPr/>
          <p:nvPr/>
        </p:nvSpPr>
        <p:spPr>
          <a:xfrm>
            <a:off x="344728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35" name="Cell 309"/>
          <p:cNvSpPr/>
          <p:nvPr/>
        </p:nvSpPr>
        <p:spPr>
          <a:xfrm>
            <a:off x="4110228" y="3515868"/>
            <a:ext cx="626364" cy="626364"/>
          </a:xfrm>
          <a:prstGeom prst="roundRect">
            <a:avLst>
              <a:gd name="adj" fmla="val 5839"/>
            </a:avLst>
          </a:prstGeom>
          <a:solidFill>
            <a:srgbClr val="256ABF"/>
          </a:solidFill>
          <a:ln>
            <a:solidFill>
              <a:srgbClr val="256ABF"/>
            </a:solidFill>
          </a:ln>
        </p:spPr>
        <p:txBody>
          <a:bodyPr wrap="square" lIns="0" tIns="0" rIns="0" bIns="0" rtlCol="0" anchor="ctr"/>
          <a:lstStyle/>
          <a:p>
            <a:pPr algn="ctr" indent="0" marL="0">
              <a:buNone/>
            </a:pPr>
            <a:r>
              <a:rPr lang="en-US" sz="1100" b="1" dirty="0">
                <a:solidFill>
                  <a:schemeClr val="bg1"/>
                </a:solidFill>
              </a:rPr>
              <a:t>60%</a:t>
            </a:r>
            <a:endParaRPr lang="en-US" sz="1100" dirty="0"/>
          </a:p>
        </p:txBody>
      </p:sp>
      <p:sp>
        <p:nvSpPr>
          <p:cNvPr id="36" name="Cell 310"/>
          <p:cNvSpPr/>
          <p:nvPr/>
        </p:nvSpPr>
        <p:spPr>
          <a:xfrm>
            <a:off x="4773168" y="3515868"/>
            <a:ext cx="626364" cy="626364"/>
          </a:xfrm>
          <a:prstGeom prst="roundRect">
            <a:avLst>
              <a:gd name="adj" fmla="val 5839"/>
            </a:avLst>
          </a:prstGeom>
          <a:solidFill>
            <a:srgbClr val="9EC5F4"/>
          </a:solidFill>
          <a:ln>
            <a:solidFill>
              <a:srgbClr val="9EC5F4"/>
            </a:solidFill>
          </a:ln>
        </p:spPr>
        <p:txBody>
          <a:bodyPr wrap="square" lIns="0" tIns="0" rIns="0" bIns="0" rtlCol="0" anchor="ctr"/>
          <a:lstStyle/>
          <a:p>
            <a:pPr algn="ctr" indent="0" marL="0">
              <a:buNone/>
            </a:pPr>
            <a:r>
              <a:rPr lang="en-US" sz="1100" b="1" dirty="0">
                <a:solidFill>
                  <a:schemeClr val="tx1"/>
                </a:solidFill>
              </a:rPr>
              <a:t>20%</a:t>
            </a:r>
            <a:endParaRPr lang="en-US" sz="1100" dirty="0"/>
          </a:p>
        </p:txBody>
      </p:sp>
      <p:sp>
        <p:nvSpPr>
          <p:cNvPr id="37" name="Cell 311"/>
          <p:cNvSpPr/>
          <p:nvPr/>
        </p:nvSpPr>
        <p:spPr>
          <a:xfrm>
            <a:off x="5436108" y="3515868"/>
            <a:ext cx="626364" cy="626364"/>
          </a:xfrm>
          <a:prstGeom prst="roundRect">
            <a:avLst>
              <a:gd name="adj" fmla="val 5839"/>
            </a:avLst>
          </a:prstGeom>
          <a:solidFill>
            <a:srgbClr val="0D366B"/>
          </a:solidFill>
          <a:ln>
            <a:solidFill>
              <a:srgbClr val="0D366B"/>
            </a:solidFill>
          </a:ln>
        </p:spPr>
        <p:txBody>
          <a:bodyPr wrap="square" lIns="0" tIns="0" rIns="0" bIns="0" rtlCol="0" anchor="ctr"/>
          <a:lstStyle/>
          <a:p>
            <a:pPr algn="ctr" indent="0" marL="0">
              <a:buNone/>
            </a:pPr>
            <a:r>
              <a:rPr lang="en-US" sz="1100" b="1" dirty="0">
                <a:solidFill>
                  <a:schemeClr val="bg1"/>
                </a:solidFill>
              </a:rPr>
              <a:t>100%</a:t>
            </a:r>
            <a:endParaRPr lang="en-US" sz="1100" dirty="0"/>
          </a:p>
        </p:txBody>
      </p:sp>
      <p:sp>
        <p:nvSpPr>
          <p:cNvPr id="38" name="Text 312"/>
          <p:cNvSpPr txBox="1"/>
          <p:nvPr/>
        </p:nvSpPr>
        <p:spPr>
          <a:xfrm>
            <a:off x="457200" y="4251960"/>
            <a:ext cx="5669280" cy="228600"/>
          </a:xfrm>
          <a:prstGeom prst="rect">
            <a:avLst/>
          </a:prstGeom>
          <a:noFill/>
          <a:ln/>
        </p:spPr>
        <p:txBody>
          <a:bodyPr wrap="square" lIns="0" tIns="0" rIns="0" bIns="0" rtlCol="0" anchor="t"/>
          <a:lstStyle/>
          <a:p>
            <a:pPr indent="0" marL="0">
              <a:buNone/>
            </a:pPr>
            <a:r>
              <a:rPr lang="en-US" sz="1000" dirty="0">
                <a:solidFill>
                  <a:schemeClr val="accent3"/>
                </a:solidFill>
              </a:rPr>
              <a:t>Share of neighbours' packets each radio received (10 ms slots)</a:t>
            </a:r>
            <a:endParaRPr lang="en-US" sz="1000" dirty="0"/>
          </a:p>
        </p:txBody>
      </p:sp>
      <p:sp>
        <p:nvSpPr>
          <p:cNvPr id="39" name="Card 313"/>
          <p:cNvSpPr/>
          <p:nvPr/>
        </p:nvSpPr>
        <p:spPr>
          <a:xfrm>
            <a:off x="6400800" y="1188720"/>
            <a:ext cx="2286000" cy="1417320"/>
          </a:xfrm>
          <a:prstGeom prst="roundRect">
            <a:avLst>
              <a:gd name="adj" fmla="val 5161"/>
            </a:avLst>
          </a:prstGeom>
          <a:solidFill>
            <a:schemeClr val="bg2"/>
          </a:solidFill>
          <a:ln w="12700">
            <a:solidFill>
              <a:schemeClr val="bg2"/>
            </a:solidFill>
            <a:prstDash val="solid"/>
          </a:ln>
        </p:spPr>
      </p:sp>
      <p:sp>
        <p:nvSpPr>
          <p:cNvPr id="40" name="Text 314"/>
          <p:cNvSpPr txBox="1"/>
          <p:nvPr/>
        </p:nvSpPr>
        <p:spPr>
          <a:xfrm>
            <a:off x="6537960" y="1280160"/>
            <a:ext cx="2011680" cy="548640"/>
          </a:xfrm>
          <a:prstGeom prst="rect">
            <a:avLst/>
          </a:prstGeom>
          <a:noFill/>
          <a:ln/>
        </p:spPr>
        <p:txBody>
          <a:bodyPr wrap="square" lIns="0" tIns="0" rIns="0" bIns="0" rtlCol="0" anchor="t"/>
          <a:lstStyle/>
          <a:p>
            <a:pPr indent="0" marL="0">
              <a:buNone/>
            </a:pPr>
            <a:r>
              <a:rPr lang="en-US" sz="3200" b="1" dirty="0">
                <a:solidFill>
                  <a:schemeClr val="accent1"/>
                </a:solidFill>
              </a:rPr>
              <a:t>99.9%</a:t>
            </a:r>
            <a:endParaRPr lang="en-US" sz="3200" dirty="0"/>
          </a:p>
        </p:txBody>
      </p:sp>
      <p:sp>
        <p:nvSpPr>
          <p:cNvPr id="41" name="Text 315"/>
          <p:cNvSpPr txBox="1"/>
          <p:nvPr/>
        </p:nvSpPr>
        <p:spPr>
          <a:xfrm>
            <a:off x="6537960" y="1847088"/>
            <a:ext cx="2011680" cy="365760"/>
          </a:xfrm>
          <a:prstGeom prst="rect">
            <a:avLst/>
          </a:prstGeom>
          <a:noFill/>
          <a:ln/>
        </p:spPr>
        <p:txBody>
          <a:bodyPr wrap="square" lIns="0" tIns="0" rIns="0" bIns="0" rtlCol="0" anchor="t"/>
          <a:lstStyle/>
          <a:p>
            <a:pPr indent="0" marL="0">
              <a:buNone/>
            </a:pPr>
            <a:r>
              <a:rPr lang="en-US" sz="1100" b="1" dirty="0">
                <a:solidFill>
                  <a:schemeClr val="tx1"/>
                </a:solidFill>
              </a:rPr>
              <a:t>delivered with the optimizer's schedule</a:t>
            </a:r>
            <a:endParaRPr lang="en-US" sz="1100" dirty="0"/>
          </a:p>
        </p:txBody>
      </p:sp>
      <p:sp>
        <p:nvSpPr>
          <p:cNvPr id="42" name="Text 316"/>
          <p:cNvSpPr txBox="1"/>
          <p:nvPr/>
        </p:nvSpPr>
        <p:spPr>
          <a:xfrm>
            <a:off x="6537960" y="2212848"/>
            <a:ext cx="2011680" cy="347472"/>
          </a:xfrm>
          <a:prstGeom prst="rect">
            <a:avLst/>
          </a:prstGeom>
          <a:noFill/>
          <a:ln/>
        </p:spPr>
        <p:txBody>
          <a:bodyPr wrap="square" lIns="0" tIns="0" rIns="0" bIns="0" rtlCol="0" anchor="t"/>
          <a:lstStyle/>
          <a:p>
            <a:pPr indent="0" marL="0">
              <a:buNone/>
            </a:pPr>
            <a:r>
              <a:rPr lang="en-US" sz="1000" dirty="0">
                <a:solidFill>
                  <a:schemeClr val="accent3"/>
                </a:solidFill>
              </a:rPr>
              <a:t>0 bytes dropped for SINR in any of three runs</a:t>
            </a:r>
            <a:endParaRPr lang="en-US" sz="1000" dirty="0"/>
          </a:p>
        </p:txBody>
      </p:sp>
      <p:sp>
        <p:nvSpPr>
          <p:cNvPr id="43" name="Card 317"/>
          <p:cNvSpPr/>
          <p:nvPr/>
        </p:nvSpPr>
        <p:spPr>
          <a:xfrm>
            <a:off x="6400800" y="2788920"/>
            <a:ext cx="2286000" cy="1417320"/>
          </a:xfrm>
          <a:prstGeom prst="roundRect">
            <a:avLst>
              <a:gd name="adj" fmla="val 5161"/>
            </a:avLst>
          </a:prstGeom>
          <a:solidFill>
            <a:schemeClr val="bg2"/>
          </a:solidFill>
          <a:ln w="12700">
            <a:solidFill>
              <a:schemeClr val="bg2"/>
            </a:solidFill>
            <a:prstDash val="solid"/>
          </a:ln>
        </p:spPr>
      </p:sp>
      <p:sp>
        <p:nvSpPr>
          <p:cNvPr id="44" name="Text 318"/>
          <p:cNvSpPr txBox="1"/>
          <p:nvPr/>
        </p:nvSpPr>
        <p:spPr>
          <a:xfrm>
            <a:off x="6537960" y="2880360"/>
            <a:ext cx="2011680" cy="548640"/>
          </a:xfrm>
          <a:prstGeom prst="rect">
            <a:avLst/>
          </a:prstGeom>
          <a:noFill/>
          <a:ln/>
        </p:spPr>
        <p:txBody>
          <a:bodyPr wrap="square" lIns="0" tIns="0" rIns="0" bIns="0" rtlCol="0" anchor="t"/>
          <a:lstStyle/>
          <a:p>
            <a:pPr indent="0" marL="0">
              <a:buNone/>
            </a:pPr>
            <a:r>
              <a:rPr lang="en-US" sz="3200" b="1" dirty="0">
                <a:solidFill>
                  <a:schemeClr val="accent2"/>
                </a:solidFill>
              </a:rPr>
              <a:t>34.5%</a:t>
            </a:r>
            <a:endParaRPr lang="en-US" sz="3200" dirty="0"/>
          </a:p>
        </p:txBody>
      </p:sp>
      <p:sp>
        <p:nvSpPr>
          <p:cNvPr id="45" name="Text 319"/>
          <p:cNvSpPr txBox="1"/>
          <p:nvPr/>
        </p:nvSpPr>
        <p:spPr>
          <a:xfrm>
            <a:off x="6537960" y="3447288"/>
            <a:ext cx="2011680" cy="365760"/>
          </a:xfrm>
          <a:prstGeom prst="rect">
            <a:avLst/>
          </a:prstGeom>
          <a:noFill/>
          <a:ln/>
        </p:spPr>
        <p:txBody>
          <a:bodyPr wrap="square" lIns="0" tIns="0" rIns="0" bIns="0" rtlCol="0" anchor="t"/>
          <a:lstStyle/>
          <a:p>
            <a:pPr indent="0" marL="0">
              <a:buNone/>
            </a:pPr>
            <a:r>
              <a:rPr lang="en-US" sz="1100" b="1" dirty="0">
                <a:solidFill>
                  <a:schemeClr val="tx1"/>
                </a:solidFill>
              </a:rPr>
              <a:t>delivered without hidden-terminal protection</a:t>
            </a:r>
            <a:endParaRPr lang="en-US" sz="1100" dirty="0"/>
          </a:p>
        </p:txBody>
      </p:sp>
      <p:sp>
        <p:nvSpPr>
          <p:cNvPr id="46" name="Text 320"/>
          <p:cNvSpPr txBox="1"/>
          <p:nvPr/>
        </p:nvSpPr>
        <p:spPr>
          <a:xfrm>
            <a:off x="6537960" y="3813048"/>
            <a:ext cx="2011680" cy="347472"/>
          </a:xfrm>
          <a:prstGeom prst="rect">
            <a:avLst/>
          </a:prstGeom>
          <a:noFill/>
          <a:ln/>
        </p:spPr>
        <p:txBody>
          <a:bodyPr wrap="square" lIns="0" tIns="0" rIns="0" bIns="0" rtlCol="0" anchor="t"/>
          <a:lstStyle/>
          <a:p>
            <a:pPr indent="0" marL="0">
              <a:buNone/>
            </a:pPr>
            <a:r>
              <a:rPr lang="en-US" sz="1000" dirty="0">
                <a:solidFill>
                  <a:schemeClr val="accent3"/>
                </a:solidFill>
              </a:rPr>
              <a:t>763,194 bytes dropped for SINR</a:t>
            </a:r>
            <a:endParaRPr lang="en-US" sz="1000" dirty="0"/>
          </a:p>
        </p:txBody>
      </p:sp>
      <p:sp>
        <p:nvSpPr>
          <p:cNvPr id="47" name="Text 321"/>
          <p:cNvSpPr txBox="1"/>
          <p:nvPr/>
        </p:nvSpPr>
        <p:spPr>
          <a:xfrm>
            <a:off x="6400800" y="4251960"/>
            <a:ext cx="2286000" cy="228600"/>
          </a:xfrm>
          <a:prstGeom prst="rect">
            <a:avLst/>
          </a:prstGeom>
          <a:noFill/>
          <a:ln/>
        </p:spPr>
        <p:txBody>
          <a:bodyPr wrap="square" lIns="0" tIns="0" rIns="0" bIns="0" rtlCol="0" anchor="t"/>
          <a:lstStyle/>
          <a:p>
            <a:pPr indent="0" marL="0">
              <a:buNone/>
            </a:pPr>
            <a:r>
              <a:rPr lang="en-US" sz="1000" dirty="0">
                <a:solidFill>
                  <a:schemeClr val="accent3"/>
                </a:solidFill>
              </a:rPr>
              <a:t>0 packets heard beyond 500 m</a:t>
            </a:r>
            <a:endParaRPr lang="en-US" sz="10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With 1 ms slots, the loss is timing, not collisions</a:t>
            </a:r>
            <a:endParaRPr lang="en-US" sz="2800" dirty="0"/>
          </a:p>
        </p:txBody>
      </p:sp>
      <p:graphicFrame>
        <p:nvGraphicFramePr>
          <p:cNvPr id="4" name="Delivery chart" descr=""/>
          <p:cNvGraphicFramePr/>
          <p:nvPr/>
        </p:nvGraphicFramePr>
        <p:xfrm>
          <a:off x="457200" y="1188720"/>
          <a:ext cx="4206240" cy="3383280"/>
        </p:xfrm>
        <a:graphic xmlns:a="http://schemas.openxmlformats.org/drawingml/2006/main">
          <a:graphicData uri="http://schemas.openxmlformats.org/drawingml/2006/chart">
            <c:chart xmlns:c="http://schemas.openxmlformats.org/drawingml/2006/chart" r:id="rId1"/>
          </a:graphicData>
        </a:graphic>
      </p:graphicFrame>
      <p:sp>
        <p:nvSpPr>
          <p:cNvPr id="5" name="Card 322"/>
          <p:cNvSpPr/>
          <p:nvPr/>
        </p:nvSpPr>
        <p:spPr>
          <a:xfrm>
            <a:off x="4892040" y="1188720"/>
            <a:ext cx="3794760" cy="978408"/>
          </a:xfrm>
          <a:prstGeom prst="roundRect">
            <a:avLst>
              <a:gd name="adj" fmla="val 7477"/>
            </a:avLst>
          </a:prstGeom>
          <a:solidFill>
            <a:schemeClr val="bg2"/>
          </a:solidFill>
          <a:ln w="12700">
            <a:solidFill>
              <a:schemeClr val="bg2"/>
            </a:solidFill>
            <a:prstDash val="solid"/>
          </a:ln>
        </p:spPr>
      </p:sp>
      <p:sp>
        <p:nvSpPr>
          <p:cNvPr id="6" name="Text 323"/>
          <p:cNvSpPr txBox="1"/>
          <p:nvPr/>
        </p:nvSpPr>
        <p:spPr>
          <a:xfrm>
            <a:off x="5074920" y="1280160"/>
            <a:ext cx="3429000" cy="256032"/>
          </a:xfrm>
          <a:prstGeom prst="rect">
            <a:avLst/>
          </a:prstGeom>
          <a:noFill/>
          <a:ln/>
        </p:spPr>
        <p:txBody>
          <a:bodyPr wrap="square" lIns="0" tIns="0" rIns="0" bIns="0" rtlCol="0" anchor="t"/>
          <a:lstStyle/>
          <a:p>
            <a:pPr indent="0" marL="0">
              <a:buNone/>
            </a:pPr>
            <a:r>
              <a:rPr lang="en-US" sz="1300" b="1" dirty="0">
                <a:solidFill>
                  <a:schemeClr val="tx1"/>
                </a:solidFill>
              </a:rPr>
              <a:t>No collision drops at 1 ms either</a:t>
            </a:r>
            <a:endParaRPr lang="en-US" sz="1300" dirty="0"/>
          </a:p>
        </p:txBody>
      </p:sp>
      <p:sp>
        <p:nvSpPr>
          <p:cNvPr id="7" name="Text 324"/>
          <p:cNvSpPr txBox="1"/>
          <p:nvPr/>
        </p:nvSpPr>
        <p:spPr>
          <a:xfrm>
            <a:off x="5074920" y="1554480"/>
            <a:ext cx="3429000" cy="566928"/>
          </a:xfrm>
          <a:prstGeom prst="rect">
            <a:avLst/>
          </a:prstGeom>
          <a:noFill/>
          <a:ln/>
        </p:spPr>
        <p:txBody>
          <a:bodyPr wrap="square" lIns="0" tIns="0" rIns="0" bIns="0" rtlCol="0" anchor="t"/>
          <a:lstStyle/>
          <a:p>
            <a:pPr indent="0" marL="0">
              <a:buNone/>
            </a:pPr>
            <a:r>
              <a:rPr lang="en-US" sz="1100" dirty="0">
                <a:solidFill>
                  <a:schemeClr val="accent3"/>
                </a:solidFill>
              </a:rPr>
              <a:t>Optimizer schedule: 0 bytes dropped for SINR, 446,276 bytes for timing (Slot Error, Long).</a:t>
            </a:r>
            <a:endParaRPr lang="en-US" sz="1100" dirty="0"/>
          </a:p>
        </p:txBody>
      </p:sp>
      <p:sp>
        <p:nvSpPr>
          <p:cNvPr id="8" name="Card 325"/>
          <p:cNvSpPr/>
          <p:nvPr/>
        </p:nvSpPr>
        <p:spPr>
          <a:xfrm>
            <a:off x="4892040" y="2304288"/>
            <a:ext cx="3794760" cy="978408"/>
          </a:xfrm>
          <a:prstGeom prst="roundRect">
            <a:avLst>
              <a:gd name="adj" fmla="val 7477"/>
            </a:avLst>
          </a:prstGeom>
          <a:solidFill>
            <a:schemeClr val="bg2"/>
          </a:solidFill>
          <a:ln w="12700">
            <a:solidFill>
              <a:schemeClr val="bg2"/>
            </a:solidFill>
            <a:prstDash val="solid"/>
          </a:ln>
        </p:spPr>
      </p:sp>
      <p:sp>
        <p:nvSpPr>
          <p:cNvPr id="9" name="Text 326"/>
          <p:cNvSpPr txBox="1"/>
          <p:nvPr/>
        </p:nvSpPr>
        <p:spPr>
          <a:xfrm>
            <a:off x="5074920" y="2395728"/>
            <a:ext cx="3429000" cy="256032"/>
          </a:xfrm>
          <a:prstGeom prst="rect">
            <a:avLst/>
          </a:prstGeom>
          <a:noFill/>
          <a:ln/>
        </p:spPr>
        <p:txBody>
          <a:bodyPr wrap="square" lIns="0" tIns="0" rIns="0" bIns="0" rtlCol="0" anchor="t"/>
          <a:lstStyle/>
          <a:p>
            <a:pPr indent="0" marL="0">
              <a:buNone/>
            </a:pPr>
            <a:r>
              <a:rPr lang="en-US" sz="1300" b="1" dirty="0">
                <a:solidFill>
                  <a:schemeClr val="tx1"/>
                </a:solidFill>
              </a:rPr>
              <a:t>Run-to-run variation</a:t>
            </a:r>
            <a:endParaRPr lang="en-US" sz="1300" dirty="0"/>
          </a:p>
        </p:txBody>
      </p:sp>
      <p:sp>
        <p:nvSpPr>
          <p:cNvPr id="10" name="Text 327"/>
          <p:cNvSpPr txBox="1"/>
          <p:nvPr/>
        </p:nvSpPr>
        <p:spPr>
          <a:xfrm>
            <a:off x="5074920" y="2670048"/>
            <a:ext cx="3429000" cy="566928"/>
          </a:xfrm>
          <a:prstGeom prst="rect">
            <a:avLst/>
          </a:prstGeom>
          <a:noFill/>
          <a:ln/>
        </p:spPr>
        <p:txBody>
          <a:bodyPr wrap="square" lIns="0" tIns="0" rIns="0" bIns="0" rtlCol="0" anchor="t"/>
          <a:lstStyle/>
          <a:p>
            <a:pPr indent="0" marL="0">
              <a:buNone/>
            </a:pPr>
            <a:r>
              <a:rPr lang="en-US" sz="1100" dirty="0">
                <a:solidFill>
                  <a:schemeClr val="accent3"/>
                </a:solidFill>
              </a:rPr>
              <a:t>Three runs delivered 99.4%, 88.1% and 83.4% at 1 ms; 100%, 100% and 99.9% at 10 ms.</a:t>
            </a:r>
            <a:endParaRPr lang="en-US" sz="1100" dirty="0"/>
          </a:p>
        </p:txBody>
      </p:sp>
      <p:sp>
        <p:nvSpPr>
          <p:cNvPr id="11" name="Card 328"/>
          <p:cNvSpPr/>
          <p:nvPr/>
        </p:nvSpPr>
        <p:spPr>
          <a:xfrm>
            <a:off x="4892040" y="3419856"/>
            <a:ext cx="3794760" cy="978408"/>
          </a:xfrm>
          <a:prstGeom prst="roundRect">
            <a:avLst>
              <a:gd name="adj" fmla="val 7477"/>
            </a:avLst>
          </a:prstGeom>
          <a:solidFill>
            <a:schemeClr val="bg2"/>
          </a:solidFill>
          <a:ln w="12700">
            <a:solidFill>
              <a:schemeClr val="bg2"/>
            </a:solidFill>
            <a:prstDash val="solid"/>
          </a:ln>
        </p:spPr>
      </p:sp>
      <p:sp>
        <p:nvSpPr>
          <p:cNvPr id="12" name="Text 329"/>
          <p:cNvSpPr txBox="1"/>
          <p:nvPr/>
        </p:nvSpPr>
        <p:spPr>
          <a:xfrm>
            <a:off x="5074920" y="3511296"/>
            <a:ext cx="3429000" cy="256032"/>
          </a:xfrm>
          <a:prstGeom prst="rect">
            <a:avLst/>
          </a:prstGeom>
          <a:noFill/>
          <a:ln/>
        </p:spPr>
        <p:txBody>
          <a:bodyPr wrap="square" lIns="0" tIns="0" rIns="0" bIns="0" rtlCol="0" anchor="t"/>
          <a:lstStyle/>
          <a:p>
            <a:pPr indent="0" marL="0">
              <a:buNone/>
            </a:pPr>
            <a:r>
              <a:rPr lang="en-US" sz="1300" b="1" dirty="0">
                <a:solidFill>
                  <a:schemeClr val="tx1"/>
                </a:solidFill>
              </a:rPr>
              <a:t>Cause</a:t>
            </a:r>
            <a:endParaRPr lang="en-US" sz="1300" dirty="0"/>
          </a:p>
        </p:txBody>
      </p:sp>
      <p:sp>
        <p:nvSpPr>
          <p:cNvPr id="13" name="Text 330"/>
          <p:cNvSpPr txBox="1"/>
          <p:nvPr/>
        </p:nvSpPr>
        <p:spPr>
          <a:xfrm>
            <a:off x="5074920" y="3785616"/>
            <a:ext cx="3429000" cy="566928"/>
          </a:xfrm>
          <a:prstGeom prst="rect">
            <a:avLst/>
          </a:prstGeom>
          <a:noFill/>
          <a:ln/>
        </p:spPr>
        <p:txBody>
          <a:bodyPr wrap="square" lIns="0" tIns="0" rIns="0" bIns="0" rtlCol="0" anchor="t"/>
          <a:lstStyle/>
          <a:p>
            <a:pPr indent="0" marL="0">
              <a:buNone/>
            </a:pPr>
            <a:r>
              <a:rPr lang="en-US" sz="1100" dirty="0">
                <a:solidFill>
                  <a:schemeClr val="accent3"/>
                </a:solidFill>
              </a:rPr>
              <a:t>16 EMANE processes on a 4-CPU virtual machine: some packets arrive after their 1 ms slot has ended and are discarded.</a:t>
            </a:r>
            <a:endParaRPr lang="en-US" sz="11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chemeClr val="tx2"/>
                </a:solidFill>
              </a:rPr>
              <a:t>Limitations and next steps</a:t>
            </a:r>
            <a:endParaRPr lang="en-US" sz="2800" dirty="0"/>
          </a:p>
        </p:txBody>
      </p:sp>
      <p:sp>
        <p:nvSpPr>
          <p:cNvPr id="4" name="Card 331"/>
          <p:cNvSpPr/>
          <p:nvPr/>
        </p:nvSpPr>
        <p:spPr>
          <a:xfrm>
            <a:off x="457200" y="1188720"/>
            <a:ext cx="2651760" cy="1371600"/>
          </a:xfrm>
          <a:prstGeom prst="roundRect">
            <a:avLst>
              <a:gd name="adj" fmla="val 5333"/>
            </a:avLst>
          </a:prstGeom>
          <a:solidFill>
            <a:schemeClr val="bg2"/>
          </a:solidFill>
          <a:ln w="12700">
            <a:solidFill>
              <a:schemeClr val="bg2"/>
            </a:solidFill>
            <a:prstDash val="solid"/>
          </a:ln>
        </p:spPr>
      </p:sp>
      <p:sp>
        <p:nvSpPr>
          <p:cNvPr id="5" name="Text 332"/>
          <p:cNvSpPr txBox="1"/>
          <p:nvPr/>
        </p:nvSpPr>
        <p:spPr>
          <a:xfrm>
            <a:off x="64008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Assumed coordinates</a:t>
            </a:r>
            <a:endParaRPr lang="en-US" sz="1400" dirty="0"/>
          </a:p>
        </p:txBody>
      </p:sp>
      <p:sp>
        <p:nvSpPr>
          <p:cNvPr id="6" name="Text 333"/>
          <p:cNvSpPr txBox="1"/>
          <p:nvPr/>
        </p:nvSpPr>
        <p:spPr>
          <a:xfrm>
            <a:off x="64008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Only 3 of 16 are given. Any layout works with a different input file.</a:t>
            </a:r>
            <a:endParaRPr lang="en-US" sz="1200" dirty="0"/>
          </a:p>
        </p:txBody>
      </p:sp>
      <p:sp>
        <p:nvSpPr>
          <p:cNvPr id="7" name="Card 334"/>
          <p:cNvSpPr/>
          <p:nvPr/>
        </p:nvSpPr>
        <p:spPr>
          <a:xfrm>
            <a:off x="3246120" y="1188720"/>
            <a:ext cx="2651760" cy="1371600"/>
          </a:xfrm>
          <a:prstGeom prst="roundRect">
            <a:avLst>
              <a:gd name="adj" fmla="val 5333"/>
            </a:avLst>
          </a:prstGeom>
          <a:solidFill>
            <a:schemeClr val="bg2"/>
          </a:solidFill>
          <a:ln w="12700">
            <a:solidFill>
              <a:schemeClr val="bg2"/>
            </a:solidFill>
            <a:prstDash val="solid"/>
          </a:ln>
        </p:spPr>
      </p:sp>
      <p:sp>
        <p:nvSpPr>
          <p:cNvPr id="8" name="Text 335"/>
          <p:cNvSpPr txBox="1"/>
          <p:nvPr/>
        </p:nvSpPr>
        <p:spPr>
          <a:xfrm>
            <a:off x="342900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Disc interference model</a:t>
            </a:r>
            <a:endParaRPr lang="en-US" sz="1400" dirty="0"/>
          </a:p>
        </p:txBody>
      </p:sp>
      <p:sp>
        <p:nvSpPr>
          <p:cNvPr id="9" name="Text 336"/>
          <p:cNvSpPr txBox="1"/>
          <p:nvPr/>
        </p:nvSpPr>
        <p:spPr>
          <a:xfrm>
            <a:off x="342900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Radios beyond 500 m count as silent. An SINR-based model would be more realistic.</a:t>
            </a:r>
            <a:endParaRPr lang="en-US" sz="1200" dirty="0"/>
          </a:p>
        </p:txBody>
      </p:sp>
      <p:sp>
        <p:nvSpPr>
          <p:cNvPr id="10" name="Card 337"/>
          <p:cNvSpPr/>
          <p:nvPr/>
        </p:nvSpPr>
        <p:spPr>
          <a:xfrm>
            <a:off x="6035040" y="1188720"/>
            <a:ext cx="2651760" cy="1371600"/>
          </a:xfrm>
          <a:prstGeom prst="roundRect">
            <a:avLst>
              <a:gd name="adj" fmla="val 5333"/>
            </a:avLst>
          </a:prstGeom>
          <a:solidFill>
            <a:schemeClr val="bg2"/>
          </a:solidFill>
          <a:ln w="12700">
            <a:solidFill>
              <a:schemeClr val="bg2"/>
            </a:solidFill>
            <a:prstDash val="solid"/>
          </a:ln>
        </p:spPr>
      </p:sp>
      <p:sp>
        <p:nvSpPr>
          <p:cNvPr id="11" name="Text 338"/>
          <p:cNvSpPr txBox="1"/>
          <p:nvPr/>
        </p:nvSpPr>
        <p:spPr>
          <a:xfrm>
            <a:off x="6217920" y="1353312"/>
            <a:ext cx="2286000" cy="274320"/>
          </a:xfrm>
          <a:prstGeom prst="rect">
            <a:avLst/>
          </a:prstGeom>
          <a:noFill/>
          <a:ln/>
        </p:spPr>
        <p:txBody>
          <a:bodyPr wrap="square" lIns="0" tIns="0" rIns="0" bIns="0" rtlCol="0" anchor="t"/>
          <a:lstStyle/>
          <a:p>
            <a:pPr indent="0" marL="0">
              <a:buNone/>
            </a:pPr>
            <a:r>
              <a:rPr lang="en-US" sz="1400" b="1" dirty="0">
                <a:solidFill>
                  <a:schemeClr val="tx1"/>
                </a:solidFill>
              </a:rPr>
              <a:t>One slot per radio</a:t>
            </a:r>
            <a:endParaRPr lang="en-US" sz="1400" dirty="0"/>
          </a:p>
        </p:txBody>
      </p:sp>
      <p:sp>
        <p:nvSpPr>
          <p:cNvPr id="12" name="Text 339"/>
          <p:cNvSpPr txBox="1"/>
          <p:nvPr/>
        </p:nvSpPr>
        <p:spPr>
          <a:xfrm>
            <a:off x="6217920" y="169164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Busy relays get the same share. Next: extra slots where the frame has room.</a:t>
            </a:r>
            <a:endParaRPr lang="en-US" sz="1200" dirty="0"/>
          </a:p>
        </p:txBody>
      </p:sp>
      <p:sp>
        <p:nvSpPr>
          <p:cNvPr id="13" name="Card 340"/>
          <p:cNvSpPr/>
          <p:nvPr/>
        </p:nvSpPr>
        <p:spPr>
          <a:xfrm>
            <a:off x="457200" y="2697480"/>
            <a:ext cx="2651760" cy="1371600"/>
          </a:xfrm>
          <a:prstGeom prst="roundRect">
            <a:avLst>
              <a:gd name="adj" fmla="val 5333"/>
            </a:avLst>
          </a:prstGeom>
          <a:solidFill>
            <a:schemeClr val="bg2"/>
          </a:solidFill>
          <a:ln w="12700">
            <a:solidFill>
              <a:schemeClr val="bg2"/>
            </a:solidFill>
            <a:prstDash val="solid"/>
          </a:ln>
        </p:spPr>
      </p:sp>
      <p:sp>
        <p:nvSpPr>
          <p:cNvPr id="14" name="Text 341"/>
          <p:cNvSpPr txBox="1"/>
          <p:nvPr/>
        </p:nvSpPr>
        <p:spPr>
          <a:xfrm>
            <a:off x="64008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Static and centralised</a:t>
            </a:r>
            <a:endParaRPr lang="en-US" sz="1400" dirty="0"/>
          </a:p>
        </p:txBody>
      </p:sp>
      <p:sp>
        <p:nvSpPr>
          <p:cNvPr id="15" name="Text 342"/>
          <p:cNvSpPr txBox="1"/>
          <p:nvPr/>
        </p:nvSpPr>
        <p:spPr>
          <a:xfrm>
            <a:off x="64008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Movement means recomputing and re-sending the schedule event.</a:t>
            </a:r>
            <a:endParaRPr lang="en-US" sz="1200" dirty="0"/>
          </a:p>
        </p:txBody>
      </p:sp>
      <p:sp>
        <p:nvSpPr>
          <p:cNvPr id="16" name="Card 343"/>
          <p:cNvSpPr/>
          <p:nvPr/>
        </p:nvSpPr>
        <p:spPr>
          <a:xfrm>
            <a:off x="3246120" y="2697480"/>
            <a:ext cx="2651760" cy="1371600"/>
          </a:xfrm>
          <a:prstGeom prst="roundRect">
            <a:avLst>
              <a:gd name="adj" fmla="val 5333"/>
            </a:avLst>
          </a:prstGeom>
          <a:solidFill>
            <a:schemeClr val="bg2"/>
          </a:solidFill>
          <a:ln w="12700">
            <a:solidFill>
              <a:schemeClr val="bg2"/>
            </a:solidFill>
            <a:prstDash val="solid"/>
          </a:ln>
        </p:spPr>
      </p:sp>
      <p:sp>
        <p:nvSpPr>
          <p:cNvPr id="17" name="Text 344"/>
          <p:cNvSpPr txBox="1"/>
          <p:nvPr/>
        </p:nvSpPr>
        <p:spPr>
          <a:xfrm>
            <a:off x="342900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Heuristic, not exact</a:t>
            </a:r>
            <a:endParaRPr lang="en-US" sz="1400" dirty="0"/>
          </a:p>
        </p:txBody>
      </p:sp>
      <p:sp>
        <p:nvSpPr>
          <p:cNvPr id="18" name="Text 345"/>
          <p:cNvSpPr txBox="1"/>
          <p:nvPr/>
        </p:nvSpPr>
        <p:spPr>
          <a:xfrm>
            <a:off x="342900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An exact solver could close the gap when the result is above the bound.</a:t>
            </a:r>
            <a:endParaRPr lang="en-US" sz="1200" dirty="0"/>
          </a:p>
        </p:txBody>
      </p:sp>
      <p:sp>
        <p:nvSpPr>
          <p:cNvPr id="19" name="Card 346"/>
          <p:cNvSpPr/>
          <p:nvPr/>
        </p:nvSpPr>
        <p:spPr>
          <a:xfrm>
            <a:off x="6035040" y="2697480"/>
            <a:ext cx="2651760" cy="1371600"/>
          </a:xfrm>
          <a:prstGeom prst="roundRect">
            <a:avLst>
              <a:gd name="adj" fmla="val 5333"/>
            </a:avLst>
          </a:prstGeom>
          <a:solidFill>
            <a:schemeClr val="bg2"/>
          </a:solidFill>
          <a:ln w="12700">
            <a:solidFill>
              <a:schemeClr val="bg2"/>
            </a:solidFill>
            <a:prstDash val="solid"/>
          </a:ln>
        </p:spPr>
      </p:sp>
      <p:sp>
        <p:nvSpPr>
          <p:cNvPr id="20" name="Text 347"/>
          <p:cNvSpPr txBox="1"/>
          <p:nvPr/>
        </p:nvSpPr>
        <p:spPr>
          <a:xfrm>
            <a:off x="6217920" y="2862072"/>
            <a:ext cx="2286000" cy="274320"/>
          </a:xfrm>
          <a:prstGeom prst="rect">
            <a:avLst/>
          </a:prstGeom>
          <a:noFill/>
          <a:ln/>
        </p:spPr>
        <p:txBody>
          <a:bodyPr wrap="square" lIns="0" tIns="0" rIns="0" bIns="0" rtlCol="0" anchor="t"/>
          <a:lstStyle/>
          <a:p>
            <a:pPr indent="0" marL="0">
              <a:buNone/>
            </a:pPr>
            <a:r>
              <a:rPr lang="en-US" sz="1400" b="1" dirty="0">
                <a:solidFill>
                  <a:schemeClr val="tx1"/>
                </a:solidFill>
              </a:rPr>
              <a:t>Emulator timing</a:t>
            </a:r>
            <a:endParaRPr lang="en-US" sz="1400" dirty="0"/>
          </a:p>
        </p:txBody>
      </p:sp>
      <p:sp>
        <p:nvSpPr>
          <p:cNvPr id="21" name="Text 348"/>
          <p:cNvSpPr txBox="1"/>
          <p:nvPr/>
        </p:nvSpPr>
        <p:spPr>
          <a:xfrm>
            <a:off x="6217920" y="3200400"/>
            <a:ext cx="2286000" cy="914400"/>
          </a:xfrm>
          <a:prstGeom prst="rect">
            <a:avLst/>
          </a:prstGeom>
          <a:noFill/>
          <a:ln/>
        </p:spPr>
        <p:txBody>
          <a:bodyPr wrap="square" lIns="0" tIns="0" rIns="0" bIns="0" rtlCol="0" anchor="t"/>
          <a:lstStyle/>
          <a:p>
            <a:pPr indent="0" marL="0">
              <a:buNone/>
            </a:pPr>
            <a:r>
              <a:rPr lang="en-US" sz="1200" dirty="0">
                <a:solidFill>
                  <a:schemeClr val="accent3"/>
                </a:solidFill>
              </a:rPr>
              <a:t>1 ms slots were only tested in a VM. Bare-metal Linux is untested.</a:t>
            </a:r>
            <a:endParaRPr lang="en-US" sz="1200" dirty="0"/>
          </a:p>
        </p:txBody>
      </p:sp>
      <p:sp>
        <p:nvSpPr>
          <p:cNvPr id="25" name="Slide Number Placeholder 0"/>
          <p:cNvSpPr>
            <a:spLocks noGrp="1"/>
          </p:cNvSpPr>
          <p:nvPr>
            <p:ph type="sldNum" sz="quarter" idx="4294967295"/>
          </p:nvPr>
        </p:nvSpPr>
        <p:spPr>
          <a:xfrm>
            <a:off x="8229600" y="47365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1325880"/>
            <a:ext cx="4937760" cy="1371600"/>
          </a:xfrm>
          <a:prstGeom prst="rect">
            <a:avLst/>
          </a:prstGeom>
          <a:noFill/>
          <a:ln/>
        </p:spPr>
        <p:txBody>
          <a:bodyPr wrap="square" lIns="0" tIns="0" rIns="0" bIns="0" rtlCol="0" anchor="b"/>
          <a:lstStyle/>
          <a:p>
            <a:pPr algn="l" indent="0" marL="0">
              <a:buNone/>
            </a:pPr>
            <a:r>
              <a:rPr lang="en-US" sz="3800" b="1" dirty="0">
                <a:solidFill>
                  <a:schemeClr val="bg1"/>
                </a:solidFill>
              </a:rPr>
              <a:t>Summary</a:t>
            </a:r>
            <a:endParaRPr lang="en-US" sz="3800" dirty="0"/>
          </a:p>
        </p:txBody>
      </p:sp>
      <p:sp>
        <p:nvSpPr>
          <p:cNvPr id="3" name="Text 0"/>
          <p:cNvSpPr/>
          <p:nvPr>
            <p:ph idx="101" type="body" hasCustomPrompt="1"/>
          </p:nvPr>
        </p:nvSpPr>
        <p:spPr>
          <a:xfrm>
            <a:off x="457200" y="2880360"/>
            <a:ext cx="4937760" cy="1463040"/>
          </a:xfrm>
          <a:prstGeom prst="rect">
            <a:avLst/>
          </a:prstGeom>
          <a:noFill/>
          <a:ln/>
        </p:spPr>
        <p:txBody>
          <a:bodyPr wrap="square" lIns="0" tIns="0" rIns="0" bIns="0" rtlCol="0" anchor="t"/>
          <a:lstStyle/>
          <a:p>
            <a:pPr algn="l" marL="342900" indent="-342900">
              <a:spcAft>
                <a:spcPts val="800"/>
              </a:spcAft>
              <a:buSzPct val="100000"/>
              <a:buChar char="•"/>
            </a:pPr>
            <a:r>
              <a:rPr lang="en-US" sz="1600" dirty="0">
                <a:solidFill>
                  <a:schemeClr val="accent6"/>
                </a:solidFill>
              </a:rPr>
              <a:t>9-slot schedule for the 16-node grid: zero collisions, proven optimal.</a:t>
            </a:r>
            <a:endParaRPr lang="en-US" sz="1600" dirty="0"/>
          </a:p>
          <a:p>
            <a:pPr algn="l" marL="342900" indent="-342900">
              <a:spcAft>
                <a:spcPts val="800"/>
              </a:spcAft>
              <a:buSzPct val="100000"/>
              <a:buChar char="•"/>
            </a:pPr>
            <a:r>
              <a:rPr lang="en-US" sz="1600" dirty="0">
                <a:solidFill>
                  <a:schemeClr val="accent6"/>
                </a:solidFill>
              </a:rPr>
              <a:t>EMANE: no collision drops with the optimizer's schedule; 34.5% delivery without hidden-terminal protection.</a:t>
            </a:r>
            <a:endParaRPr lang="en-US" sz="1600" dirty="0"/>
          </a:p>
          <a:p>
            <a:pPr algn="l" marL="342900" indent="-342900">
              <a:buSzPct val="100000"/>
              <a:buChar char="•"/>
            </a:pPr>
            <a:r>
              <a:rPr lang="en-US" sz="1300" dirty="0">
                <a:solidFill>
                  <a:schemeClr val="accent6"/>
                </a:solidFill>
              </a:rPr>
              <a:t>Demo: python src/cli.py --file data/grid16.json</a:t>
            </a:r>
            <a:endParaRPr lang="en-US" sz="1600" dirty="0"/>
          </a:p>
        </p:txBody>
      </p:sp>
      <p:sp>
        <p:nvSpPr>
          <p:cNvPr id="4" name="Link 349"/>
          <p:cNvSpPr/>
          <p:nvPr/>
        </p:nvSpPr>
        <p:spPr>
          <a:xfrm>
            <a:off x="6025896" y="1316736"/>
            <a:ext cx="798576" cy="0"/>
          </a:xfrm>
          <a:prstGeom prst="line">
            <a:avLst/>
          </a:prstGeom>
          <a:noFill/>
          <a:ln w="9525">
            <a:solidFill>
              <a:srgbClr val="3A5273"/>
            </a:solidFill>
            <a:prstDash val="solid"/>
          </a:ln>
        </p:spPr>
      </p:sp>
      <p:sp>
        <p:nvSpPr>
          <p:cNvPr id="5" name="Link 350"/>
          <p:cNvSpPr/>
          <p:nvPr/>
        </p:nvSpPr>
        <p:spPr>
          <a:xfrm>
            <a:off x="6025896" y="1316736"/>
            <a:ext cx="0" cy="798576"/>
          </a:xfrm>
          <a:prstGeom prst="line">
            <a:avLst/>
          </a:prstGeom>
          <a:noFill/>
          <a:ln w="9525">
            <a:solidFill>
              <a:srgbClr val="3A5273"/>
            </a:solidFill>
            <a:prstDash val="solid"/>
          </a:ln>
        </p:spPr>
      </p:sp>
      <p:sp>
        <p:nvSpPr>
          <p:cNvPr id="6" name="Link 351"/>
          <p:cNvSpPr/>
          <p:nvPr/>
        </p:nvSpPr>
        <p:spPr>
          <a:xfrm>
            <a:off x="6025896" y="1316736"/>
            <a:ext cx="798576" cy="798576"/>
          </a:xfrm>
          <a:prstGeom prst="line">
            <a:avLst/>
          </a:prstGeom>
          <a:noFill/>
          <a:ln w="9525">
            <a:solidFill>
              <a:srgbClr val="3A5273"/>
            </a:solidFill>
            <a:prstDash val="solid"/>
          </a:ln>
        </p:spPr>
      </p:sp>
      <p:sp>
        <p:nvSpPr>
          <p:cNvPr id="7" name="Link 352"/>
          <p:cNvSpPr/>
          <p:nvPr/>
        </p:nvSpPr>
        <p:spPr>
          <a:xfrm>
            <a:off x="6824472" y="1316736"/>
            <a:ext cx="798576" cy="0"/>
          </a:xfrm>
          <a:prstGeom prst="line">
            <a:avLst/>
          </a:prstGeom>
          <a:noFill/>
          <a:ln w="9525">
            <a:solidFill>
              <a:srgbClr val="3A5273"/>
            </a:solidFill>
            <a:prstDash val="solid"/>
          </a:ln>
        </p:spPr>
      </p:sp>
      <p:sp>
        <p:nvSpPr>
          <p:cNvPr id="8" name="Link 353"/>
          <p:cNvSpPr/>
          <p:nvPr/>
        </p:nvSpPr>
        <p:spPr>
          <a:xfrm flipV="1">
            <a:off x="6025896" y="1316736"/>
            <a:ext cx="798576" cy="798576"/>
          </a:xfrm>
          <a:prstGeom prst="line">
            <a:avLst/>
          </a:prstGeom>
          <a:noFill/>
          <a:ln w="9525">
            <a:solidFill>
              <a:srgbClr val="3A5273"/>
            </a:solidFill>
            <a:prstDash val="solid"/>
          </a:ln>
        </p:spPr>
      </p:sp>
      <p:sp>
        <p:nvSpPr>
          <p:cNvPr id="9" name="Link 354"/>
          <p:cNvSpPr/>
          <p:nvPr/>
        </p:nvSpPr>
        <p:spPr>
          <a:xfrm>
            <a:off x="6824472" y="1316736"/>
            <a:ext cx="0" cy="798576"/>
          </a:xfrm>
          <a:prstGeom prst="line">
            <a:avLst/>
          </a:prstGeom>
          <a:noFill/>
          <a:ln w="9525">
            <a:solidFill>
              <a:srgbClr val="3A5273"/>
            </a:solidFill>
            <a:prstDash val="solid"/>
          </a:ln>
        </p:spPr>
      </p:sp>
      <p:sp>
        <p:nvSpPr>
          <p:cNvPr id="10" name="Link 355"/>
          <p:cNvSpPr/>
          <p:nvPr/>
        </p:nvSpPr>
        <p:spPr>
          <a:xfrm>
            <a:off x="6824472" y="1316736"/>
            <a:ext cx="798576" cy="798576"/>
          </a:xfrm>
          <a:prstGeom prst="line">
            <a:avLst/>
          </a:prstGeom>
          <a:noFill/>
          <a:ln w="9525">
            <a:solidFill>
              <a:srgbClr val="3A5273"/>
            </a:solidFill>
            <a:prstDash val="solid"/>
          </a:ln>
        </p:spPr>
      </p:sp>
      <p:sp>
        <p:nvSpPr>
          <p:cNvPr id="11" name="Link 356"/>
          <p:cNvSpPr/>
          <p:nvPr/>
        </p:nvSpPr>
        <p:spPr>
          <a:xfrm>
            <a:off x="7623048" y="1316736"/>
            <a:ext cx="798576" cy="0"/>
          </a:xfrm>
          <a:prstGeom prst="line">
            <a:avLst/>
          </a:prstGeom>
          <a:noFill/>
          <a:ln w="9525">
            <a:solidFill>
              <a:srgbClr val="3A5273"/>
            </a:solidFill>
            <a:prstDash val="solid"/>
          </a:ln>
        </p:spPr>
      </p:sp>
      <p:sp>
        <p:nvSpPr>
          <p:cNvPr id="12" name="Link 357"/>
          <p:cNvSpPr/>
          <p:nvPr/>
        </p:nvSpPr>
        <p:spPr>
          <a:xfrm flipV="1">
            <a:off x="6824472" y="1316736"/>
            <a:ext cx="798576" cy="798576"/>
          </a:xfrm>
          <a:prstGeom prst="line">
            <a:avLst/>
          </a:prstGeom>
          <a:noFill/>
          <a:ln w="9525">
            <a:solidFill>
              <a:srgbClr val="3A5273"/>
            </a:solidFill>
            <a:prstDash val="solid"/>
          </a:ln>
        </p:spPr>
      </p:sp>
      <p:sp>
        <p:nvSpPr>
          <p:cNvPr id="13" name="Link 358"/>
          <p:cNvSpPr/>
          <p:nvPr/>
        </p:nvSpPr>
        <p:spPr>
          <a:xfrm>
            <a:off x="7623048" y="1316736"/>
            <a:ext cx="0" cy="798576"/>
          </a:xfrm>
          <a:prstGeom prst="line">
            <a:avLst/>
          </a:prstGeom>
          <a:noFill/>
          <a:ln w="9525">
            <a:solidFill>
              <a:srgbClr val="3A5273"/>
            </a:solidFill>
            <a:prstDash val="solid"/>
          </a:ln>
        </p:spPr>
      </p:sp>
      <p:sp>
        <p:nvSpPr>
          <p:cNvPr id="14" name="Link 359"/>
          <p:cNvSpPr/>
          <p:nvPr/>
        </p:nvSpPr>
        <p:spPr>
          <a:xfrm>
            <a:off x="7623048" y="1316736"/>
            <a:ext cx="798576" cy="798576"/>
          </a:xfrm>
          <a:prstGeom prst="line">
            <a:avLst/>
          </a:prstGeom>
          <a:noFill/>
          <a:ln w="9525">
            <a:solidFill>
              <a:srgbClr val="3A5273"/>
            </a:solidFill>
            <a:prstDash val="solid"/>
          </a:ln>
        </p:spPr>
      </p:sp>
      <p:sp>
        <p:nvSpPr>
          <p:cNvPr id="15" name="Link 360"/>
          <p:cNvSpPr/>
          <p:nvPr/>
        </p:nvSpPr>
        <p:spPr>
          <a:xfrm flipV="1">
            <a:off x="7623048" y="1316736"/>
            <a:ext cx="798576" cy="798576"/>
          </a:xfrm>
          <a:prstGeom prst="line">
            <a:avLst/>
          </a:prstGeom>
          <a:noFill/>
          <a:ln w="9525">
            <a:solidFill>
              <a:srgbClr val="3A5273"/>
            </a:solidFill>
            <a:prstDash val="solid"/>
          </a:ln>
        </p:spPr>
      </p:sp>
      <p:sp>
        <p:nvSpPr>
          <p:cNvPr id="16" name="Link 361"/>
          <p:cNvSpPr/>
          <p:nvPr/>
        </p:nvSpPr>
        <p:spPr>
          <a:xfrm>
            <a:off x="8421624" y="1316736"/>
            <a:ext cx="0" cy="798576"/>
          </a:xfrm>
          <a:prstGeom prst="line">
            <a:avLst/>
          </a:prstGeom>
          <a:noFill/>
          <a:ln w="9525">
            <a:solidFill>
              <a:srgbClr val="3A5273"/>
            </a:solidFill>
            <a:prstDash val="solid"/>
          </a:ln>
        </p:spPr>
      </p:sp>
      <p:sp>
        <p:nvSpPr>
          <p:cNvPr id="17" name="Link 362"/>
          <p:cNvSpPr/>
          <p:nvPr/>
        </p:nvSpPr>
        <p:spPr>
          <a:xfrm>
            <a:off x="6025896" y="2115312"/>
            <a:ext cx="798576" cy="0"/>
          </a:xfrm>
          <a:prstGeom prst="line">
            <a:avLst/>
          </a:prstGeom>
          <a:noFill/>
          <a:ln w="9525">
            <a:solidFill>
              <a:srgbClr val="3A5273"/>
            </a:solidFill>
            <a:prstDash val="solid"/>
          </a:ln>
        </p:spPr>
      </p:sp>
      <p:sp>
        <p:nvSpPr>
          <p:cNvPr id="18" name="Link 363"/>
          <p:cNvSpPr/>
          <p:nvPr/>
        </p:nvSpPr>
        <p:spPr>
          <a:xfrm>
            <a:off x="6025896" y="2115312"/>
            <a:ext cx="0" cy="798576"/>
          </a:xfrm>
          <a:prstGeom prst="line">
            <a:avLst/>
          </a:prstGeom>
          <a:noFill/>
          <a:ln w="9525">
            <a:solidFill>
              <a:srgbClr val="3A5273"/>
            </a:solidFill>
            <a:prstDash val="solid"/>
          </a:ln>
        </p:spPr>
      </p:sp>
      <p:sp>
        <p:nvSpPr>
          <p:cNvPr id="19" name="Link 364"/>
          <p:cNvSpPr/>
          <p:nvPr/>
        </p:nvSpPr>
        <p:spPr>
          <a:xfrm>
            <a:off x="6025896" y="2115312"/>
            <a:ext cx="798576" cy="798576"/>
          </a:xfrm>
          <a:prstGeom prst="line">
            <a:avLst/>
          </a:prstGeom>
          <a:noFill/>
          <a:ln w="9525">
            <a:solidFill>
              <a:srgbClr val="3A5273"/>
            </a:solidFill>
            <a:prstDash val="solid"/>
          </a:ln>
        </p:spPr>
      </p:sp>
      <p:sp>
        <p:nvSpPr>
          <p:cNvPr id="20" name="Link 365"/>
          <p:cNvSpPr/>
          <p:nvPr/>
        </p:nvSpPr>
        <p:spPr>
          <a:xfrm>
            <a:off x="6824472" y="2115312"/>
            <a:ext cx="798576" cy="0"/>
          </a:xfrm>
          <a:prstGeom prst="line">
            <a:avLst/>
          </a:prstGeom>
          <a:noFill/>
          <a:ln w="9525">
            <a:solidFill>
              <a:srgbClr val="3A5273"/>
            </a:solidFill>
            <a:prstDash val="solid"/>
          </a:ln>
        </p:spPr>
      </p:sp>
      <p:sp>
        <p:nvSpPr>
          <p:cNvPr id="21" name="Link 366"/>
          <p:cNvSpPr/>
          <p:nvPr/>
        </p:nvSpPr>
        <p:spPr>
          <a:xfrm flipV="1">
            <a:off x="6025896" y="2115312"/>
            <a:ext cx="798576" cy="798576"/>
          </a:xfrm>
          <a:prstGeom prst="line">
            <a:avLst/>
          </a:prstGeom>
          <a:noFill/>
          <a:ln w="9525">
            <a:solidFill>
              <a:srgbClr val="3A5273"/>
            </a:solidFill>
            <a:prstDash val="solid"/>
          </a:ln>
        </p:spPr>
      </p:sp>
      <p:sp>
        <p:nvSpPr>
          <p:cNvPr id="22" name="Link 367"/>
          <p:cNvSpPr/>
          <p:nvPr/>
        </p:nvSpPr>
        <p:spPr>
          <a:xfrm>
            <a:off x="6824472" y="2115312"/>
            <a:ext cx="0" cy="798576"/>
          </a:xfrm>
          <a:prstGeom prst="line">
            <a:avLst/>
          </a:prstGeom>
          <a:noFill/>
          <a:ln w="9525">
            <a:solidFill>
              <a:srgbClr val="3A5273"/>
            </a:solidFill>
            <a:prstDash val="solid"/>
          </a:ln>
        </p:spPr>
      </p:sp>
      <p:sp>
        <p:nvSpPr>
          <p:cNvPr id="23" name="Link 368"/>
          <p:cNvSpPr/>
          <p:nvPr/>
        </p:nvSpPr>
        <p:spPr>
          <a:xfrm>
            <a:off x="6824472" y="2115312"/>
            <a:ext cx="798576" cy="798576"/>
          </a:xfrm>
          <a:prstGeom prst="line">
            <a:avLst/>
          </a:prstGeom>
          <a:noFill/>
          <a:ln w="9525">
            <a:solidFill>
              <a:srgbClr val="3A5273"/>
            </a:solidFill>
            <a:prstDash val="solid"/>
          </a:ln>
        </p:spPr>
      </p:sp>
      <p:sp>
        <p:nvSpPr>
          <p:cNvPr id="24" name="Link 369"/>
          <p:cNvSpPr/>
          <p:nvPr/>
        </p:nvSpPr>
        <p:spPr>
          <a:xfrm>
            <a:off x="7623048" y="2115312"/>
            <a:ext cx="798576" cy="0"/>
          </a:xfrm>
          <a:prstGeom prst="line">
            <a:avLst/>
          </a:prstGeom>
          <a:noFill/>
          <a:ln w="9525">
            <a:solidFill>
              <a:srgbClr val="3A5273"/>
            </a:solidFill>
            <a:prstDash val="solid"/>
          </a:ln>
        </p:spPr>
      </p:sp>
      <p:sp>
        <p:nvSpPr>
          <p:cNvPr id="25" name="Link 370"/>
          <p:cNvSpPr/>
          <p:nvPr/>
        </p:nvSpPr>
        <p:spPr>
          <a:xfrm flipV="1">
            <a:off x="6824472" y="2115312"/>
            <a:ext cx="798576" cy="798576"/>
          </a:xfrm>
          <a:prstGeom prst="line">
            <a:avLst/>
          </a:prstGeom>
          <a:noFill/>
          <a:ln w="9525">
            <a:solidFill>
              <a:srgbClr val="3A5273"/>
            </a:solidFill>
            <a:prstDash val="solid"/>
          </a:ln>
        </p:spPr>
      </p:sp>
      <p:sp>
        <p:nvSpPr>
          <p:cNvPr id="26" name="Link 371"/>
          <p:cNvSpPr/>
          <p:nvPr/>
        </p:nvSpPr>
        <p:spPr>
          <a:xfrm>
            <a:off x="7623048" y="2115312"/>
            <a:ext cx="0" cy="798576"/>
          </a:xfrm>
          <a:prstGeom prst="line">
            <a:avLst/>
          </a:prstGeom>
          <a:noFill/>
          <a:ln w="9525">
            <a:solidFill>
              <a:srgbClr val="3A5273"/>
            </a:solidFill>
            <a:prstDash val="solid"/>
          </a:ln>
        </p:spPr>
      </p:sp>
      <p:sp>
        <p:nvSpPr>
          <p:cNvPr id="27" name="Link 372"/>
          <p:cNvSpPr/>
          <p:nvPr/>
        </p:nvSpPr>
        <p:spPr>
          <a:xfrm>
            <a:off x="7623048" y="2115312"/>
            <a:ext cx="798576" cy="798576"/>
          </a:xfrm>
          <a:prstGeom prst="line">
            <a:avLst/>
          </a:prstGeom>
          <a:noFill/>
          <a:ln w="9525">
            <a:solidFill>
              <a:srgbClr val="3A5273"/>
            </a:solidFill>
            <a:prstDash val="solid"/>
          </a:ln>
        </p:spPr>
      </p:sp>
      <p:sp>
        <p:nvSpPr>
          <p:cNvPr id="28" name="Link 373"/>
          <p:cNvSpPr/>
          <p:nvPr/>
        </p:nvSpPr>
        <p:spPr>
          <a:xfrm flipV="1">
            <a:off x="7623048" y="2115312"/>
            <a:ext cx="798576" cy="798576"/>
          </a:xfrm>
          <a:prstGeom prst="line">
            <a:avLst/>
          </a:prstGeom>
          <a:noFill/>
          <a:ln w="9525">
            <a:solidFill>
              <a:srgbClr val="3A5273"/>
            </a:solidFill>
            <a:prstDash val="solid"/>
          </a:ln>
        </p:spPr>
      </p:sp>
      <p:sp>
        <p:nvSpPr>
          <p:cNvPr id="29" name="Link 374"/>
          <p:cNvSpPr/>
          <p:nvPr/>
        </p:nvSpPr>
        <p:spPr>
          <a:xfrm>
            <a:off x="8421624" y="2115312"/>
            <a:ext cx="0" cy="798576"/>
          </a:xfrm>
          <a:prstGeom prst="line">
            <a:avLst/>
          </a:prstGeom>
          <a:noFill/>
          <a:ln w="9525">
            <a:solidFill>
              <a:srgbClr val="3A5273"/>
            </a:solidFill>
            <a:prstDash val="solid"/>
          </a:ln>
        </p:spPr>
      </p:sp>
      <p:sp>
        <p:nvSpPr>
          <p:cNvPr id="30" name="Link 375"/>
          <p:cNvSpPr/>
          <p:nvPr/>
        </p:nvSpPr>
        <p:spPr>
          <a:xfrm>
            <a:off x="6025896" y="2913888"/>
            <a:ext cx="798576" cy="0"/>
          </a:xfrm>
          <a:prstGeom prst="line">
            <a:avLst/>
          </a:prstGeom>
          <a:noFill/>
          <a:ln w="9525">
            <a:solidFill>
              <a:srgbClr val="3A5273"/>
            </a:solidFill>
            <a:prstDash val="solid"/>
          </a:ln>
        </p:spPr>
      </p:sp>
      <p:sp>
        <p:nvSpPr>
          <p:cNvPr id="31" name="Link 376"/>
          <p:cNvSpPr/>
          <p:nvPr/>
        </p:nvSpPr>
        <p:spPr>
          <a:xfrm>
            <a:off x="6025896" y="2913888"/>
            <a:ext cx="0" cy="798576"/>
          </a:xfrm>
          <a:prstGeom prst="line">
            <a:avLst/>
          </a:prstGeom>
          <a:noFill/>
          <a:ln w="9525">
            <a:solidFill>
              <a:srgbClr val="3A5273"/>
            </a:solidFill>
            <a:prstDash val="solid"/>
          </a:ln>
        </p:spPr>
      </p:sp>
      <p:sp>
        <p:nvSpPr>
          <p:cNvPr id="32" name="Link 377"/>
          <p:cNvSpPr/>
          <p:nvPr/>
        </p:nvSpPr>
        <p:spPr>
          <a:xfrm>
            <a:off x="6025896" y="2913888"/>
            <a:ext cx="798576" cy="798576"/>
          </a:xfrm>
          <a:prstGeom prst="line">
            <a:avLst/>
          </a:prstGeom>
          <a:noFill/>
          <a:ln w="9525">
            <a:solidFill>
              <a:srgbClr val="3A5273"/>
            </a:solidFill>
            <a:prstDash val="solid"/>
          </a:ln>
        </p:spPr>
      </p:sp>
      <p:sp>
        <p:nvSpPr>
          <p:cNvPr id="33" name="Link 378"/>
          <p:cNvSpPr/>
          <p:nvPr/>
        </p:nvSpPr>
        <p:spPr>
          <a:xfrm>
            <a:off x="6824472" y="2913888"/>
            <a:ext cx="798576" cy="0"/>
          </a:xfrm>
          <a:prstGeom prst="line">
            <a:avLst/>
          </a:prstGeom>
          <a:noFill/>
          <a:ln w="9525">
            <a:solidFill>
              <a:srgbClr val="3A5273"/>
            </a:solidFill>
            <a:prstDash val="solid"/>
          </a:ln>
        </p:spPr>
      </p:sp>
      <p:sp>
        <p:nvSpPr>
          <p:cNvPr id="34" name="Link 379"/>
          <p:cNvSpPr/>
          <p:nvPr/>
        </p:nvSpPr>
        <p:spPr>
          <a:xfrm flipV="1">
            <a:off x="6025896" y="2913888"/>
            <a:ext cx="798576" cy="798576"/>
          </a:xfrm>
          <a:prstGeom prst="line">
            <a:avLst/>
          </a:prstGeom>
          <a:noFill/>
          <a:ln w="9525">
            <a:solidFill>
              <a:srgbClr val="3A5273"/>
            </a:solidFill>
            <a:prstDash val="solid"/>
          </a:ln>
        </p:spPr>
      </p:sp>
      <p:sp>
        <p:nvSpPr>
          <p:cNvPr id="35" name="Link 380"/>
          <p:cNvSpPr/>
          <p:nvPr/>
        </p:nvSpPr>
        <p:spPr>
          <a:xfrm>
            <a:off x="6824472" y="2913888"/>
            <a:ext cx="0" cy="798576"/>
          </a:xfrm>
          <a:prstGeom prst="line">
            <a:avLst/>
          </a:prstGeom>
          <a:noFill/>
          <a:ln w="9525">
            <a:solidFill>
              <a:srgbClr val="3A5273"/>
            </a:solidFill>
            <a:prstDash val="solid"/>
          </a:ln>
        </p:spPr>
      </p:sp>
      <p:sp>
        <p:nvSpPr>
          <p:cNvPr id="36" name="Link 381"/>
          <p:cNvSpPr/>
          <p:nvPr/>
        </p:nvSpPr>
        <p:spPr>
          <a:xfrm>
            <a:off x="6824472" y="2913888"/>
            <a:ext cx="798576" cy="798576"/>
          </a:xfrm>
          <a:prstGeom prst="line">
            <a:avLst/>
          </a:prstGeom>
          <a:noFill/>
          <a:ln w="9525">
            <a:solidFill>
              <a:srgbClr val="3A5273"/>
            </a:solidFill>
            <a:prstDash val="solid"/>
          </a:ln>
        </p:spPr>
      </p:sp>
      <p:sp>
        <p:nvSpPr>
          <p:cNvPr id="37" name="Link 382"/>
          <p:cNvSpPr/>
          <p:nvPr/>
        </p:nvSpPr>
        <p:spPr>
          <a:xfrm>
            <a:off x="7623048" y="2913888"/>
            <a:ext cx="798576" cy="0"/>
          </a:xfrm>
          <a:prstGeom prst="line">
            <a:avLst/>
          </a:prstGeom>
          <a:noFill/>
          <a:ln w="9525">
            <a:solidFill>
              <a:srgbClr val="3A5273"/>
            </a:solidFill>
            <a:prstDash val="solid"/>
          </a:ln>
        </p:spPr>
      </p:sp>
      <p:sp>
        <p:nvSpPr>
          <p:cNvPr id="38" name="Link 383"/>
          <p:cNvSpPr/>
          <p:nvPr/>
        </p:nvSpPr>
        <p:spPr>
          <a:xfrm flipV="1">
            <a:off x="6824472" y="2913888"/>
            <a:ext cx="798576" cy="798576"/>
          </a:xfrm>
          <a:prstGeom prst="line">
            <a:avLst/>
          </a:prstGeom>
          <a:noFill/>
          <a:ln w="9525">
            <a:solidFill>
              <a:srgbClr val="3A5273"/>
            </a:solidFill>
            <a:prstDash val="solid"/>
          </a:ln>
        </p:spPr>
      </p:sp>
      <p:sp>
        <p:nvSpPr>
          <p:cNvPr id="39" name="Link 384"/>
          <p:cNvSpPr/>
          <p:nvPr/>
        </p:nvSpPr>
        <p:spPr>
          <a:xfrm>
            <a:off x="7623048" y="2913888"/>
            <a:ext cx="0" cy="798576"/>
          </a:xfrm>
          <a:prstGeom prst="line">
            <a:avLst/>
          </a:prstGeom>
          <a:noFill/>
          <a:ln w="9525">
            <a:solidFill>
              <a:srgbClr val="3A5273"/>
            </a:solidFill>
            <a:prstDash val="solid"/>
          </a:ln>
        </p:spPr>
      </p:sp>
      <p:sp>
        <p:nvSpPr>
          <p:cNvPr id="40" name="Link 385"/>
          <p:cNvSpPr/>
          <p:nvPr/>
        </p:nvSpPr>
        <p:spPr>
          <a:xfrm>
            <a:off x="7623048" y="2913888"/>
            <a:ext cx="798576" cy="798576"/>
          </a:xfrm>
          <a:prstGeom prst="line">
            <a:avLst/>
          </a:prstGeom>
          <a:noFill/>
          <a:ln w="9525">
            <a:solidFill>
              <a:srgbClr val="3A5273"/>
            </a:solidFill>
            <a:prstDash val="solid"/>
          </a:ln>
        </p:spPr>
      </p:sp>
      <p:sp>
        <p:nvSpPr>
          <p:cNvPr id="41" name="Link 386"/>
          <p:cNvSpPr/>
          <p:nvPr/>
        </p:nvSpPr>
        <p:spPr>
          <a:xfrm flipV="1">
            <a:off x="7623048" y="2913888"/>
            <a:ext cx="798576" cy="798576"/>
          </a:xfrm>
          <a:prstGeom prst="line">
            <a:avLst/>
          </a:prstGeom>
          <a:noFill/>
          <a:ln w="9525">
            <a:solidFill>
              <a:srgbClr val="3A5273"/>
            </a:solidFill>
            <a:prstDash val="solid"/>
          </a:ln>
        </p:spPr>
      </p:sp>
      <p:sp>
        <p:nvSpPr>
          <p:cNvPr id="42" name="Link 387"/>
          <p:cNvSpPr/>
          <p:nvPr/>
        </p:nvSpPr>
        <p:spPr>
          <a:xfrm>
            <a:off x="8421624" y="2913888"/>
            <a:ext cx="0" cy="798576"/>
          </a:xfrm>
          <a:prstGeom prst="line">
            <a:avLst/>
          </a:prstGeom>
          <a:noFill/>
          <a:ln w="9525">
            <a:solidFill>
              <a:srgbClr val="3A5273"/>
            </a:solidFill>
            <a:prstDash val="solid"/>
          </a:ln>
        </p:spPr>
      </p:sp>
      <p:sp>
        <p:nvSpPr>
          <p:cNvPr id="43" name="Link 388"/>
          <p:cNvSpPr/>
          <p:nvPr/>
        </p:nvSpPr>
        <p:spPr>
          <a:xfrm>
            <a:off x="6025896" y="3712464"/>
            <a:ext cx="798576" cy="0"/>
          </a:xfrm>
          <a:prstGeom prst="line">
            <a:avLst/>
          </a:prstGeom>
          <a:noFill/>
          <a:ln w="9525">
            <a:solidFill>
              <a:srgbClr val="3A5273"/>
            </a:solidFill>
            <a:prstDash val="solid"/>
          </a:ln>
        </p:spPr>
      </p:sp>
      <p:sp>
        <p:nvSpPr>
          <p:cNvPr id="44" name="Link 389"/>
          <p:cNvSpPr/>
          <p:nvPr/>
        </p:nvSpPr>
        <p:spPr>
          <a:xfrm>
            <a:off x="6824472" y="3712464"/>
            <a:ext cx="798576" cy="0"/>
          </a:xfrm>
          <a:prstGeom prst="line">
            <a:avLst/>
          </a:prstGeom>
          <a:noFill/>
          <a:ln w="9525">
            <a:solidFill>
              <a:srgbClr val="3A5273"/>
            </a:solidFill>
            <a:prstDash val="solid"/>
          </a:ln>
        </p:spPr>
      </p:sp>
      <p:sp>
        <p:nvSpPr>
          <p:cNvPr id="45" name="Link 390"/>
          <p:cNvSpPr/>
          <p:nvPr/>
        </p:nvSpPr>
        <p:spPr>
          <a:xfrm>
            <a:off x="7623048" y="3712464"/>
            <a:ext cx="798576" cy="0"/>
          </a:xfrm>
          <a:prstGeom prst="line">
            <a:avLst/>
          </a:prstGeom>
          <a:noFill/>
          <a:ln w="9525">
            <a:solidFill>
              <a:srgbClr val="3A5273"/>
            </a:solidFill>
            <a:prstDash val="solid"/>
          </a:ln>
        </p:spPr>
      </p:sp>
      <p:sp>
        <p:nvSpPr>
          <p:cNvPr id="46" name="Radio 391"/>
          <p:cNvSpPr/>
          <p:nvPr/>
        </p:nvSpPr>
        <p:spPr>
          <a:xfrm>
            <a:off x="5806440"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47" name="Radio 392"/>
          <p:cNvSpPr/>
          <p:nvPr/>
        </p:nvSpPr>
        <p:spPr>
          <a:xfrm>
            <a:off x="6605016"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48" name="Radio 393"/>
          <p:cNvSpPr/>
          <p:nvPr/>
        </p:nvSpPr>
        <p:spPr>
          <a:xfrm>
            <a:off x="7403592"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9" name="Radio 394"/>
          <p:cNvSpPr/>
          <p:nvPr/>
        </p:nvSpPr>
        <p:spPr>
          <a:xfrm>
            <a:off x="8202168" y="1097280"/>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0" name="Radio 395"/>
          <p:cNvSpPr/>
          <p:nvPr/>
        </p:nvSpPr>
        <p:spPr>
          <a:xfrm>
            <a:off x="5806440"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1" name="Radio 396"/>
          <p:cNvSpPr/>
          <p:nvPr/>
        </p:nvSpPr>
        <p:spPr>
          <a:xfrm>
            <a:off x="6605016"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52" name="Radio 397"/>
          <p:cNvSpPr/>
          <p:nvPr/>
        </p:nvSpPr>
        <p:spPr>
          <a:xfrm>
            <a:off x="7403592" y="1895856"/>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5</a:t>
            </a:r>
            <a:endParaRPr lang="en-US" sz="1300" dirty="0"/>
          </a:p>
        </p:txBody>
      </p:sp>
      <p:sp>
        <p:nvSpPr>
          <p:cNvPr id="53" name="Radio 398"/>
          <p:cNvSpPr/>
          <p:nvPr/>
        </p:nvSpPr>
        <p:spPr>
          <a:xfrm>
            <a:off x="8202168" y="1895856"/>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4" name="Radio 399"/>
          <p:cNvSpPr/>
          <p:nvPr/>
        </p:nvSpPr>
        <p:spPr>
          <a:xfrm>
            <a:off x="5806440"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5" name="Radio 400"/>
          <p:cNvSpPr/>
          <p:nvPr/>
        </p:nvSpPr>
        <p:spPr>
          <a:xfrm>
            <a:off x="6605016"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7</a:t>
            </a:r>
            <a:endParaRPr lang="en-US" sz="1300" dirty="0"/>
          </a:p>
        </p:txBody>
      </p:sp>
      <p:sp>
        <p:nvSpPr>
          <p:cNvPr id="56" name="Radio 401"/>
          <p:cNvSpPr/>
          <p:nvPr/>
        </p:nvSpPr>
        <p:spPr>
          <a:xfrm>
            <a:off x="7403592" y="2694432"/>
            <a:ext cx="438912" cy="438912"/>
          </a:xfrm>
          <a:prstGeom prst="ellipse">
            <a:avLst/>
          </a:prstGeom>
          <a:solidFill>
            <a:schemeClr val="accent6"/>
          </a:solidFill>
          <a:ln w="19050">
            <a:solidFill>
              <a:schemeClr val="bg1"/>
            </a:solidFill>
          </a:ln>
        </p:spPr>
        <p:txBody>
          <a:bodyPr wrap="square" lIns="0" tIns="0" rIns="0" bIns="0" rtlCol="0" anchor="ctr"/>
          <a:lstStyle/>
          <a:p>
            <a:pPr algn="ctr" indent="0" marL="0">
              <a:buNone/>
            </a:pPr>
            <a:r>
              <a:rPr lang="en-US" sz="1300" b="1" dirty="0">
                <a:solidFill>
                  <a:schemeClr val="tx2"/>
                </a:solidFill>
              </a:rPr>
              <a:t>8</a:t>
            </a:r>
            <a:endParaRPr lang="en-US" sz="1300" dirty="0"/>
          </a:p>
        </p:txBody>
      </p:sp>
      <p:sp>
        <p:nvSpPr>
          <p:cNvPr id="57" name="Radio 402"/>
          <p:cNvSpPr/>
          <p:nvPr/>
        </p:nvSpPr>
        <p:spPr>
          <a:xfrm>
            <a:off x="8202168" y="2694432"/>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8" name="Radio 403"/>
          <p:cNvSpPr/>
          <p:nvPr/>
        </p:nvSpPr>
        <p:spPr>
          <a:xfrm>
            <a:off x="5806440"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59" name="Radio 404"/>
          <p:cNvSpPr/>
          <p:nvPr/>
        </p:nvSpPr>
        <p:spPr>
          <a:xfrm>
            <a:off x="6605016"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0" name="Radio 405"/>
          <p:cNvSpPr/>
          <p:nvPr/>
        </p:nvSpPr>
        <p:spPr>
          <a:xfrm>
            <a:off x="7403592"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61" name="Radio 406"/>
          <p:cNvSpPr/>
          <p:nvPr/>
        </p:nvSpPr>
        <p:spPr>
          <a:xfrm>
            <a:off x="8202168" y="3493008"/>
            <a:ext cx="438912" cy="438912"/>
          </a:xfrm>
          <a:prstGeom prst="ellipse">
            <a:avLst/>
          </a:prstGeom>
          <a:solidFill>
            <a:schemeClr val="accent1"/>
          </a:solidFill>
          <a:ln w="19050">
            <a:solidFill>
              <a:schemeClr val="bg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Tree>
  </p:cSld>
  <p:clrMapOvr>
    <a:masterClrMapping/>
  </p:clrMapOvr>
</p:sld>
</file>

<file path=ppt/theme/theme1.xml><?xml version="1.0" encoding="utf-8"?>
<a:theme xmlns:a="http://schemas.openxmlformats.org/drawingml/2006/main" name="TDMA Optimizer">
  <a:themeElements>
    <a:clrScheme name="TDMA Optimizer">
      <a:dk1>
        <a:srgbClr val="0B0B0B"/>
      </a:dk1>
      <a:lt1>
        <a:srgbClr val="FFFFFF"/>
      </a:lt1>
      <a:dk2>
        <a:srgbClr val="10243E"/>
      </a:dk2>
      <a:lt2>
        <a:srgbClr val="F2F4F7"/>
      </a:lt2>
      <a:accent1>
        <a:srgbClr val="2A78D6"/>
      </a:accent1>
      <a:accent2>
        <a:srgbClr val="EB6834"/>
      </a:accent2>
      <a:accent3>
        <a:srgbClr val="52514E"/>
      </a:accent3>
      <a:accent4>
        <a:srgbClr val="898781"/>
      </a:accent4>
      <a:accent5>
        <a:srgbClr val="C3C2B7"/>
      </a:accent5>
      <a:accent6>
        <a:srgbClr val="CDE2FB"/>
      </a:accent6>
      <a:hlink>
        <a:srgbClr val="2A78D6"/>
      </a:hlink>
      <a:folHlink>
        <a:srgbClr val="4A3AA7"/>
      </a:folHlink>
    </a:clrScheme>
    <a:fontScheme name="TDMA Optimiz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TDMA Schedule Optimizer</dc:title>
  <dc:subject>PptxGenJS Presentation</dc:subject>
  <dc:creator>Ramachandra TejSrikar Reddy</dc:creator>
  <cp:lastModifiedBy>Ramachandra TejSrikar Reddy</cp:lastModifiedBy>
  <cp:revision>1</cp:revision>
  <dcterms:created xsi:type="dcterms:W3CDTF">2026-10-04T10:52:05Z</dcterms:created>
  <dcterms:modified xsi:type="dcterms:W3CDTF">2026-10-04T10:52:05Z</dcterms:modified>
</cp:coreProperties>
</file>